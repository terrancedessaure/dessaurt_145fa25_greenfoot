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handoutMasterIdLst>
    <p:handoutMasterId r:id="rId64"/>
  </p:handoutMasterIdLst>
  <p:sldIdLst>
    <p:sldId id="257" r:id="rId2"/>
    <p:sldId id="258" r:id="rId3"/>
    <p:sldId id="259" r:id="rId4"/>
    <p:sldId id="317" r:id="rId5"/>
    <p:sldId id="318" r:id="rId6"/>
    <p:sldId id="319" r:id="rId7"/>
    <p:sldId id="320" r:id="rId8"/>
    <p:sldId id="321" r:id="rId9"/>
    <p:sldId id="322" r:id="rId10"/>
    <p:sldId id="323" r:id="rId11"/>
    <p:sldId id="324" r:id="rId12"/>
    <p:sldId id="325" r:id="rId13"/>
    <p:sldId id="402" r:id="rId14"/>
    <p:sldId id="407" r:id="rId15"/>
    <p:sldId id="389" r:id="rId16"/>
    <p:sldId id="390" r:id="rId17"/>
    <p:sldId id="391" r:id="rId18"/>
    <p:sldId id="392" r:id="rId19"/>
    <p:sldId id="393" r:id="rId20"/>
    <p:sldId id="394" r:id="rId21"/>
    <p:sldId id="395" r:id="rId22"/>
    <p:sldId id="396" r:id="rId23"/>
    <p:sldId id="397" r:id="rId24"/>
    <p:sldId id="398" r:id="rId25"/>
    <p:sldId id="399" r:id="rId26"/>
    <p:sldId id="400" r:id="rId27"/>
    <p:sldId id="401" r:id="rId28"/>
    <p:sldId id="328" r:id="rId29"/>
    <p:sldId id="386" r:id="rId30"/>
    <p:sldId id="404" r:id="rId31"/>
    <p:sldId id="329" r:id="rId32"/>
    <p:sldId id="354" r:id="rId33"/>
    <p:sldId id="355" r:id="rId34"/>
    <p:sldId id="356" r:id="rId35"/>
    <p:sldId id="357" r:id="rId36"/>
    <p:sldId id="358" r:id="rId37"/>
    <p:sldId id="405" r:id="rId38"/>
    <p:sldId id="359" r:id="rId39"/>
    <p:sldId id="360" r:id="rId40"/>
    <p:sldId id="361" r:id="rId41"/>
    <p:sldId id="362" r:id="rId42"/>
    <p:sldId id="363" r:id="rId43"/>
    <p:sldId id="364" r:id="rId44"/>
    <p:sldId id="365" r:id="rId45"/>
    <p:sldId id="366" r:id="rId46"/>
    <p:sldId id="367" r:id="rId47"/>
    <p:sldId id="406" r:id="rId48"/>
    <p:sldId id="368" r:id="rId49"/>
    <p:sldId id="369" r:id="rId50"/>
    <p:sldId id="370" r:id="rId51"/>
    <p:sldId id="371" r:id="rId52"/>
    <p:sldId id="372" r:id="rId53"/>
    <p:sldId id="373" r:id="rId54"/>
    <p:sldId id="374" r:id="rId55"/>
    <p:sldId id="375" r:id="rId56"/>
    <p:sldId id="376" r:id="rId57"/>
    <p:sldId id="377" r:id="rId58"/>
    <p:sldId id="378" r:id="rId59"/>
    <p:sldId id="379" r:id="rId60"/>
    <p:sldId id="380" r:id="rId61"/>
    <p:sldId id="381" r:id="rId62"/>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AB1"/>
    <a:srgbClr val="FFDF8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2418D-F0D2-E694-F55D-200230C61341}" v="130" dt="2025-10-01T02:18:52.907"/>
    <p1510:client id="{4A8F5738-8A05-C55E-EE0D-09C23ED9F927}" v="884" dt="2025-10-01T22:10:11.255"/>
    <p1510:client id="{A31E73F6-8B32-A2EF-9293-206AFC6F50FE}" v="147" dt="2025-10-03T01:59:23.9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7"/>
    <p:restoredTop sz="96087" autoAdjust="0"/>
  </p:normalViewPr>
  <p:slideViewPr>
    <p:cSldViewPr snapToGrid="0" snapToObjects="1">
      <p:cViewPr varScale="1">
        <p:scale>
          <a:sx n="72" d="100"/>
          <a:sy n="72" d="100"/>
        </p:scale>
        <p:origin x="15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ssaure, Terrance" userId="S::dessaurt@email.sc.edu::5e89b41b-a206-4ad2-ad4b-8dad46543109" providerId="AD" clId="Web-{A31E73F6-8B32-A2EF-9293-206AFC6F50FE}"/>
    <pc:docChg chg="modSld">
      <pc:chgData name="Dessaure, Terrance" userId="S::dessaurt@email.sc.edu::5e89b41b-a206-4ad2-ad4b-8dad46543109" providerId="AD" clId="Web-{A31E73F6-8B32-A2EF-9293-206AFC6F50FE}" dt="2025-10-03T01:59:23.967" v="152" actId="20577"/>
      <pc:docMkLst>
        <pc:docMk/>
      </pc:docMkLst>
      <pc:sldChg chg="modSp">
        <pc:chgData name="Dessaure, Terrance" userId="S::dessaurt@email.sc.edu::5e89b41b-a206-4ad2-ad4b-8dad46543109" providerId="AD" clId="Web-{A31E73F6-8B32-A2EF-9293-206AFC6F50FE}" dt="2025-10-03T01:15:54.458" v="28" actId="20577"/>
        <pc:sldMkLst>
          <pc:docMk/>
          <pc:sldMk cId="541290475" sldId="374"/>
        </pc:sldMkLst>
        <pc:spChg chg="mod">
          <ac:chgData name="Dessaure, Terrance" userId="S::dessaurt@email.sc.edu::5e89b41b-a206-4ad2-ad4b-8dad46543109" providerId="AD" clId="Web-{A31E73F6-8B32-A2EF-9293-206AFC6F50FE}" dt="2025-10-03T01:15:54.458" v="28" actId="20577"/>
          <ac:spMkLst>
            <pc:docMk/>
            <pc:sldMk cId="541290475" sldId="374"/>
            <ac:spMk id="3" creationId="{00000000-0000-0000-0000-000000000000}"/>
          </ac:spMkLst>
        </pc:spChg>
      </pc:sldChg>
      <pc:sldChg chg="modSp">
        <pc:chgData name="Dessaure, Terrance" userId="S::dessaurt@email.sc.edu::5e89b41b-a206-4ad2-ad4b-8dad46543109" providerId="AD" clId="Web-{A31E73F6-8B32-A2EF-9293-206AFC6F50FE}" dt="2025-10-03T01:22:49.732" v="41" actId="20577"/>
        <pc:sldMkLst>
          <pc:docMk/>
          <pc:sldMk cId="1939642878" sldId="378"/>
        </pc:sldMkLst>
        <pc:spChg chg="mod">
          <ac:chgData name="Dessaure, Terrance" userId="S::dessaurt@email.sc.edu::5e89b41b-a206-4ad2-ad4b-8dad46543109" providerId="AD" clId="Web-{A31E73F6-8B32-A2EF-9293-206AFC6F50FE}" dt="2025-10-03T01:22:49.732" v="41" actId="20577"/>
          <ac:spMkLst>
            <pc:docMk/>
            <pc:sldMk cId="1939642878" sldId="378"/>
            <ac:spMk id="3" creationId="{00000000-0000-0000-0000-000000000000}"/>
          </ac:spMkLst>
        </pc:spChg>
      </pc:sldChg>
      <pc:sldChg chg="modSp">
        <pc:chgData name="Dessaure, Terrance" userId="S::dessaurt@email.sc.edu::5e89b41b-a206-4ad2-ad4b-8dad46543109" providerId="AD" clId="Web-{A31E73F6-8B32-A2EF-9293-206AFC6F50FE}" dt="2025-10-03T01:59:23.967" v="152" actId="20577"/>
        <pc:sldMkLst>
          <pc:docMk/>
          <pc:sldMk cId="4249998680" sldId="381"/>
        </pc:sldMkLst>
        <pc:spChg chg="mod">
          <ac:chgData name="Dessaure, Terrance" userId="S::dessaurt@email.sc.edu::5e89b41b-a206-4ad2-ad4b-8dad46543109" providerId="AD" clId="Web-{A31E73F6-8B32-A2EF-9293-206AFC6F50FE}" dt="2025-10-03T01:59:23.967" v="152" actId="20577"/>
          <ac:spMkLst>
            <pc:docMk/>
            <pc:sldMk cId="4249998680" sldId="381"/>
            <ac:spMk id="3" creationId="{00000000-0000-0000-0000-000000000000}"/>
          </ac:spMkLst>
        </pc:spChg>
      </pc:sldChg>
    </pc:docChg>
  </pc:docChgLst>
  <pc:docChgLst>
    <pc:chgData name="Dessaure, Terrance" userId="S::dessaurt@email.sc.edu::5e89b41b-a206-4ad2-ad4b-8dad46543109" providerId="AD" clId="Web-{4A8F5738-8A05-C55E-EE0D-09C23ED9F927}"/>
    <pc:docChg chg="modSld">
      <pc:chgData name="Dessaure, Terrance" userId="S::dessaurt@email.sc.edu::5e89b41b-a206-4ad2-ad4b-8dad46543109" providerId="AD" clId="Web-{4A8F5738-8A05-C55E-EE0D-09C23ED9F927}" dt="2025-10-01T22:10:11.255" v="657" actId="20577"/>
      <pc:docMkLst>
        <pc:docMk/>
      </pc:docMkLst>
      <pc:sldChg chg="modSp">
        <pc:chgData name="Dessaure, Terrance" userId="S::dessaurt@email.sc.edu::5e89b41b-a206-4ad2-ad4b-8dad46543109" providerId="AD" clId="Web-{4A8F5738-8A05-C55E-EE0D-09C23ED9F927}" dt="2025-10-01T02:42:30.833" v="56" actId="20577"/>
        <pc:sldMkLst>
          <pc:docMk/>
          <pc:sldMk cId="1964395092" sldId="357"/>
        </pc:sldMkLst>
        <pc:spChg chg="mod">
          <ac:chgData name="Dessaure, Terrance" userId="S::dessaurt@email.sc.edu::5e89b41b-a206-4ad2-ad4b-8dad46543109" providerId="AD" clId="Web-{4A8F5738-8A05-C55E-EE0D-09C23ED9F927}" dt="2025-10-01T02:40:48.801" v="37" actId="20577"/>
          <ac:spMkLst>
            <pc:docMk/>
            <pc:sldMk cId="1964395092" sldId="357"/>
            <ac:spMk id="2" creationId="{00000000-0000-0000-0000-000000000000}"/>
          </ac:spMkLst>
        </pc:spChg>
        <pc:spChg chg="mod">
          <ac:chgData name="Dessaure, Terrance" userId="S::dessaurt@email.sc.edu::5e89b41b-a206-4ad2-ad4b-8dad46543109" providerId="AD" clId="Web-{4A8F5738-8A05-C55E-EE0D-09C23ED9F927}" dt="2025-10-01T02:42:30.833" v="56" actId="20577"/>
          <ac:spMkLst>
            <pc:docMk/>
            <pc:sldMk cId="1964395092" sldId="357"/>
            <ac:spMk id="8" creationId="{00000000-0000-0000-0000-000000000000}"/>
          </ac:spMkLst>
        </pc:spChg>
      </pc:sldChg>
      <pc:sldChg chg="modSp">
        <pc:chgData name="Dessaure, Terrance" userId="S::dessaurt@email.sc.edu::5e89b41b-a206-4ad2-ad4b-8dad46543109" providerId="AD" clId="Web-{4A8F5738-8A05-C55E-EE0D-09C23ED9F927}" dt="2025-10-01T02:58:46.246" v="196" actId="20577"/>
        <pc:sldMkLst>
          <pc:docMk/>
          <pc:sldMk cId="3851645509" sldId="358"/>
        </pc:sldMkLst>
        <pc:spChg chg="mod">
          <ac:chgData name="Dessaure, Terrance" userId="S::dessaurt@email.sc.edu::5e89b41b-a206-4ad2-ad4b-8dad46543109" providerId="AD" clId="Web-{4A8F5738-8A05-C55E-EE0D-09C23ED9F927}" dt="2025-10-01T02:58:46.246" v="196" actId="20577"/>
          <ac:spMkLst>
            <pc:docMk/>
            <pc:sldMk cId="3851645509" sldId="358"/>
            <ac:spMk id="3" creationId="{00000000-0000-0000-0000-000000000000}"/>
          </ac:spMkLst>
        </pc:spChg>
        <pc:spChg chg="mod">
          <ac:chgData name="Dessaure, Terrance" userId="S::dessaurt@email.sc.edu::5e89b41b-a206-4ad2-ad4b-8dad46543109" providerId="AD" clId="Web-{4A8F5738-8A05-C55E-EE0D-09C23ED9F927}" dt="2025-10-01T02:46:04.275" v="165" actId="20577"/>
          <ac:spMkLst>
            <pc:docMk/>
            <pc:sldMk cId="3851645509" sldId="358"/>
            <ac:spMk id="4" creationId="{00000000-0000-0000-0000-000000000000}"/>
          </ac:spMkLst>
        </pc:spChg>
      </pc:sldChg>
      <pc:sldChg chg="modSp">
        <pc:chgData name="Dessaure, Terrance" userId="S::dessaurt@email.sc.edu::5e89b41b-a206-4ad2-ad4b-8dad46543109" providerId="AD" clId="Web-{4A8F5738-8A05-C55E-EE0D-09C23ED9F927}" dt="2025-10-01T03:25:09.969" v="273" actId="20577"/>
        <pc:sldMkLst>
          <pc:docMk/>
          <pc:sldMk cId="978786450" sldId="362"/>
        </pc:sldMkLst>
        <pc:spChg chg="mod">
          <ac:chgData name="Dessaure, Terrance" userId="S::dessaurt@email.sc.edu::5e89b41b-a206-4ad2-ad4b-8dad46543109" providerId="AD" clId="Web-{4A8F5738-8A05-C55E-EE0D-09C23ED9F927}" dt="2025-10-01T03:24:10.905" v="247" actId="20577"/>
          <ac:spMkLst>
            <pc:docMk/>
            <pc:sldMk cId="978786450" sldId="362"/>
            <ac:spMk id="2" creationId="{00000000-0000-0000-0000-000000000000}"/>
          </ac:spMkLst>
        </pc:spChg>
        <pc:spChg chg="mod">
          <ac:chgData name="Dessaure, Terrance" userId="S::dessaurt@email.sc.edu::5e89b41b-a206-4ad2-ad4b-8dad46543109" providerId="AD" clId="Web-{4A8F5738-8A05-C55E-EE0D-09C23ED9F927}" dt="2025-10-01T03:25:09.969" v="273" actId="20577"/>
          <ac:spMkLst>
            <pc:docMk/>
            <pc:sldMk cId="978786450" sldId="362"/>
            <ac:spMk id="3" creationId="{00000000-0000-0000-0000-000000000000}"/>
          </ac:spMkLst>
        </pc:spChg>
      </pc:sldChg>
      <pc:sldChg chg="modSp">
        <pc:chgData name="Dessaure, Terrance" userId="S::dessaurt@email.sc.edu::5e89b41b-a206-4ad2-ad4b-8dad46543109" providerId="AD" clId="Web-{4A8F5738-8A05-C55E-EE0D-09C23ED9F927}" dt="2025-10-01T03:26:33.618" v="313" actId="20577"/>
        <pc:sldMkLst>
          <pc:docMk/>
          <pc:sldMk cId="1005176298" sldId="363"/>
        </pc:sldMkLst>
        <pc:spChg chg="mod">
          <ac:chgData name="Dessaure, Terrance" userId="S::dessaurt@email.sc.edu::5e89b41b-a206-4ad2-ad4b-8dad46543109" providerId="AD" clId="Web-{4A8F5738-8A05-C55E-EE0D-09C23ED9F927}" dt="2025-10-01T03:26:01.584" v="290" actId="20577"/>
          <ac:spMkLst>
            <pc:docMk/>
            <pc:sldMk cId="1005176298" sldId="363"/>
            <ac:spMk id="3" creationId="{00000000-0000-0000-0000-000000000000}"/>
          </ac:spMkLst>
        </pc:spChg>
        <pc:spChg chg="mod">
          <ac:chgData name="Dessaure, Terrance" userId="S::dessaurt@email.sc.edu::5e89b41b-a206-4ad2-ad4b-8dad46543109" providerId="AD" clId="Web-{4A8F5738-8A05-C55E-EE0D-09C23ED9F927}" dt="2025-10-01T03:26:33.618" v="313" actId="20577"/>
          <ac:spMkLst>
            <pc:docMk/>
            <pc:sldMk cId="1005176298" sldId="363"/>
            <ac:spMk id="5" creationId="{00000000-0000-0000-0000-000000000000}"/>
          </ac:spMkLst>
        </pc:spChg>
      </pc:sldChg>
      <pc:sldChg chg="modSp">
        <pc:chgData name="Dessaure, Terrance" userId="S::dessaurt@email.sc.edu::5e89b41b-a206-4ad2-ad4b-8dad46543109" providerId="AD" clId="Web-{4A8F5738-8A05-C55E-EE0D-09C23ED9F927}" dt="2025-10-01T03:28:01.312" v="326" actId="20577"/>
        <pc:sldMkLst>
          <pc:docMk/>
          <pc:sldMk cId="1728933340" sldId="364"/>
        </pc:sldMkLst>
        <pc:spChg chg="mod">
          <ac:chgData name="Dessaure, Terrance" userId="S::dessaurt@email.sc.edu::5e89b41b-a206-4ad2-ad4b-8dad46543109" providerId="AD" clId="Web-{4A8F5738-8A05-C55E-EE0D-09C23ED9F927}" dt="2025-10-01T03:28:01.312" v="326" actId="20577"/>
          <ac:spMkLst>
            <pc:docMk/>
            <pc:sldMk cId="1728933340" sldId="364"/>
            <ac:spMk id="3" creationId="{00000000-0000-0000-0000-000000000000}"/>
          </ac:spMkLst>
        </pc:spChg>
      </pc:sldChg>
      <pc:sldChg chg="modSp">
        <pc:chgData name="Dessaure, Terrance" userId="S::dessaurt@email.sc.edu::5e89b41b-a206-4ad2-ad4b-8dad46543109" providerId="AD" clId="Web-{4A8F5738-8A05-C55E-EE0D-09C23ED9F927}" dt="2025-10-01T03:41:56.274" v="488" actId="20577"/>
        <pc:sldMkLst>
          <pc:docMk/>
          <pc:sldMk cId="723926251" sldId="366"/>
        </pc:sldMkLst>
        <pc:spChg chg="mod">
          <ac:chgData name="Dessaure, Terrance" userId="S::dessaurt@email.sc.edu::5e89b41b-a206-4ad2-ad4b-8dad46543109" providerId="AD" clId="Web-{4A8F5738-8A05-C55E-EE0D-09C23ED9F927}" dt="2025-10-01T03:41:56.274" v="488" actId="20577"/>
          <ac:spMkLst>
            <pc:docMk/>
            <pc:sldMk cId="723926251" sldId="366"/>
            <ac:spMk id="3" creationId="{00000000-0000-0000-0000-000000000000}"/>
          </ac:spMkLst>
        </pc:spChg>
      </pc:sldChg>
      <pc:sldChg chg="modSp">
        <pc:chgData name="Dessaure, Terrance" userId="S::dessaurt@email.sc.edu::5e89b41b-a206-4ad2-ad4b-8dad46543109" providerId="AD" clId="Web-{4A8F5738-8A05-C55E-EE0D-09C23ED9F927}" dt="2025-10-01T03:43:44.830" v="512" actId="20577"/>
        <pc:sldMkLst>
          <pc:docMk/>
          <pc:sldMk cId="4192467590" sldId="367"/>
        </pc:sldMkLst>
        <pc:spChg chg="mod">
          <ac:chgData name="Dessaure, Terrance" userId="S::dessaurt@email.sc.edu::5e89b41b-a206-4ad2-ad4b-8dad46543109" providerId="AD" clId="Web-{4A8F5738-8A05-C55E-EE0D-09C23ED9F927}" dt="2025-10-01T03:43:44.830" v="512" actId="20577"/>
          <ac:spMkLst>
            <pc:docMk/>
            <pc:sldMk cId="4192467590" sldId="367"/>
            <ac:spMk id="6" creationId="{00000000-0000-0000-0000-000000000000}"/>
          </ac:spMkLst>
        </pc:spChg>
      </pc:sldChg>
      <pc:sldChg chg="modSp">
        <pc:chgData name="Dessaure, Terrance" userId="S::dessaurt@email.sc.edu::5e89b41b-a206-4ad2-ad4b-8dad46543109" providerId="AD" clId="Web-{4A8F5738-8A05-C55E-EE0D-09C23ED9F927}" dt="2025-10-01T21:47:04.977" v="531" actId="20577"/>
        <pc:sldMkLst>
          <pc:docMk/>
          <pc:sldMk cId="1092216270" sldId="368"/>
        </pc:sldMkLst>
        <pc:spChg chg="mod">
          <ac:chgData name="Dessaure, Terrance" userId="S::dessaurt@email.sc.edu::5e89b41b-a206-4ad2-ad4b-8dad46543109" providerId="AD" clId="Web-{4A8F5738-8A05-C55E-EE0D-09C23ED9F927}" dt="2025-10-01T21:47:04.977" v="531" actId="20577"/>
          <ac:spMkLst>
            <pc:docMk/>
            <pc:sldMk cId="1092216270" sldId="368"/>
            <ac:spMk id="3" creationId="{00000000-0000-0000-0000-000000000000}"/>
          </ac:spMkLst>
        </pc:spChg>
      </pc:sldChg>
      <pc:sldChg chg="modSp">
        <pc:chgData name="Dessaure, Terrance" userId="S::dessaurt@email.sc.edu::5e89b41b-a206-4ad2-ad4b-8dad46543109" providerId="AD" clId="Web-{4A8F5738-8A05-C55E-EE0D-09C23ED9F927}" dt="2025-10-01T21:49:59.041" v="597" actId="20577"/>
        <pc:sldMkLst>
          <pc:docMk/>
          <pc:sldMk cId="1085870841" sldId="369"/>
        </pc:sldMkLst>
        <pc:spChg chg="mod">
          <ac:chgData name="Dessaure, Terrance" userId="S::dessaurt@email.sc.edu::5e89b41b-a206-4ad2-ad4b-8dad46543109" providerId="AD" clId="Web-{4A8F5738-8A05-C55E-EE0D-09C23ED9F927}" dt="2025-10-01T21:48:07.821" v="561" actId="20577"/>
          <ac:spMkLst>
            <pc:docMk/>
            <pc:sldMk cId="1085870841" sldId="369"/>
            <ac:spMk id="3" creationId="{00000000-0000-0000-0000-000000000000}"/>
          </ac:spMkLst>
        </pc:spChg>
        <pc:spChg chg="mod">
          <ac:chgData name="Dessaure, Terrance" userId="S::dessaurt@email.sc.edu::5e89b41b-a206-4ad2-ad4b-8dad46543109" providerId="AD" clId="Web-{4A8F5738-8A05-C55E-EE0D-09C23ED9F927}" dt="2025-10-01T21:48:19.212" v="566" actId="20577"/>
          <ac:spMkLst>
            <pc:docMk/>
            <pc:sldMk cId="1085870841" sldId="369"/>
            <ac:spMk id="4" creationId="{00000000-0000-0000-0000-000000000000}"/>
          </ac:spMkLst>
        </pc:spChg>
        <pc:spChg chg="mod">
          <ac:chgData name="Dessaure, Terrance" userId="S::dessaurt@email.sc.edu::5e89b41b-a206-4ad2-ad4b-8dad46543109" providerId="AD" clId="Web-{4A8F5738-8A05-C55E-EE0D-09C23ED9F927}" dt="2025-10-01T21:49:59.041" v="597" actId="20577"/>
          <ac:spMkLst>
            <pc:docMk/>
            <pc:sldMk cId="1085870841" sldId="369"/>
            <ac:spMk id="5" creationId="{00000000-0000-0000-0000-000000000000}"/>
          </ac:spMkLst>
        </pc:spChg>
      </pc:sldChg>
      <pc:sldChg chg="modSp">
        <pc:chgData name="Dessaure, Terrance" userId="S::dessaurt@email.sc.edu::5e89b41b-a206-4ad2-ad4b-8dad46543109" providerId="AD" clId="Web-{4A8F5738-8A05-C55E-EE0D-09C23ED9F927}" dt="2025-10-01T21:53:42.950" v="625" actId="20577"/>
        <pc:sldMkLst>
          <pc:docMk/>
          <pc:sldMk cId="4078322955" sldId="370"/>
        </pc:sldMkLst>
        <pc:spChg chg="mod">
          <ac:chgData name="Dessaure, Terrance" userId="S::dessaurt@email.sc.edu::5e89b41b-a206-4ad2-ad4b-8dad46543109" providerId="AD" clId="Web-{4A8F5738-8A05-C55E-EE0D-09C23ED9F927}" dt="2025-10-01T21:53:42.950" v="625" actId="20577"/>
          <ac:spMkLst>
            <pc:docMk/>
            <pc:sldMk cId="4078322955" sldId="370"/>
            <ac:spMk id="3" creationId="{00000000-0000-0000-0000-000000000000}"/>
          </ac:spMkLst>
        </pc:spChg>
      </pc:sldChg>
      <pc:sldChg chg="modSp">
        <pc:chgData name="Dessaure, Terrance" userId="S::dessaurt@email.sc.edu::5e89b41b-a206-4ad2-ad4b-8dad46543109" providerId="AD" clId="Web-{4A8F5738-8A05-C55E-EE0D-09C23ED9F927}" dt="2025-10-01T21:54:30.250" v="645" actId="20577"/>
        <pc:sldMkLst>
          <pc:docMk/>
          <pc:sldMk cId="2465387795" sldId="371"/>
        </pc:sldMkLst>
        <pc:spChg chg="mod">
          <ac:chgData name="Dessaure, Terrance" userId="S::dessaurt@email.sc.edu::5e89b41b-a206-4ad2-ad4b-8dad46543109" providerId="AD" clId="Web-{4A8F5738-8A05-C55E-EE0D-09C23ED9F927}" dt="2025-10-01T21:54:30.250" v="645" actId="20577"/>
          <ac:spMkLst>
            <pc:docMk/>
            <pc:sldMk cId="2465387795" sldId="371"/>
            <ac:spMk id="3" creationId="{00000000-0000-0000-0000-000000000000}"/>
          </ac:spMkLst>
        </pc:spChg>
      </pc:sldChg>
      <pc:sldChg chg="modSp">
        <pc:chgData name="Dessaure, Terrance" userId="S::dessaurt@email.sc.edu::5e89b41b-a206-4ad2-ad4b-8dad46543109" providerId="AD" clId="Web-{4A8F5738-8A05-C55E-EE0D-09C23ED9F927}" dt="2025-10-01T22:10:11.255" v="657" actId="20577"/>
        <pc:sldMkLst>
          <pc:docMk/>
          <pc:sldMk cId="3437303444" sldId="373"/>
        </pc:sldMkLst>
        <pc:spChg chg="mod">
          <ac:chgData name="Dessaure, Terrance" userId="S::dessaurt@email.sc.edu::5e89b41b-a206-4ad2-ad4b-8dad46543109" providerId="AD" clId="Web-{4A8F5738-8A05-C55E-EE0D-09C23ED9F927}" dt="2025-10-01T22:10:11.255" v="657" actId="20577"/>
          <ac:spMkLst>
            <pc:docMk/>
            <pc:sldMk cId="3437303444" sldId="373"/>
            <ac:spMk id="3" creationId="{00000000-0000-0000-0000-000000000000}"/>
          </ac:spMkLst>
        </pc:spChg>
      </pc:sldChg>
      <pc:sldChg chg="modSp">
        <pc:chgData name="Dessaure, Terrance" userId="S::dessaurt@email.sc.edu::5e89b41b-a206-4ad2-ad4b-8dad46543109" providerId="AD" clId="Web-{4A8F5738-8A05-C55E-EE0D-09C23ED9F927}" dt="2025-10-01T03:08:08.976" v="223" actId="20577"/>
        <pc:sldMkLst>
          <pc:docMk/>
          <pc:sldMk cId="4055460578" sldId="405"/>
        </pc:sldMkLst>
        <pc:spChg chg="mod">
          <ac:chgData name="Dessaure, Terrance" userId="S::dessaurt@email.sc.edu::5e89b41b-a206-4ad2-ad4b-8dad46543109" providerId="AD" clId="Web-{4A8F5738-8A05-C55E-EE0D-09C23ED9F927}" dt="2025-10-01T02:59:55.295" v="200" actId="20577"/>
          <ac:spMkLst>
            <pc:docMk/>
            <pc:sldMk cId="4055460578" sldId="405"/>
            <ac:spMk id="4" creationId="{00000000-0000-0000-0000-000000000000}"/>
          </ac:spMkLst>
        </pc:spChg>
        <pc:spChg chg="mod">
          <ac:chgData name="Dessaure, Terrance" userId="S::dessaurt@email.sc.edu::5e89b41b-a206-4ad2-ad4b-8dad46543109" providerId="AD" clId="Web-{4A8F5738-8A05-C55E-EE0D-09C23ED9F927}" dt="2025-10-01T03:08:08.976" v="223" actId="20577"/>
          <ac:spMkLst>
            <pc:docMk/>
            <pc:sldMk cId="4055460578" sldId="405"/>
            <ac:spMk id="5" creationId="{00000000-0000-0000-0000-000000000000}"/>
          </ac:spMkLst>
        </pc:spChg>
      </pc:sldChg>
    </pc:docChg>
  </pc:docChgLst>
  <pc:docChgLst>
    <pc:chgData name="Dessaure, Terrance" userId="S::dessaurt@email.sc.edu::5e89b41b-a206-4ad2-ad4b-8dad46543109" providerId="AD" clId="Web-{4292418D-F0D2-E694-F55D-200230C61341}"/>
    <pc:docChg chg="modSld">
      <pc:chgData name="Dessaure, Terrance" userId="S::dessaurt@email.sc.edu::5e89b41b-a206-4ad2-ad4b-8dad46543109" providerId="AD" clId="Web-{4292418D-F0D2-E694-F55D-200230C61341}" dt="2025-10-01T02:18:52.907" v="90" actId="20577"/>
      <pc:docMkLst>
        <pc:docMk/>
      </pc:docMkLst>
      <pc:sldChg chg="modSp">
        <pc:chgData name="Dessaure, Terrance" userId="S::dessaurt@email.sc.edu::5e89b41b-a206-4ad2-ad4b-8dad46543109" providerId="AD" clId="Web-{4292418D-F0D2-E694-F55D-200230C61341}" dt="2025-10-01T02:13:26.136" v="36" actId="20577"/>
        <pc:sldMkLst>
          <pc:docMk/>
          <pc:sldMk cId="1368569261" sldId="354"/>
        </pc:sldMkLst>
        <pc:spChg chg="mod">
          <ac:chgData name="Dessaure, Terrance" userId="S::dessaurt@email.sc.edu::5e89b41b-a206-4ad2-ad4b-8dad46543109" providerId="AD" clId="Web-{4292418D-F0D2-E694-F55D-200230C61341}" dt="2025-10-01T02:13:26.136" v="36" actId="20577"/>
          <ac:spMkLst>
            <pc:docMk/>
            <pc:sldMk cId="1368569261" sldId="354"/>
            <ac:spMk id="3" creationId="{00000000-0000-0000-0000-000000000000}"/>
          </ac:spMkLst>
        </pc:spChg>
      </pc:sldChg>
      <pc:sldChg chg="modSp">
        <pc:chgData name="Dessaure, Terrance" userId="S::dessaurt@email.sc.edu::5e89b41b-a206-4ad2-ad4b-8dad46543109" providerId="AD" clId="Web-{4292418D-F0D2-E694-F55D-200230C61341}" dt="2025-10-01T02:18:52.907" v="90" actId="20577"/>
        <pc:sldMkLst>
          <pc:docMk/>
          <pc:sldMk cId="387807353" sldId="355"/>
        </pc:sldMkLst>
        <pc:spChg chg="mod">
          <ac:chgData name="Dessaure, Terrance" userId="S::dessaurt@email.sc.edu::5e89b41b-a206-4ad2-ad4b-8dad46543109" providerId="AD" clId="Web-{4292418D-F0D2-E694-F55D-200230C61341}" dt="2025-10-01T02:18:07.219" v="49" actId="20577"/>
          <ac:spMkLst>
            <pc:docMk/>
            <pc:sldMk cId="387807353" sldId="355"/>
            <ac:spMk id="2" creationId="{00000000-0000-0000-0000-000000000000}"/>
          </ac:spMkLst>
        </pc:spChg>
        <pc:spChg chg="mod">
          <ac:chgData name="Dessaure, Terrance" userId="S::dessaurt@email.sc.edu::5e89b41b-a206-4ad2-ad4b-8dad46543109" providerId="AD" clId="Web-{4292418D-F0D2-E694-F55D-200230C61341}" dt="2025-10-01T02:18:52.907" v="90" actId="20577"/>
          <ac:spMkLst>
            <pc:docMk/>
            <pc:sldMk cId="387807353" sldId="355"/>
            <ac:spMk id="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A4724E55-43F9-4BA1-98CF-42CA4B88A50E}" type="datetimeFigureOut">
              <a:rPr lang="en-US" smtClean="0"/>
              <a:t>10/2/2025</a:t>
            </a:fld>
            <a:endParaRPr lang="en-US"/>
          </a:p>
        </p:txBody>
      </p:sp>
      <p:sp>
        <p:nvSpPr>
          <p:cNvPr id="4" name="Footer Placeholder 3"/>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B4358F3A-E98A-4890-BAD9-98A4916C3CC9}" type="slidenum">
              <a:rPr lang="en-US" smtClean="0"/>
              <a:t>‹#›</a:t>
            </a:fld>
            <a:endParaRPr lang="en-US"/>
          </a:p>
        </p:txBody>
      </p:sp>
    </p:spTree>
    <p:extLst>
      <p:ext uri="{BB962C8B-B14F-4D97-AF65-F5344CB8AC3E}">
        <p14:creationId xmlns:p14="http://schemas.microsoft.com/office/powerpoint/2010/main" val="900728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6E7171C5-2FB7-874C-81B1-05567BC65CD3}" type="datetimeFigureOut">
              <a:rPr lang="en-US" smtClean="0"/>
              <a:t>10/2/2025</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BE3E9598-E1CA-B649-8102-50F34A418D6E}" type="slidenum">
              <a:rPr lang="en-US" smtClean="0"/>
              <a:t>‹#›</a:t>
            </a:fld>
            <a:endParaRPr lang="en-US"/>
          </a:p>
        </p:txBody>
      </p:sp>
    </p:spTree>
    <p:extLst>
      <p:ext uri="{BB962C8B-B14F-4D97-AF65-F5344CB8AC3E}">
        <p14:creationId xmlns:p14="http://schemas.microsoft.com/office/powerpoint/2010/main" val="5369640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4</a:t>
            </a:fld>
            <a:endParaRPr lang="en-US"/>
          </a:p>
        </p:txBody>
      </p:sp>
    </p:spTree>
    <p:extLst>
      <p:ext uri="{BB962C8B-B14F-4D97-AF65-F5344CB8AC3E}">
        <p14:creationId xmlns:p14="http://schemas.microsoft.com/office/powerpoint/2010/main" val="3260774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19</a:t>
            </a:fld>
            <a:endParaRPr lang="en-US"/>
          </a:p>
        </p:txBody>
      </p:sp>
    </p:spTree>
    <p:extLst>
      <p:ext uri="{BB962C8B-B14F-4D97-AF65-F5344CB8AC3E}">
        <p14:creationId xmlns:p14="http://schemas.microsoft.com/office/powerpoint/2010/main" val="3368198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32</a:t>
            </a:fld>
            <a:endParaRPr lang="en-US"/>
          </a:p>
        </p:txBody>
      </p:sp>
    </p:spTree>
    <p:extLst>
      <p:ext uri="{BB962C8B-B14F-4D97-AF65-F5344CB8AC3E}">
        <p14:creationId xmlns:p14="http://schemas.microsoft.com/office/powerpoint/2010/main" val="4023076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we using the first version and not the second?</a:t>
            </a:r>
            <a:r>
              <a:rPr lang="en-US" baseline="0" dirty="0"/>
              <a:t> Because we wish to separate the creation of the image object and the setting of the image—we want to be able to switch the image back and forth while the crab is walking. Therefore, we want to </a:t>
            </a:r>
            <a:r>
              <a:rPr lang="en-US" b="1" baseline="0" dirty="0"/>
              <a:t>set</a:t>
            </a:r>
            <a:r>
              <a:rPr lang="en-US" baseline="0" dirty="0"/>
              <a:t> the image many times, but we only need to </a:t>
            </a:r>
            <a:r>
              <a:rPr lang="en-US" b="1" baseline="0" dirty="0"/>
              <a:t>create</a:t>
            </a:r>
            <a:r>
              <a:rPr lang="en-US" baseline="0" dirty="0"/>
              <a:t> each image once.</a:t>
            </a:r>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34</a:t>
            </a:fld>
            <a:endParaRPr lang="en-US"/>
          </a:p>
        </p:txBody>
      </p:sp>
    </p:spTree>
    <p:extLst>
      <p:ext uri="{BB962C8B-B14F-4D97-AF65-F5344CB8AC3E}">
        <p14:creationId xmlns:p14="http://schemas.microsoft.com/office/powerpoint/2010/main" val="90152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35</a:t>
            </a:fld>
            <a:endParaRPr lang="en-US"/>
          </a:p>
        </p:txBody>
      </p:sp>
    </p:spTree>
    <p:extLst>
      <p:ext uri="{BB962C8B-B14F-4D97-AF65-F5344CB8AC3E}">
        <p14:creationId xmlns:p14="http://schemas.microsoft.com/office/powerpoint/2010/main" val="1429333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46</a:t>
            </a:fld>
            <a:endParaRPr lang="en-US"/>
          </a:p>
        </p:txBody>
      </p:sp>
    </p:spTree>
    <p:extLst>
      <p:ext uri="{BB962C8B-B14F-4D97-AF65-F5344CB8AC3E}">
        <p14:creationId xmlns:p14="http://schemas.microsoft.com/office/powerpoint/2010/main" val="2787870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E9598-E1CA-B649-8102-50F34A418D6E}" type="slidenum">
              <a:rPr lang="en-US" smtClean="0"/>
              <a:t>59</a:t>
            </a:fld>
            <a:endParaRPr lang="en-US"/>
          </a:p>
        </p:txBody>
      </p:sp>
    </p:spTree>
    <p:extLst>
      <p:ext uri="{BB962C8B-B14F-4D97-AF65-F5344CB8AC3E}">
        <p14:creationId xmlns:p14="http://schemas.microsoft.com/office/powerpoint/2010/main" val="321470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372C460-7F8A-3047-B0F0-A8926139445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672216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1336561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72C460-7F8A-3047-B0F0-A8926139445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412169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72C460-7F8A-3047-B0F0-A8926139445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705202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72C460-7F8A-3047-B0F0-A8926139445E}" type="datetimeFigureOut">
              <a:rPr lang="en-US" smtClean="0"/>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741013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72C460-7F8A-3047-B0F0-A8926139445E}" type="datetimeFigureOut">
              <a:rPr lang="en-US" smtClean="0"/>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892215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72C460-7F8A-3047-B0F0-A8926139445E}" type="datetimeFigureOut">
              <a:rPr lang="en-US" smtClean="0"/>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94446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72C460-7F8A-3047-B0F0-A8926139445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387202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72C460-7F8A-3047-B0F0-A8926139445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230728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3730189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72C460-7F8A-3047-B0F0-A8926139445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00246-E5B5-C345-A32B-BAE6A358B86C}" type="slidenum">
              <a:rPr lang="en-US" smtClean="0"/>
              <a:t>‹#›</a:t>
            </a:fld>
            <a:endParaRPr lang="en-US"/>
          </a:p>
        </p:txBody>
      </p:sp>
    </p:spTree>
    <p:extLst>
      <p:ext uri="{BB962C8B-B14F-4D97-AF65-F5344CB8AC3E}">
        <p14:creationId xmlns:p14="http://schemas.microsoft.com/office/powerpoint/2010/main" val="95450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2C460-7F8A-3047-B0F0-A8926139445E}" type="datetimeFigureOut">
              <a:rPr lang="en-US" smtClean="0"/>
              <a:t>10/2/2025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00246-E5B5-C345-A32B-BAE6A358B86C}" type="slidenum">
              <a:rPr lang="en-US" smtClean="0"/>
              <a:t>‹#›</a:t>
            </a:fld>
            <a:endParaRPr lang="en-US"/>
          </a:p>
        </p:txBody>
      </p:sp>
    </p:spTree>
    <p:extLst>
      <p:ext uri="{BB962C8B-B14F-4D97-AF65-F5344CB8AC3E}">
        <p14:creationId xmlns:p14="http://schemas.microsoft.com/office/powerpoint/2010/main" val="1555967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94427"/>
            <a:ext cx="7772400" cy="1470025"/>
          </a:xfrm>
        </p:spPr>
        <p:txBody>
          <a:bodyPr>
            <a:normAutofit fontScale="90000"/>
          </a:bodyPr>
          <a:lstStyle/>
          <a:p>
            <a:r>
              <a:rPr lang="en-US" dirty="0"/>
              <a:t>Introduction to Object-Oriented Programming in Java using </a:t>
            </a:r>
            <a:r>
              <a:rPr lang="en-US" dirty="0" err="1">
                <a:solidFill>
                  <a:srgbClr val="008000"/>
                </a:solidFill>
              </a:rPr>
              <a:t>Greenfoot</a:t>
            </a:r>
            <a:endParaRPr lang="en-US" dirty="0"/>
          </a:p>
        </p:txBody>
      </p:sp>
      <p:sp>
        <p:nvSpPr>
          <p:cNvPr id="3" name="Subtitle 2"/>
          <p:cNvSpPr>
            <a:spLocks noGrp="1"/>
          </p:cNvSpPr>
          <p:nvPr>
            <p:ph type="subTitle" idx="1"/>
          </p:nvPr>
        </p:nvSpPr>
        <p:spPr>
          <a:xfrm>
            <a:off x="0" y="3886200"/>
            <a:ext cx="9143999" cy="1752600"/>
          </a:xfrm>
        </p:spPr>
        <p:txBody>
          <a:bodyPr>
            <a:noAutofit/>
          </a:bodyPr>
          <a:lstStyle/>
          <a:p>
            <a:r>
              <a:rPr lang="en-US" dirty="0"/>
              <a:t>Chapter 4: </a:t>
            </a:r>
            <a:br>
              <a:rPr lang="en-US" dirty="0"/>
            </a:br>
            <a:r>
              <a:rPr lang="en-US" dirty="0"/>
              <a:t>Finishing the Crab Game</a:t>
            </a:r>
          </a:p>
          <a:p>
            <a:endParaRPr lang="en-US" dirty="0"/>
          </a:p>
        </p:txBody>
      </p:sp>
      <p:sp>
        <p:nvSpPr>
          <p:cNvPr id="4" name="TextBox 3"/>
          <p:cNvSpPr txBox="1"/>
          <p:nvPr/>
        </p:nvSpPr>
        <p:spPr>
          <a:xfrm>
            <a:off x="427067" y="6334780"/>
            <a:ext cx="8294081" cy="523220"/>
          </a:xfrm>
          <a:prstGeom prst="rect">
            <a:avLst/>
          </a:prstGeom>
          <a:noFill/>
        </p:spPr>
        <p:txBody>
          <a:bodyPr wrap="square" rtlCol="0">
            <a:spAutoFit/>
          </a:bodyPr>
          <a:lstStyle/>
          <a:p>
            <a:pPr algn="ctr"/>
            <a:r>
              <a:rPr lang="en-US" sz="1400" dirty="0"/>
              <a:t>Material presented in these slides is based on content from the book </a:t>
            </a:r>
            <a:r>
              <a:rPr lang="en-US" sz="1400" i="1" dirty="0"/>
              <a:t>Introduction to Programming with </a:t>
            </a:r>
            <a:r>
              <a:rPr lang="en-US" sz="1400" i="1" dirty="0" err="1"/>
              <a:t>Greenfoot</a:t>
            </a:r>
            <a:r>
              <a:rPr lang="en-US" sz="1400" i="1" dirty="0"/>
              <a:t> </a:t>
            </a:r>
            <a:r>
              <a:rPr lang="en-US" sz="1400" dirty="0"/>
              <a:t>by Michael </a:t>
            </a:r>
            <a:r>
              <a:rPr lang="en-US" sz="1400" dirty="0" err="1"/>
              <a:t>Kölling</a:t>
            </a:r>
            <a:r>
              <a:rPr lang="en-US" sz="1400" dirty="0"/>
              <a:t>, 2</a:t>
            </a:r>
            <a:r>
              <a:rPr lang="en-US" sz="1400" baseline="30000" dirty="0"/>
              <a:t>nd</a:t>
            </a:r>
            <a:r>
              <a:rPr lang="en-US" sz="1400" dirty="0"/>
              <a:t> edition ©2016 Pearson Higher Education (Upper Saddle River, NJ)</a:t>
            </a:r>
          </a:p>
        </p:txBody>
      </p:sp>
    </p:spTree>
    <p:extLst>
      <p:ext uri="{BB962C8B-B14F-4D97-AF65-F5344CB8AC3E}">
        <p14:creationId xmlns:p14="http://schemas.microsoft.com/office/powerpoint/2010/main" val="85456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a:t>
            </a:r>
            <a:r>
              <a:rPr lang="en-US" b="1" dirty="0">
                <a:solidFill>
                  <a:srgbClr val="FF0000"/>
                </a:solidFill>
              </a:rPr>
              <a:t>Concepts </a:t>
            </a:r>
            <a:r>
              <a:rPr lang="en-US" dirty="0">
                <a:solidFill>
                  <a:srgbClr val="000000"/>
                </a:solidFill>
              </a:rPr>
              <a:t>from Ch. 3</a:t>
            </a:r>
            <a:endParaRPr lang="en-US" dirty="0"/>
          </a:p>
        </p:txBody>
      </p:sp>
      <p:sp>
        <p:nvSpPr>
          <p:cNvPr id="3" name="Content Placeholder 2"/>
          <p:cNvSpPr>
            <a:spLocks noGrp="1"/>
          </p:cNvSpPr>
          <p:nvPr>
            <p:ph idx="1"/>
          </p:nvPr>
        </p:nvSpPr>
        <p:spPr/>
        <p:txBody>
          <a:bodyPr>
            <a:normAutofit lnSpcReduction="10000"/>
          </a:bodyPr>
          <a:lstStyle/>
          <a:p>
            <a:r>
              <a:rPr lang="en-US" sz="2800" dirty="0"/>
              <a:t>When a method we wish to call is not in our own class or inherited from another, we need to </a:t>
            </a:r>
            <a:r>
              <a:rPr lang="en-US" sz="2800" i="1" dirty="0"/>
              <a:t>specify</a:t>
            </a:r>
            <a:r>
              <a:rPr lang="en-US" sz="2800" dirty="0"/>
              <a:t> the class or object that has the method before name, followed by a dot. This is called </a:t>
            </a:r>
            <a:r>
              <a:rPr lang="en-US" sz="2800" b="1" dirty="0"/>
              <a:t>dot notation</a:t>
            </a:r>
            <a:r>
              <a:rPr lang="en-US" sz="2800" dirty="0"/>
              <a:t>.</a:t>
            </a:r>
          </a:p>
          <a:p>
            <a:r>
              <a:rPr lang="en-US" sz="2800" dirty="0"/>
              <a:t>Methods that belong to classes (as opposed to objects) are marked with the keyword </a:t>
            </a:r>
            <a:r>
              <a:rPr lang="en-US" sz="2800" b="1" dirty="0">
                <a:latin typeface="Courier New"/>
                <a:cs typeface="Courier New"/>
              </a:rPr>
              <a:t>static</a:t>
            </a:r>
            <a:r>
              <a:rPr lang="en-US" sz="2800" dirty="0"/>
              <a:t> in their </a:t>
            </a:r>
            <a:r>
              <a:rPr lang="en-US" sz="2800" strike="sngStrike" dirty="0"/>
              <a:t>signature</a:t>
            </a:r>
            <a:r>
              <a:rPr lang="en-US" sz="2800" dirty="0"/>
              <a:t> </a:t>
            </a:r>
            <a:r>
              <a:rPr lang="en-US" sz="2800" i="1" dirty="0"/>
              <a:t>header</a:t>
            </a:r>
            <a:r>
              <a:rPr lang="en-US" sz="2800" dirty="0"/>
              <a:t>. They are also </a:t>
            </a:r>
            <a:r>
              <a:rPr lang="en-US" sz="2800" b="1" dirty="0"/>
              <a:t>class methods</a:t>
            </a:r>
            <a:r>
              <a:rPr lang="en-US" sz="2800" dirty="0"/>
              <a:t>.</a:t>
            </a:r>
          </a:p>
          <a:p>
            <a:r>
              <a:rPr lang="en-US" sz="2800" dirty="0"/>
              <a:t>A </a:t>
            </a:r>
            <a:r>
              <a:rPr lang="en-US" sz="2800" b="1" dirty="0"/>
              <a:t>method definition </a:t>
            </a:r>
            <a:r>
              <a:rPr lang="en-US" sz="2800" dirty="0"/>
              <a:t>defines a new action for objects of the class for which the method is defined. The action is not immediately executed, but the method call be called with a method call later to execute it.</a:t>
            </a:r>
          </a:p>
        </p:txBody>
      </p:sp>
    </p:spTree>
    <p:extLst>
      <p:ext uri="{BB962C8B-B14F-4D97-AF65-F5344CB8AC3E}">
        <p14:creationId xmlns:p14="http://schemas.microsoft.com/office/powerpoint/2010/main" val="1119861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Review of </a:t>
            </a:r>
            <a:r>
              <a:rPr lang="en-US" b="1" dirty="0">
                <a:solidFill>
                  <a:srgbClr val="FF0000"/>
                </a:solidFill>
              </a:rPr>
              <a:t>Concepts </a:t>
            </a:r>
            <a:r>
              <a:rPr lang="en-US" dirty="0">
                <a:solidFill>
                  <a:srgbClr val="000000"/>
                </a:solidFill>
              </a:rPr>
              <a:t>from Ch. 3 (continued)</a:t>
            </a:r>
            <a:endParaRPr lang="en-US" dirty="0"/>
          </a:p>
        </p:txBody>
      </p:sp>
      <p:sp>
        <p:nvSpPr>
          <p:cNvPr id="3" name="Content Placeholder 2"/>
          <p:cNvSpPr>
            <a:spLocks noGrp="1"/>
          </p:cNvSpPr>
          <p:nvPr>
            <p:ph idx="1"/>
          </p:nvPr>
        </p:nvSpPr>
        <p:spPr/>
        <p:txBody>
          <a:bodyPr>
            <a:normAutofit/>
          </a:bodyPr>
          <a:lstStyle/>
          <a:p>
            <a:r>
              <a:rPr lang="en-US" b="1" dirty="0"/>
              <a:t>Comments</a:t>
            </a:r>
            <a:r>
              <a:rPr lang="en-US" dirty="0"/>
              <a:t> are written into the source code as explanations for human readers. They are ignored by the computer.</a:t>
            </a:r>
          </a:p>
          <a:p>
            <a:r>
              <a:rPr lang="en-US" dirty="0"/>
              <a:t>The </a:t>
            </a:r>
            <a:r>
              <a:rPr lang="en-US" b="1" dirty="0"/>
              <a:t>API Documentation </a:t>
            </a:r>
            <a:r>
              <a:rPr lang="en-US" dirty="0"/>
              <a:t>lists all classes and methods available in </a:t>
            </a:r>
            <a:r>
              <a:rPr lang="en-US" dirty="0" err="1"/>
              <a:t>Greenfoot</a:t>
            </a:r>
            <a:r>
              <a:rPr lang="en-US" dirty="0"/>
              <a:t>. We often need to look up methods there.</a:t>
            </a:r>
          </a:p>
        </p:txBody>
      </p:sp>
    </p:spTree>
    <p:extLst>
      <p:ext uri="{BB962C8B-B14F-4D97-AF65-F5344CB8AC3E}">
        <p14:creationId xmlns:p14="http://schemas.microsoft.com/office/powerpoint/2010/main" val="356054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Adding objects automatically</a:t>
            </a:r>
            <a:endParaRPr lang="en-US" sz="2700" b="1" dirty="0">
              <a:solidFill>
                <a:srgbClr val="0070C0"/>
              </a:solidFill>
            </a:endParaRPr>
          </a:p>
        </p:txBody>
      </p:sp>
      <p:sp>
        <p:nvSpPr>
          <p:cNvPr id="3" name="Content Placeholder 2"/>
          <p:cNvSpPr>
            <a:spLocks noGrp="1"/>
          </p:cNvSpPr>
          <p:nvPr>
            <p:ph idx="1"/>
          </p:nvPr>
        </p:nvSpPr>
        <p:spPr/>
        <p:txBody>
          <a:bodyPr/>
          <a:lstStyle/>
          <a:p>
            <a:r>
              <a:rPr lang="en-US" dirty="0"/>
              <a:t>Currently we place actors in the world </a:t>
            </a:r>
            <a:r>
              <a:rPr lang="en-US" b="1" dirty="0"/>
              <a:t>manually</a:t>
            </a:r>
            <a:r>
              <a:rPr lang="en-US" dirty="0"/>
              <a:t>. (A "real" game would have this happen automatically.)</a:t>
            </a:r>
          </a:p>
          <a:p>
            <a:r>
              <a:rPr lang="en-US" dirty="0"/>
              <a:t>However, </a:t>
            </a:r>
            <a:r>
              <a:rPr lang="en-US" b="1" dirty="0"/>
              <a:t>one</a:t>
            </a:r>
            <a:r>
              <a:rPr lang="en-US" dirty="0"/>
              <a:t> object does get instantiated automatically when we compile – care to guess what it is?</a:t>
            </a:r>
          </a:p>
          <a:p>
            <a:pPr lvl="1"/>
            <a:r>
              <a:rPr lang="en-US" dirty="0"/>
              <a:t>Answer: The </a:t>
            </a:r>
            <a:r>
              <a:rPr lang="en-US" i="1" dirty="0"/>
              <a:t>world itself </a:t>
            </a:r>
            <a:r>
              <a:rPr lang="en-US" dirty="0"/>
              <a:t>is created!</a:t>
            </a:r>
          </a:p>
          <a:p>
            <a:pPr lvl="2"/>
            <a:r>
              <a:rPr lang="en-US" dirty="0"/>
              <a:t>It is an instance of the </a:t>
            </a:r>
            <a:r>
              <a:rPr lang="en-US" b="1" dirty="0" err="1">
                <a:latin typeface="Courier New"/>
                <a:cs typeface="Courier New"/>
              </a:rPr>
              <a:t>CrabWorld</a:t>
            </a:r>
            <a:r>
              <a:rPr lang="en-US" dirty="0"/>
              <a:t> class</a:t>
            </a:r>
          </a:p>
        </p:txBody>
      </p:sp>
    </p:spTree>
    <p:extLst>
      <p:ext uri="{BB962C8B-B14F-4D97-AF65-F5344CB8AC3E}">
        <p14:creationId xmlns:p14="http://schemas.microsoft.com/office/powerpoint/2010/main" val="235224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8097" y="3360627"/>
            <a:ext cx="6425514" cy="2948098"/>
          </a:xfrm>
          <a:prstGeom prst="rect">
            <a:avLst/>
          </a:prstGeom>
        </p:spPr>
      </p:pic>
      <p:sp>
        <p:nvSpPr>
          <p:cNvPr id="2" name="Title 1"/>
          <p:cNvSpPr>
            <a:spLocks noGrp="1"/>
          </p:cNvSpPr>
          <p:nvPr>
            <p:ph type="title"/>
          </p:nvPr>
        </p:nvSpPr>
        <p:spPr/>
        <p:txBody>
          <a:bodyPr>
            <a:normAutofit/>
          </a:bodyPr>
          <a:lstStyle/>
          <a:p>
            <a:r>
              <a:rPr lang="en-US" sz="3600" dirty="0"/>
              <a:t>Let's look at the </a:t>
            </a:r>
            <a:r>
              <a:rPr lang="en-US" sz="3600" b="1" dirty="0" err="1">
                <a:latin typeface="Courier New"/>
                <a:cs typeface="Courier New"/>
              </a:rPr>
              <a:t>CrabWorld</a:t>
            </a:r>
            <a:r>
              <a:rPr lang="en-US" sz="3600" b="1" dirty="0">
                <a:latin typeface="Courier New"/>
                <a:cs typeface="Courier New"/>
              </a:rPr>
              <a:t> </a:t>
            </a:r>
            <a:r>
              <a:rPr lang="en-US" sz="3600" dirty="0"/>
              <a:t>source code</a:t>
            </a:r>
          </a:p>
        </p:txBody>
      </p:sp>
      <p:sp>
        <p:nvSpPr>
          <p:cNvPr id="3" name="Content Placeholder 2"/>
          <p:cNvSpPr>
            <a:spLocks noGrp="1"/>
          </p:cNvSpPr>
          <p:nvPr>
            <p:ph idx="1"/>
          </p:nvPr>
        </p:nvSpPr>
        <p:spPr/>
        <p:txBody>
          <a:bodyPr/>
          <a:lstStyle/>
          <a:p>
            <a:r>
              <a:rPr lang="en-US" sz="2400" dirty="0"/>
              <a:t>Note: If you do not have your own crab game at this stage (whatever is equivalent to the completion of Ch. 3), you can use </a:t>
            </a:r>
            <a:r>
              <a:rPr lang="en-US" sz="2400" i="1" dirty="0"/>
              <a:t>little-crab-4 </a:t>
            </a:r>
            <a:r>
              <a:rPr lang="en-US" sz="2400" dirty="0"/>
              <a:t>as the book scenario for this chapter</a:t>
            </a:r>
          </a:p>
          <a:p>
            <a:endParaRPr lang="en-US" dirty="0"/>
          </a:p>
        </p:txBody>
      </p:sp>
      <p:sp>
        <p:nvSpPr>
          <p:cNvPr id="6" name="Rounded Rectangle 5"/>
          <p:cNvSpPr/>
          <p:nvPr/>
        </p:nvSpPr>
        <p:spPr>
          <a:xfrm>
            <a:off x="1741714" y="5019524"/>
            <a:ext cx="2709334" cy="1003905"/>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p:cNvCxnSpPr>
            <a:stCxn id="9" idx="1"/>
            <a:endCxn id="6" idx="3"/>
          </p:cNvCxnSpPr>
          <p:nvPr/>
        </p:nvCxnSpPr>
        <p:spPr>
          <a:xfrm flipH="1" flipV="1">
            <a:off x="4451048" y="5521477"/>
            <a:ext cx="1124862" cy="14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75910" y="4922764"/>
            <a:ext cx="2999619" cy="1200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This code segment is the </a:t>
            </a:r>
            <a:r>
              <a:rPr lang="en-US" sz="2400" b="1" dirty="0"/>
              <a:t>constructor</a:t>
            </a:r>
            <a:r>
              <a:rPr lang="en-US" sz="2400" dirty="0"/>
              <a:t> for this class. </a:t>
            </a:r>
          </a:p>
        </p:txBody>
      </p:sp>
      <p:sp>
        <p:nvSpPr>
          <p:cNvPr id="7" name="TextBox 6"/>
          <p:cNvSpPr txBox="1"/>
          <p:nvPr/>
        </p:nvSpPr>
        <p:spPr>
          <a:xfrm>
            <a:off x="556084" y="6424141"/>
            <a:ext cx="8031832"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dirty="0"/>
              <a:t>Go ahead and label all closing braces with end-of-line comments!</a:t>
            </a:r>
          </a:p>
        </p:txBody>
      </p:sp>
    </p:spTree>
    <p:extLst>
      <p:ext uri="{BB962C8B-B14F-4D97-AF65-F5344CB8AC3E}">
        <p14:creationId xmlns:p14="http://schemas.microsoft.com/office/powerpoint/2010/main" val="174989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Constructors</a:t>
            </a:r>
          </a:p>
        </p:txBody>
      </p:sp>
      <p:sp>
        <p:nvSpPr>
          <p:cNvPr id="3" name="Content Placeholder 2"/>
          <p:cNvSpPr>
            <a:spLocks noGrp="1"/>
          </p:cNvSpPr>
          <p:nvPr>
            <p:ph idx="1"/>
          </p:nvPr>
        </p:nvSpPr>
        <p:spPr/>
        <p:txBody>
          <a:bodyPr/>
          <a:lstStyle/>
          <a:p>
            <a:r>
              <a:rPr lang="en-US" dirty="0"/>
              <a:t>A </a:t>
            </a:r>
            <a:r>
              <a:rPr lang="en-US" b="1" dirty="0"/>
              <a:t>constructor</a:t>
            </a:r>
            <a:r>
              <a:rPr lang="en-US" dirty="0"/>
              <a:t> looks quite similar to a method, but there are some differences:</a:t>
            </a:r>
          </a:p>
          <a:p>
            <a:pPr lvl="1"/>
            <a:r>
              <a:rPr lang="en-US" dirty="0"/>
              <a:t>A constructor has </a:t>
            </a:r>
            <a:r>
              <a:rPr lang="en-US" b="1" dirty="0"/>
              <a:t>no return type </a:t>
            </a:r>
            <a:r>
              <a:rPr lang="en-US" dirty="0"/>
              <a:t>specified between the keyword </a:t>
            </a:r>
            <a:r>
              <a:rPr lang="en-US" b="1" dirty="0">
                <a:latin typeface="Courier New"/>
                <a:cs typeface="Courier New"/>
              </a:rPr>
              <a:t>public</a:t>
            </a:r>
            <a:r>
              <a:rPr lang="en-US" dirty="0"/>
              <a:t> and the constructor's name</a:t>
            </a:r>
          </a:p>
          <a:p>
            <a:pPr lvl="1"/>
            <a:r>
              <a:rPr lang="en-US" dirty="0"/>
              <a:t>The name of the </a:t>
            </a:r>
            <a:r>
              <a:rPr lang="en-US" i="1" dirty="0"/>
              <a:t>constructor</a:t>
            </a:r>
            <a:r>
              <a:rPr lang="en-US" dirty="0"/>
              <a:t> is always the same as the name of the </a:t>
            </a:r>
            <a:r>
              <a:rPr lang="en-US" i="1" dirty="0"/>
              <a:t>class </a:t>
            </a:r>
          </a:p>
        </p:txBody>
      </p:sp>
      <p:sp>
        <p:nvSpPr>
          <p:cNvPr id="4" name="TextBox 3"/>
          <p:cNvSpPr txBox="1"/>
          <p:nvPr/>
        </p:nvSpPr>
        <p:spPr>
          <a:xfrm>
            <a:off x="699103" y="5043714"/>
            <a:ext cx="7852229" cy="15696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b="1" dirty="0">
                <a:solidFill>
                  <a:srgbClr val="FF0000"/>
                </a:solidFill>
              </a:rPr>
              <a:t>Concept: </a:t>
            </a:r>
            <a:r>
              <a:rPr lang="en-US" sz="2400" dirty="0"/>
              <a:t>A </a:t>
            </a:r>
            <a:r>
              <a:rPr lang="en-US" sz="2400" b="1" dirty="0"/>
              <a:t>constructor</a:t>
            </a:r>
            <a:r>
              <a:rPr lang="en-US" sz="2400" dirty="0"/>
              <a:t> is a </a:t>
            </a:r>
            <a:r>
              <a:rPr lang="en-US" sz="2400" u="sng" dirty="0"/>
              <a:t>special kind of method</a:t>
            </a:r>
            <a:r>
              <a:rPr lang="en-US" sz="2400" dirty="0"/>
              <a:t> that is </a:t>
            </a:r>
            <a:r>
              <a:rPr lang="en-US" sz="2400" i="1" dirty="0"/>
              <a:t>always automatically executed </a:t>
            </a:r>
            <a:r>
              <a:rPr lang="en-US" sz="2400" dirty="0"/>
              <a:t>whenever an instance of the class is created. It can then do what it wants to do to set up this new instance into a "starting state."</a:t>
            </a:r>
          </a:p>
        </p:txBody>
      </p:sp>
    </p:spTree>
    <p:extLst>
      <p:ext uri="{BB962C8B-B14F-4D97-AF65-F5344CB8AC3E}">
        <p14:creationId xmlns:p14="http://schemas.microsoft.com/office/powerpoint/2010/main" val="159914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closer look at the </a:t>
            </a:r>
            <a:r>
              <a:rPr lang="en-US" b="1" dirty="0" err="1">
                <a:latin typeface="Courier New"/>
                <a:cs typeface="Courier New"/>
              </a:rPr>
              <a:t>CrabWorld</a:t>
            </a:r>
            <a:r>
              <a:rPr lang="en-US" dirty="0"/>
              <a:t> constructor</a:t>
            </a:r>
          </a:p>
        </p:txBody>
      </p:sp>
      <p:sp>
        <p:nvSpPr>
          <p:cNvPr id="3" name="Content Placeholder 2"/>
          <p:cNvSpPr>
            <a:spLocks noGrp="1"/>
          </p:cNvSpPr>
          <p:nvPr>
            <p:ph idx="1"/>
          </p:nvPr>
        </p:nvSpPr>
        <p:spPr/>
        <p:txBody>
          <a:bodyPr>
            <a:normAutofit/>
          </a:bodyPr>
          <a:lstStyle/>
          <a:p>
            <a:r>
              <a:rPr lang="en-US" sz="2800" dirty="0"/>
              <a:t>In our case, the </a:t>
            </a:r>
            <a:r>
              <a:rPr lang="en-US" sz="2800" b="1" dirty="0" err="1">
                <a:latin typeface="Courier New"/>
                <a:cs typeface="Courier New"/>
              </a:rPr>
              <a:t>CrabWorld</a:t>
            </a:r>
            <a:r>
              <a:rPr lang="en-US" sz="2800" dirty="0"/>
              <a:t> constructor sets the world to the </a:t>
            </a:r>
            <a:r>
              <a:rPr lang="en-US" sz="2800" b="1" u="sng" dirty="0"/>
              <a:t>size</a:t>
            </a:r>
            <a:r>
              <a:rPr lang="en-US" sz="2800" dirty="0"/>
              <a:t> we want (here, 560 by 560 </a:t>
            </a:r>
            <a:r>
              <a:rPr lang="en-US" sz="2800" i="1" dirty="0"/>
              <a:t>cells</a:t>
            </a:r>
            <a:r>
              <a:rPr lang="en-US" sz="2800" dirty="0"/>
              <a:t>) and also specifies the </a:t>
            </a:r>
            <a:r>
              <a:rPr lang="en-US" sz="2800" b="1" u="sng" dirty="0"/>
              <a:t>resolution</a:t>
            </a:r>
            <a:r>
              <a:rPr lang="en-US" sz="2800" dirty="0"/>
              <a:t> (the </a:t>
            </a:r>
            <a:r>
              <a:rPr lang="en-US" sz="2800" i="1" dirty="0"/>
              <a:t>number of pixels per cell</a:t>
            </a:r>
            <a:r>
              <a:rPr lang="en-US" sz="2800" dirty="0"/>
              <a:t>, which here is equal to 1)</a:t>
            </a:r>
          </a:p>
          <a:p>
            <a:r>
              <a:rPr lang="en-US" sz="2800" b="1" dirty="0" err="1">
                <a:latin typeface="Courier New"/>
                <a:cs typeface="Courier New"/>
              </a:rPr>
              <a:t>CrabWorld</a:t>
            </a:r>
            <a:r>
              <a:rPr lang="en-US" sz="2800" dirty="0"/>
              <a:t> is a </a:t>
            </a:r>
            <a:r>
              <a:rPr lang="en-US" sz="2800" i="1" dirty="0"/>
              <a:t>subclass</a:t>
            </a:r>
            <a:r>
              <a:rPr lang="en-US" sz="2800" dirty="0"/>
              <a:t> of </a:t>
            </a:r>
            <a:r>
              <a:rPr lang="en-US" sz="2800" b="1" dirty="0">
                <a:latin typeface="Courier New"/>
                <a:cs typeface="Courier New"/>
              </a:rPr>
              <a:t>World</a:t>
            </a:r>
            <a:r>
              <a:rPr lang="en-US" sz="2800" dirty="0"/>
              <a:t>, so we should look at the </a:t>
            </a:r>
            <a:r>
              <a:rPr lang="en-US" sz="2800" b="1" dirty="0">
                <a:latin typeface="Courier New"/>
                <a:cs typeface="Courier New"/>
              </a:rPr>
              <a:t>World</a:t>
            </a:r>
            <a:r>
              <a:rPr lang="en-US" sz="2800" dirty="0"/>
              <a:t> class documentation (to see a generic version of the </a:t>
            </a:r>
            <a:r>
              <a:rPr lang="en-US" sz="2800" b="1" dirty="0">
                <a:latin typeface="Courier New"/>
                <a:cs typeface="Courier New"/>
              </a:rPr>
              <a:t>World</a:t>
            </a:r>
            <a:r>
              <a:rPr lang="en-US" sz="2800" dirty="0"/>
              <a:t> constructor summary)</a:t>
            </a:r>
          </a:p>
          <a:p>
            <a:pPr lvl="1"/>
            <a:r>
              <a:rPr lang="en-US" sz="2400" dirty="0"/>
              <a:t>Go to </a:t>
            </a:r>
            <a:r>
              <a:rPr lang="en-US" sz="2400" b="1" dirty="0"/>
              <a:t>Help &gt; </a:t>
            </a:r>
            <a:r>
              <a:rPr lang="en-US" sz="2400" b="1" dirty="0" err="1"/>
              <a:t>Greenfoot</a:t>
            </a:r>
            <a:r>
              <a:rPr lang="en-US" sz="2400" b="1" dirty="0"/>
              <a:t> Class Documentation</a:t>
            </a:r>
          </a:p>
          <a:p>
            <a:pPr lvl="1"/>
            <a:r>
              <a:rPr lang="en-US" sz="2400" dirty="0"/>
              <a:t>Click on the </a:t>
            </a:r>
            <a:r>
              <a:rPr lang="en-US" sz="2400" b="1" u="sng" dirty="0">
                <a:solidFill>
                  <a:srgbClr val="0000FF"/>
                </a:solidFill>
                <a:latin typeface="Courier New"/>
                <a:cs typeface="Courier New"/>
              </a:rPr>
              <a:t>World</a:t>
            </a:r>
            <a:r>
              <a:rPr lang="en-US" sz="2400" dirty="0"/>
              <a:t> link in the left menu</a:t>
            </a:r>
          </a:p>
          <a:p>
            <a:pPr lvl="1"/>
            <a:r>
              <a:rPr lang="en-US" sz="2400" dirty="0"/>
              <a:t>Scroll down to the </a:t>
            </a:r>
            <a:r>
              <a:rPr lang="en-US" sz="2400" b="1" dirty="0"/>
              <a:t>Constructor Summary</a:t>
            </a:r>
            <a:endParaRPr lang="en-US" sz="2400" dirty="0"/>
          </a:p>
        </p:txBody>
      </p:sp>
    </p:spTree>
    <p:extLst>
      <p:ext uri="{BB962C8B-B14F-4D97-AF65-F5344CB8AC3E}">
        <p14:creationId xmlns:p14="http://schemas.microsoft.com/office/powerpoint/2010/main" val="352169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latin typeface="Courier New"/>
                <a:cs typeface="Courier New"/>
              </a:rPr>
              <a:t>World</a:t>
            </a:r>
            <a:r>
              <a:rPr lang="en-US" dirty="0"/>
              <a:t> Constructor Summary</a:t>
            </a:r>
          </a:p>
        </p:txBody>
      </p:sp>
      <p:sp>
        <p:nvSpPr>
          <p:cNvPr id="3" name="Content Placeholder 2"/>
          <p:cNvSpPr>
            <a:spLocks noGrp="1"/>
          </p:cNvSpPr>
          <p:nvPr>
            <p:ph idx="1"/>
          </p:nvPr>
        </p:nvSpPr>
        <p:spPr/>
        <p:txBody>
          <a:bodyPr>
            <a:normAutofit/>
          </a:bodyPr>
          <a:lstStyle/>
          <a:p>
            <a:r>
              <a:rPr lang="en-US" sz="2800" dirty="0"/>
              <a:t>We can see the correspondence between the </a:t>
            </a:r>
            <a:r>
              <a:rPr lang="en-US" sz="2800" b="1" dirty="0">
                <a:latin typeface="Courier New"/>
                <a:cs typeface="Courier New"/>
              </a:rPr>
              <a:t>World</a:t>
            </a:r>
            <a:r>
              <a:rPr lang="en-US" sz="2800" dirty="0"/>
              <a:t> constructor definition and the constructor in its </a:t>
            </a:r>
            <a:r>
              <a:rPr lang="en-US" sz="2800" b="1" dirty="0" err="1">
                <a:latin typeface="Courier New"/>
                <a:cs typeface="Courier New"/>
              </a:rPr>
              <a:t>CrabWorld</a:t>
            </a:r>
            <a:r>
              <a:rPr lang="en-US" sz="2800" dirty="0"/>
              <a:t> subclass</a:t>
            </a:r>
          </a:p>
        </p:txBody>
      </p:sp>
      <p:pic>
        <p:nvPicPr>
          <p:cNvPr id="5" name="Picture 4" descr="Screen Shot 2011-09-05 at 12.26.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377" y="3036507"/>
            <a:ext cx="7200900" cy="1765300"/>
          </a:xfrm>
          <a:prstGeom prst="rect">
            <a:avLst/>
          </a:prstGeom>
          <a:ln>
            <a:noFill/>
          </a:ln>
          <a:effectLst>
            <a:outerShdw blurRad="292100" dist="139700" dir="2700000" algn="tl" rotWithShape="0">
              <a:srgbClr val="333333">
                <a:alpha val="65000"/>
              </a:srgbClr>
            </a:outerShdw>
          </a:effectLst>
        </p:spPr>
      </p:pic>
      <p:pic>
        <p:nvPicPr>
          <p:cNvPr id="6" name="Picture 5" descr="Screen Shot 2011-09-05 at 12.25.3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170" y="5092093"/>
            <a:ext cx="4041625" cy="1606911"/>
          </a:xfrm>
          <a:prstGeom prst="rect">
            <a:avLst/>
          </a:prstGeom>
        </p:spPr>
      </p:pic>
      <p:grpSp>
        <p:nvGrpSpPr>
          <p:cNvPr id="19" name="Group 18"/>
          <p:cNvGrpSpPr/>
          <p:nvPr/>
        </p:nvGrpSpPr>
        <p:grpSpPr>
          <a:xfrm>
            <a:off x="2552081" y="3628570"/>
            <a:ext cx="3072191" cy="2630638"/>
            <a:chOff x="1838476" y="3519715"/>
            <a:chExt cx="3072191" cy="2630638"/>
          </a:xfrm>
        </p:grpSpPr>
        <p:sp>
          <p:nvSpPr>
            <p:cNvPr id="7" name="Rounded Rectangle 6"/>
            <p:cNvSpPr/>
            <p:nvPr/>
          </p:nvSpPr>
          <p:spPr>
            <a:xfrm>
              <a:off x="1838476" y="3519715"/>
              <a:ext cx="1185334"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ounded Rectangle 9"/>
            <p:cNvSpPr/>
            <p:nvPr/>
          </p:nvSpPr>
          <p:spPr>
            <a:xfrm>
              <a:off x="4228496" y="5788781"/>
              <a:ext cx="682171" cy="361572"/>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a:stCxn id="7" idx="2"/>
              <a:endCxn id="10" idx="0"/>
            </p:cNvCxnSpPr>
            <p:nvPr/>
          </p:nvCxnSpPr>
          <p:spPr>
            <a:xfrm>
              <a:off x="2431143" y="3749524"/>
              <a:ext cx="2138439" cy="2039257"/>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20" name="Group 19"/>
          <p:cNvGrpSpPr/>
          <p:nvPr/>
        </p:nvGrpSpPr>
        <p:grpSpPr>
          <a:xfrm>
            <a:off x="4228481" y="3628570"/>
            <a:ext cx="2242458" cy="2645152"/>
            <a:chOff x="3514876" y="3519715"/>
            <a:chExt cx="2242458" cy="2645152"/>
          </a:xfrm>
        </p:grpSpPr>
        <p:sp>
          <p:nvSpPr>
            <p:cNvPr id="8" name="Rounded Rectangle 7"/>
            <p:cNvSpPr/>
            <p:nvPr/>
          </p:nvSpPr>
          <p:spPr>
            <a:xfrm>
              <a:off x="3514876" y="3519715"/>
              <a:ext cx="1185334" cy="229809"/>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10"/>
            <p:cNvSpPr/>
            <p:nvPr/>
          </p:nvSpPr>
          <p:spPr>
            <a:xfrm>
              <a:off x="5075163" y="5803295"/>
              <a:ext cx="682171" cy="361572"/>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p:cNvCxnSpPr>
              <a:stCxn id="8" idx="2"/>
              <a:endCxn id="11" idx="0"/>
            </p:cNvCxnSpPr>
            <p:nvPr/>
          </p:nvCxnSpPr>
          <p:spPr>
            <a:xfrm>
              <a:off x="4107543" y="3749524"/>
              <a:ext cx="1308706" cy="205377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21" name="Group 20"/>
          <p:cNvGrpSpPr/>
          <p:nvPr/>
        </p:nvGrpSpPr>
        <p:grpSpPr>
          <a:xfrm>
            <a:off x="5946004" y="3635828"/>
            <a:ext cx="984554" cy="2637894"/>
            <a:chOff x="5232399" y="3526973"/>
            <a:chExt cx="984554" cy="2637894"/>
          </a:xfrm>
        </p:grpSpPr>
        <p:sp>
          <p:nvSpPr>
            <p:cNvPr id="9" name="Rounded Rectangle 8"/>
            <p:cNvSpPr/>
            <p:nvPr/>
          </p:nvSpPr>
          <p:spPr>
            <a:xfrm>
              <a:off x="5232399" y="3526973"/>
              <a:ext cx="984553" cy="222552"/>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p:cNvSpPr/>
            <p:nvPr/>
          </p:nvSpPr>
          <p:spPr>
            <a:xfrm>
              <a:off x="5933925" y="5788781"/>
              <a:ext cx="283028" cy="376086"/>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p:cNvCxnSpPr>
              <a:stCxn id="9" idx="2"/>
              <a:endCxn id="12" idx="0"/>
            </p:cNvCxnSpPr>
            <p:nvPr/>
          </p:nvCxnSpPr>
          <p:spPr>
            <a:xfrm>
              <a:off x="5724676" y="3749525"/>
              <a:ext cx="350763" cy="2039256"/>
            </a:xfrm>
            <a:prstGeom prst="straightConnector1">
              <a:avLst/>
            </a:prstGeom>
            <a:ln>
              <a:solidFill>
                <a:srgbClr val="F79646"/>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22" name="TextBox 21"/>
          <p:cNvSpPr txBox="1"/>
          <p:nvPr/>
        </p:nvSpPr>
        <p:spPr>
          <a:xfrm>
            <a:off x="51704" y="5033328"/>
            <a:ext cx="319131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600" b="1" dirty="0"/>
              <a:t>Note: </a:t>
            </a:r>
            <a:r>
              <a:rPr lang="en-US" sz="1600" dirty="0"/>
              <a:t>The keyword </a:t>
            </a:r>
            <a:r>
              <a:rPr lang="en-US" sz="1600" b="1" dirty="0">
                <a:solidFill>
                  <a:schemeClr val="accent1"/>
                </a:solidFill>
                <a:latin typeface="Courier New"/>
                <a:cs typeface="Courier New"/>
              </a:rPr>
              <a:t>super</a:t>
            </a:r>
            <a:r>
              <a:rPr lang="en-US" sz="1600" dirty="0">
                <a:solidFill>
                  <a:schemeClr val="accent1"/>
                </a:solidFill>
              </a:rPr>
              <a:t> </a:t>
            </a:r>
            <a:r>
              <a:rPr lang="en-US" sz="1600" dirty="0"/>
              <a:t>tells Java that we are actually calling the corresponding constructor of the immediate </a:t>
            </a:r>
            <a:r>
              <a:rPr lang="en-US" sz="1600" i="1" dirty="0"/>
              <a:t>parent</a:t>
            </a:r>
            <a:r>
              <a:rPr lang="en-US" sz="1600" dirty="0"/>
              <a:t> class (</a:t>
            </a:r>
            <a:r>
              <a:rPr lang="en-US" sz="1600" b="1" dirty="0">
                <a:latin typeface="Courier New"/>
                <a:cs typeface="Courier New"/>
              </a:rPr>
              <a:t>World</a:t>
            </a:r>
            <a:r>
              <a:rPr lang="en-US" sz="1600" dirty="0"/>
              <a:t>). </a:t>
            </a:r>
            <a:r>
              <a:rPr lang="en-US" sz="1600" b="1" dirty="0">
                <a:solidFill>
                  <a:srgbClr val="FF0000"/>
                </a:solidFill>
              </a:rPr>
              <a:t>What would be a good analogy to help you remember why this is needed?</a:t>
            </a:r>
          </a:p>
        </p:txBody>
      </p:sp>
      <p:cxnSp>
        <p:nvCxnSpPr>
          <p:cNvPr id="24" name="Straight Arrow Connector 23"/>
          <p:cNvCxnSpPr>
            <a:cxnSpLocks/>
          </p:cNvCxnSpPr>
          <p:nvPr/>
        </p:nvCxnSpPr>
        <p:spPr>
          <a:xfrm>
            <a:off x="2410491" y="5300663"/>
            <a:ext cx="1412733" cy="704550"/>
          </a:xfrm>
          <a:prstGeom prst="straightConnector1">
            <a:avLst/>
          </a:prstGeom>
          <a:ln>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590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29" y="192464"/>
            <a:ext cx="8648245" cy="847120"/>
          </a:xfrm>
          <a:solidFill>
            <a:srgbClr val="FFFF00"/>
          </a:solidFill>
        </p:spPr>
        <p:txBody>
          <a:bodyPr>
            <a:noAutofit/>
          </a:bodyPr>
          <a:lstStyle/>
          <a:p>
            <a:r>
              <a:rPr lang="en-US" sz="3200" dirty="0"/>
              <a:t>A quick (</a:t>
            </a:r>
            <a:r>
              <a:rPr lang="en-US" sz="3200" dirty="0">
                <a:solidFill>
                  <a:srgbClr val="FF0000"/>
                </a:solidFill>
              </a:rPr>
              <a:t>but important</a:t>
            </a:r>
            <a:r>
              <a:rPr lang="en-US" sz="3200" dirty="0"/>
              <a:t>) side note on </a:t>
            </a:r>
            <a:r>
              <a:rPr lang="en-US" sz="3200" b="1" dirty="0"/>
              <a:t>overloading</a:t>
            </a:r>
          </a:p>
        </p:txBody>
      </p:sp>
      <p:sp>
        <p:nvSpPr>
          <p:cNvPr id="3" name="Content Placeholder 2"/>
          <p:cNvSpPr>
            <a:spLocks noGrp="1"/>
          </p:cNvSpPr>
          <p:nvPr>
            <p:ph idx="1"/>
          </p:nvPr>
        </p:nvSpPr>
        <p:spPr>
          <a:xfrm>
            <a:off x="181429" y="1053872"/>
            <a:ext cx="8781142" cy="4525963"/>
          </a:xfrm>
        </p:spPr>
        <p:txBody>
          <a:bodyPr>
            <a:noAutofit/>
          </a:bodyPr>
          <a:lstStyle/>
          <a:p>
            <a:r>
              <a:rPr lang="en-US" sz="2400" dirty="0"/>
              <a:t>In Java, constructors (and methods) can be </a:t>
            </a:r>
            <a:r>
              <a:rPr lang="en-US" sz="2400" b="1" dirty="0"/>
              <a:t>overloaded</a:t>
            </a:r>
            <a:r>
              <a:rPr lang="en-US" sz="2400" dirty="0"/>
              <a:t>, meaning that you can have </a:t>
            </a:r>
            <a:r>
              <a:rPr lang="en-US" sz="2400" b="1" u="sng" dirty="0">
                <a:solidFill>
                  <a:srgbClr val="7030A0"/>
                </a:solidFill>
              </a:rPr>
              <a:t>multiple</a:t>
            </a:r>
            <a:r>
              <a:rPr lang="en-US" sz="2400" b="1" dirty="0">
                <a:solidFill>
                  <a:srgbClr val="7030A0"/>
                </a:solidFill>
              </a:rPr>
              <a:t> </a:t>
            </a:r>
            <a:r>
              <a:rPr lang="en-US" sz="2400" b="1" u="sng" dirty="0">
                <a:solidFill>
                  <a:srgbClr val="7030A0"/>
                </a:solidFill>
              </a:rPr>
              <a:t>definitions</a:t>
            </a:r>
            <a:r>
              <a:rPr lang="en-US" sz="2400" b="1" dirty="0">
                <a:solidFill>
                  <a:srgbClr val="7030A0"/>
                </a:solidFill>
              </a:rPr>
              <a:t> of a constructor (or method) having the the </a:t>
            </a:r>
            <a:r>
              <a:rPr lang="en-US" sz="2400" b="1" i="1" u="sng" dirty="0">
                <a:solidFill>
                  <a:srgbClr val="7030A0"/>
                </a:solidFill>
              </a:rPr>
              <a:t>same</a:t>
            </a:r>
            <a:r>
              <a:rPr lang="en-US" sz="2400" b="1" i="1" dirty="0">
                <a:solidFill>
                  <a:srgbClr val="7030A0"/>
                </a:solidFill>
              </a:rPr>
              <a:t> </a:t>
            </a:r>
            <a:r>
              <a:rPr lang="en-US" sz="2400" b="1" i="1" u="sng" dirty="0">
                <a:solidFill>
                  <a:srgbClr val="7030A0"/>
                </a:solidFill>
              </a:rPr>
              <a:t>name</a:t>
            </a:r>
            <a:r>
              <a:rPr lang="en-US" sz="2400" b="1" dirty="0">
                <a:solidFill>
                  <a:srgbClr val="7030A0"/>
                </a:solidFill>
              </a:rPr>
              <a:t>, but </a:t>
            </a:r>
            <a:r>
              <a:rPr lang="en-US" sz="2400" b="1" i="1" u="sng" dirty="0">
                <a:solidFill>
                  <a:srgbClr val="7030A0"/>
                </a:solidFill>
              </a:rPr>
              <a:t>different</a:t>
            </a:r>
            <a:r>
              <a:rPr lang="en-US" sz="2400" b="1" i="1" dirty="0">
                <a:solidFill>
                  <a:srgbClr val="7030A0"/>
                </a:solidFill>
              </a:rPr>
              <a:t> </a:t>
            </a:r>
            <a:r>
              <a:rPr lang="en-US" sz="2400" b="1" i="1" u="sng" dirty="0">
                <a:solidFill>
                  <a:srgbClr val="7030A0"/>
                </a:solidFill>
              </a:rPr>
              <a:t>signatures</a:t>
            </a:r>
            <a:r>
              <a:rPr lang="en-US" sz="2400" i="1" dirty="0"/>
              <a:t> </a:t>
            </a:r>
            <a:r>
              <a:rPr lang="en-US" sz="2400" b="1" dirty="0">
                <a:solidFill>
                  <a:srgbClr val="FF0000"/>
                </a:solidFill>
              </a:rPr>
              <a:t>[and yes, I mean </a:t>
            </a:r>
            <a:r>
              <a:rPr lang="en-US" sz="2400" b="1" u="sng" dirty="0">
                <a:solidFill>
                  <a:srgbClr val="FF0000"/>
                </a:solidFill>
              </a:rPr>
              <a:t>signature</a:t>
            </a:r>
            <a:r>
              <a:rPr lang="en-US" sz="2400" b="1" dirty="0">
                <a:solidFill>
                  <a:srgbClr val="FF0000"/>
                </a:solidFill>
              </a:rPr>
              <a:t> this time]</a:t>
            </a:r>
            <a:endParaRPr lang="en-US" sz="2400" b="1" i="1" dirty="0">
              <a:solidFill>
                <a:srgbClr val="FF0000"/>
              </a:solidFill>
            </a:endParaRPr>
          </a:p>
          <a:p>
            <a:endParaRPr lang="en-US" sz="2400" i="1" dirty="0"/>
          </a:p>
          <a:p>
            <a:endParaRPr lang="en-US" sz="2400" i="1" dirty="0"/>
          </a:p>
          <a:p>
            <a:endParaRPr lang="en-US" sz="2400" i="1" dirty="0"/>
          </a:p>
          <a:p>
            <a:pPr marL="0" indent="0">
              <a:buNone/>
            </a:pPr>
            <a:endParaRPr lang="en-US" sz="2400" dirty="0"/>
          </a:p>
          <a:p>
            <a:r>
              <a:rPr lang="en-US" sz="2400" dirty="0"/>
              <a:t>We specify </a:t>
            </a:r>
            <a:r>
              <a:rPr lang="en-US" sz="2400" u="sng" dirty="0"/>
              <a:t>which version</a:t>
            </a:r>
            <a:r>
              <a:rPr lang="en-US" sz="2400" dirty="0"/>
              <a:t> of the constructor is </a:t>
            </a:r>
            <a:r>
              <a:rPr lang="en-US" sz="2400" u="sng" dirty="0"/>
              <a:t>invoked</a:t>
            </a:r>
            <a:r>
              <a:rPr lang="en-US" sz="2400" dirty="0"/>
              <a:t> by the specific </a:t>
            </a:r>
            <a:r>
              <a:rPr lang="en-US" sz="2400" u="sng" dirty="0"/>
              <a:t>parameter list</a:t>
            </a:r>
            <a:r>
              <a:rPr lang="en-US" sz="2400" dirty="0"/>
              <a:t> that is used:</a:t>
            </a:r>
          </a:p>
          <a:p>
            <a:pPr marL="0" indent="0">
              <a:buNone/>
            </a:pPr>
            <a:r>
              <a:rPr lang="en-US" sz="2400" b="1" dirty="0">
                <a:solidFill>
                  <a:srgbClr val="4F81BD"/>
                </a:solidFill>
                <a:latin typeface="Courier New"/>
                <a:cs typeface="Courier New"/>
              </a:rPr>
              <a:t>	</a:t>
            </a:r>
            <a:r>
              <a:rPr lang="en-US" sz="1800" b="1" dirty="0">
                <a:solidFill>
                  <a:srgbClr val="4F81BD"/>
                </a:solidFill>
                <a:latin typeface="Courier New"/>
                <a:cs typeface="Courier New"/>
              </a:rPr>
              <a:t>super</a:t>
            </a:r>
            <a:r>
              <a:rPr lang="en-US" sz="1800" b="1" dirty="0">
                <a:latin typeface="Courier New"/>
                <a:cs typeface="Courier New"/>
              </a:rPr>
              <a:t>(560, 560, 1); </a:t>
            </a:r>
            <a:r>
              <a:rPr lang="en-US" sz="1800" b="1" dirty="0">
                <a:solidFill>
                  <a:schemeClr val="bg1">
                    <a:lumMod val="50000"/>
                  </a:schemeClr>
                </a:solidFill>
                <a:latin typeface="Courier New"/>
                <a:cs typeface="Courier New"/>
                <a:sym typeface="Wingdings"/>
              </a:rPr>
              <a:t>//</a:t>
            </a:r>
            <a:r>
              <a:rPr lang="en-US" sz="1800" b="1" dirty="0">
                <a:solidFill>
                  <a:schemeClr val="bg1">
                    <a:lumMod val="50000"/>
                  </a:schemeClr>
                </a:solidFill>
                <a:latin typeface="Courier New"/>
                <a:cs typeface="Courier New"/>
              </a:rPr>
              <a:t> calls the FIRST version</a:t>
            </a:r>
          </a:p>
          <a:p>
            <a:pPr marL="0" indent="0">
              <a:buNone/>
            </a:pPr>
            <a:r>
              <a:rPr lang="en-US" sz="1800" b="1" dirty="0">
                <a:solidFill>
                  <a:srgbClr val="4F81BD"/>
                </a:solidFill>
                <a:latin typeface="Courier New"/>
                <a:cs typeface="Courier New"/>
              </a:rPr>
              <a:t>	super</a:t>
            </a:r>
            <a:r>
              <a:rPr lang="en-US" sz="1800" b="1" dirty="0">
                <a:latin typeface="Courier New"/>
                <a:cs typeface="Courier New"/>
              </a:rPr>
              <a:t>(560, 560, 1, </a:t>
            </a:r>
            <a:r>
              <a:rPr lang="en-US" sz="1800" b="1" dirty="0">
                <a:solidFill>
                  <a:srgbClr val="4F81BD"/>
                </a:solidFill>
                <a:latin typeface="Courier New"/>
                <a:cs typeface="Courier New"/>
              </a:rPr>
              <a:t>true</a:t>
            </a:r>
            <a:r>
              <a:rPr lang="en-US" sz="1800" b="1" dirty="0">
                <a:latin typeface="Courier New"/>
                <a:cs typeface="Courier New"/>
              </a:rPr>
              <a:t>); </a:t>
            </a:r>
            <a:r>
              <a:rPr lang="en-US" sz="1800" b="1" dirty="0">
                <a:solidFill>
                  <a:schemeClr val="bg1">
                    <a:lumMod val="50000"/>
                  </a:schemeClr>
                </a:solidFill>
                <a:latin typeface="Courier New"/>
                <a:cs typeface="Courier New"/>
              </a:rPr>
              <a:t>// calls the SECOND version </a:t>
            </a:r>
          </a:p>
          <a:p>
            <a:r>
              <a:rPr lang="en-US" sz="2400" dirty="0"/>
              <a:t>We will cover </a:t>
            </a:r>
            <a:r>
              <a:rPr lang="en-US" sz="2400" b="1" dirty="0"/>
              <a:t>overloading</a:t>
            </a:r>
            <a:r>
              <a:rPr lang="en-US" sz="2400" dirty="0"/>
              <a:t> in more detail later in the course (it is </a:t>
            </a:r>
            <a:r>
              <a:rPr lang="en-US" sz="2400" b="1" dirty="0"/>
              <a:t>related</a:t>
            </a:r>
            <a:r>
              <a:rPr lang="en-US" sz="2400" dirty="0"/>
              <a:t> to </a:t>
            </a:r>
            <a:r>
              <a:rPr lang="en-US" sz="2400" b="1" i="1" dirty="0"/>
              <a:t>polymorphism</a:t>
            </a:r>
            <a:r>
              <a:rPr lang="en-US" sz="2400" dirty="0"/>
              <a:t>, one of the key concepts in OOP)</a:t>
            </a:r>
            <a:endParaRPr lang="en-US" sz="1800" dirty="0"/>
          </a:p>
          <a:p>
            <a:pPr marL="0" indent="0">
              <a:buNone/>
            </a:pPr>
            <a:endParaRPr lang="en-US" sz="2400" dirty="0"/>
          </a:p>
        </p:txBody>
      </p:sp>
      <p:pic>
        <p:nvPicPr>
          <p:cNvPr id="4" name="Picture 3" descr="Screen Shot 2011-09-05 at 12.26.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062" y="2586794"/>
            <a:ext cx="6860433" cy="16818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4089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326079" y="2601546"/>
            <a:ext cx="5175035" cy="4256453"/>
          </a:xfrm>
          <a:prstGeom prst="rect">
            <a:avLst/>
          </a:prstGeom>
        </p:spPr>
        <p:style>
          <a:lnRef idx="1">
            <a:schemeClr val="dk1"/>
          </a:lnRef>
          <a:fillRef idx="2">
            <a:schemeClr val="dk1"/>
          </a:fillRef>
          <a:effectRef idx="1">
            <a:schemeClr val="dk1"/>
          </a:effectRef>
          <a:fontRef idx="minor">
            <a:schemeClr val="dk1"/>
          </a:fontRef>
        </p:style>
      </p:pic>
      <p:sp>
        <p:nvSpPr>
          <p:cNvPr id="2" name="Title 1"/>
          <p:cNvSpPr>
            <a:spLocks noGrp="1"/>
          </p:cNvSpPr>
          <p:nvPr>
            <p:ph type="title"/>
          </p:nvPr>
        </p:nvSpPr>
        <p:spPr>
          <a:xfrm>
            <a:off x="457200" y="8543"/>
            <a:ext cx="8229600" cy="1143000"/>
          </a:xfrm>
        </p:spPr>
        <p:txBody>
          <a:bodyPr/>
          <a:lstStyle/>
          <a:p>
            <a:r>
              <a:rPr lang="en-US" dirty="0"/>
              <a:t>How to automatically create actors</a:t>
            </a:r>
          </a:p>
        </p:txBody>
      </p:sp>
      <p:sp>
        <p:nvSpPr>
          <p:cNvPr id="3" name="Content Placeholder 2"/>
          <p:cNvSpPr>
            <a:spLocks noGrp="1"/>
          </p:cNvSpPr>
          <p:nvPr>
            <p:ph idx="1"/>
          </p:nvPr>
        </p:nvSpPr>
        <p:spPr>
          <a:xfrm>
            <a:off x="457200" y="1179362"/>
            <a:ext cx="8229600" cy="4525963"/>
          </a:xfrm>
        </p:spPr>
        <p:txBody>
          <a:bodyPr>
            <a:normAutofit/>
          </a:bodyPr>
          <a:lstStyle/>
          <a:p>
            <a:r>
              <a:rPr lang="en-US" sz="2000" dirty="0"/>
              <a:t>Since the </a:t>
            </a:r>
            <a:r>
              <a:rPr lang="en-US" sz="2000" b="1" dirty="0" err="1">
                <a:latin typeface="Courier New"/>
                <a:cs typeface="Courier New"/>
              </a:rPr>
              <a:t>CrabWorld</a:t>
            </a:r>
            <a:r>
              <a:rPr lang="en-US" sz="2000" dirty="0"/>
              <a:t> constructor is automatically executed when the </a:t>
            </a:r>
            <a:r>
              <a:rPr lang="en-US" sz="2000" b="1" dirty="0" err="1">
                <a:latin typeface="Courier New"/>
                <a:cs typeface="Courier New"/>
              </a:rPr>
              <a:t>CrabWorld</a:t>
            </a:r>
            <a:r>
              <a:rPr lang="en-US" sz="2000" dirty="0"/>
              <a:t> object is instantiated, we can insert code for </a:t>
            </a:r>
            <a:r>
              <a:rPr lang="en-US" sz="2000" b="1" dirty="0">
                <a:solidFill>
                  <a:srgbClr val="FF0000"/>
                </a:solidFill>
              </a:rPr>
              <a:t>creating</a:t>
            </a:r>
            <a:r>
              <a:rPr lang="en-US" sz="2000" dirty="0">
                <a:solidFill>
                  <a:srgbClr val="FF0000"/>
                </a:solidFill>
              </a:rPr>
              <a:t> </a:t>
            </a:r>
            <a:r>
              <a:rPr lang="en-US" sz="2000" dirty="0"/>
              <a:t>and </a:t>
            </a:r>
            <a:r>
              <a:rPr lang="en-US" sz="2000" dirty="0" err="1"/>
              <a:t>and</a:t>
            </a:r>
            <a:r>
              <a:rPr lang="en-US" sz="2000" dirty="0"/>
              <a:t> </a:t>
            </a:r>
            <a:r>
              <a:rPr lang="en-US" sz="2000" b="1" dirty="0">
                <a:solidFill>
                  <a:srgbClr val="FF0000"/>
                </a:solidFill>
              </a:rPr>
              <a:t>adding</a:t>
            </a:r>
            <a:r>
              <a:rPr lang="en-US" sz="2000" dirty="0">
                <a:solidFill>
                  <a:srgbClr val="FF0000"/>
                </a:solidFill>
              </a:rPr>
              <a:t> </a:t>
            </a:r>
            <a:r>
              <a:rPr lang="en-US" sz="2000" dirty="0"/>
              <a:t>actor objects into the </a:t>
            </a:r>
            <a:r>
              <a:rPr lang="en-US" sz="2000" b="1" dirty="0" err="1">
                <a:latin typeface="Courier New"/>
                <a:cs typeface="Courier New"/>
              </a:rPr>
              <a:t>CrabWorld</a:t>
            </a:r>
            <a:r>
              <a:rPr lang="en-US" sz="2000" dirty="0"/>
              <a:t> constructor—and </a:t>
            </a:r>
            <a:r>
              <a:rPr lang="en-US" sz="2000" i="1" dirty="0"/>
              <a:t>that</a:t>
            </a:r>
            <a:r>
              <a:rPr lang="en-US" sz="2000" dirty="0"/>
              <a:t> code will be automatically executed as well. For example:</a:t>
            </a:r>
          </a:p>
        </p:txBody>
      </p:sp>
      <p:sp>
        <p:nvSpPr>
          <p:cNvPr id="8" name="Rounded Rectangle 7"/>
          <p:cNvSpPr/>
          <p:nvPr/>
        </p:nvSpPr>
        <p:spPr>
          <a:xfrm>
            <a:off x="2945026" y="5244944"/>
            <a:ext cx="2104769" cy="263266"/>
          </a:xfrm>
          <a:prstGeom prst="roundRect">
            <a:avLst/>
          </a:prstGeom>
          <a:noFill/>
          <a:ln w="19050" cmpd="sng">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ounded Rectangle 8"/>
          <p:cNvSpPr/>
          <p:nvPr/>
        </p:nvSpPr>
        <p:spPr>
          <a:xfrm>
            <a:off x="2945026" y="5941041"/>
            <a:ext cx="2512541" cy="263266"/>
          </a:xfrm>
          <a:prstGeom prst="roundRect">
            <a:avLst/>
          </a:prstGeom>
          <a:noFill/>
          <a:ln w="19050" cmpd="sng">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761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b="1" dirty="0"/>
              <a:t>coordinate system </a:t>
            </a:r>
            <a:r>
              <a:rPr lang="en-US" dirty="0"/>
              <a:t>of the world</a:t>
            </a:r>
          </a:p>
        </p:txBody>
      </p:sp>
      <p:sp>
        <p:nvSpPr>
          <p:cNvPr id="3" name="Content Placeholder 2"/>
          <p:cNvSpPr>
            <a:spLocks noGrp="1"/>
          </p:cNvSpPr>
          <p:nvPr>
            <p:ph idx="1"/>
          </p:nvPr>
        </p:nvSpPr>
        <p:spPr/>
        <p:txBody>
          <a:bodyPr>
            <a:normAutofit/>
          </a:bodyPr>
          <a:lstStyle/>
          <a:p>
            <a:r>
              <a:rPr lang="en-US" sz="2400" dirty="0"/>
              <a:t>Note that the </a:t>
            </a:r>
            <a:r>
              <a:rPr lang="en-US" sz="2400" b="1" dirty="0"/>
              <a:t>origin</a:t>
            </a:r>
            <a:r>
              <a:rPr lang="en-US" sz="2400" dirty="0"/>
              <a:t> </a:t>
            </a:r>
            <a:r>
              <a:rPr lang="en-US" sz="2400" dirty="0">
                <a:latin typeface="Courier New"/>
                <a:cs typeface="Courier New"/>
              </a:rPr>
              <a:t>(0,0)</a:t>
            </a:r>
            <a:r>
              <a:rPr lang="en-US" sz="2400" dirty="0"/>
              <a:t>is at the </a:t>
            </a:r>
            <a:r>
              <a:rPr lang="en-US" sz="2400" b="1" i="1" dirty="0"/>
              <a:t>top left </a:t>
            </a:r>
            <a:r>
              <a:rPr lang="en-US" sz="2400" dirty="0"/>
              <a:t>of the world</a:t>
            </a:r>
          </a:p>
        </p:txBody>
      </p:sp>
      <p:sp>
        <p:nvSpPr>
          <p:cNvPr id="5" name="TextBox 4"/>
          <p:cNvSpPr txBox="1"/>
          <p:nvPr/>
        </p:nvSpPr>
        <p:spPr>
          <a:xfrm>
            <a:off x="722282" y="3334980"/>
            <a:ext cx="2612572"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The location </a:t>
            </a:r>
            <a:r>
              <a:rPr lang="en-US" sz="2400" dirty="0">
                <a:latin typeface="Courier New"/>
                <a:cs typeface="Courier New"/>
              </a:rPr>
              <a:t>(250,200)</a:t>
            </a:r>
            <a:r>
              <a:rPr lang="en-US" sz="2400" dirty="0"/>
              <a:t>is 250 cells from the </a:t>
            </a:r>
            <a:r>
              <a:rPr lang="en-US" sz="2400" b="1" dirty="0"/>
              <a:t>left</a:t>
            </a:r>
            <a:r>
              <a:rPr lang="en-US" sz="2400" dirty="0"/>
              <a:t> edge of the world, and 200 cells from the </a:t>
            </a:r>
            <a:r>
              <a:rPr lang="en-US" sz="2400" b="1" dirty="0"/>
              <a:t>top</a:t>
            </a:r>
            <a:r>
              <a:rPr lang="en-US" sz="2400" dirty="0"/>
              <a:t> edge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935" y="2077447"/>
            <a:ext cx="4909296" cy="4541656"/>
          </a:xfrm>
          <a:prstGeom prst="rect">
            <a:avLst/>
          </a:prstGeom>
        </p:spPr>
      </p:pic>
    </p:spTree>
    <p:extLst>
      <p:ext uri="{BB962C8B-B14F-4D97-AF65-F5344CB8AC3E}">
        <p14:creationId xmlns:p14="http://schemas.microsoft.com/office/powerpoint/2010/main" val="821885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048"/>
            <a:ext cx="8229600" cy="970120"/>
          </a:xfrm>
        </p:spPr>
        <p:txBody>
          <a:bodyPr/>
          <a:lstStyle/>
          <a:p>
            <a:r>
              <a:rPr lang="en-US" dirty="0"/>
              <a:t>The </a:t>
            </a:r>
            <a:r>
              <a:rPr lang="en-US" b="1" dirty="0" err="1">
                <a:latin typeface="Courier New"/>
                <a:cs typeface="Courier New"/>
              </a:rPr>
              <a:t>addObject</a:t>
            </a:r>
            <a:r>
              <a:rPr lang="en-US" dirty="0"/>
              <a:t> method</a:t>
            </a:r>
          </a:p>
        </p:txBody>
      </p:sp>
      <p:sp>
        <p:nvSpPr>
          <p:cNvPr id="3" name="Content Placeholder 2"/>
          <p:cNvSpPr>
            <a:spLocks noGrp="1"/>
          </p:cNvSpPr>
          <p:nvPr>
            <p:ph idx="1"/>
          </p:nvPr>
        </p:nvSpPr>
        <p:spPr>
          <a:xfrm>
            <a:off x="457200" y="1152685"/>
            <a:ext cx="8229600" cy="4525963"/>
          </a:xfrm>
        </p:spPr>
        <p:txBody>
          <a:bodyPr>
            <a:normAutofit fontScale="92500" lnSpcReduction="10000"/>
          </a:bodyPr>
          <a:lstStyle/>
          <a:p>
            <a:r>
              <a:rPr lang="en-US" sz="2400" dirty="0"/>
              <a:t>This is a method of the </a:t>
            </a:r>
            <a:r>
              <a:rPr lang="en-US" sz="2400" b="1" dirty="0">
                <a:latin typeface="Courier New"/>
                <a:cs typeface="Courier New"/>
              </a:rPr>
              <a:t>World</a:t>
            </a:r>
            <a:r>
              <a:rPr lang="en-US" sz="2400" dirty="0"/>
              <a:t> class. We can look it up by looking at the class documentation for the </a:t>
            </a:r>
            <a:r>
              <a:rPr lang="en-US" sz="2400" b="1" dirty="0">
                <a:latin typeface="Courier New"/>
                <a:cs typeface="Courier New"/>
              </a:rPr>
              <a:t>World</a:t>
            </a:r>
            <a:r>
              <a:rPr lang="en-US" sz="2400" dirty="0"/>
              <a:t> class.</a:t>
            </a:r>
          </a:p>
          <a:p>
            <a:endParaRPr lang="en-US" sz="2400" dirty="0"/>
          </a:p>
          <a:p>
            <a:endParaRPr lang="en-US" sz="2400" dirty="0"/>
          </a:p>
          <a:p>
            <a:endParaRPr lang="en-US" sz="2400" dirty="0"/>
          </a:p>
          <a:p>
            <a:endParaRPr lang="en-US" sz="2400" dirty="0"/>
          </a:p>
          <a:p>
            <a:pPr marL="0" indent="0">
              <a:buNone/>
            </a:pPr>
            <a:endParaRPr lang="en-US" sz="2400" dirty="0"/>
          </a:p>
          <a:p>
            <a:r>
              <a:rPr lang="en-US" sz="2400" dirty="0"/>
              <a:t>Reading the method signature from left to right, we can determine the following:</a:t>
            </a:r>
          </a:p>
          <a:p>
            <a:pPr lvl="1"/>
            <a:r>
              <a:rPr lang="en-US" sz="2000" dirty="0"/>
              <a:t>The method does </a:t>
            </a:r>
            <a:r>
              <a:rPr lang="en-US" sz="2000" b="1" dirty="0"/>
              <a:t>not</a:t>
            </a:r>
            <a:r>
              <a:rPr lang="en-US" sz="2000" dirty="0"/>
              <a:t> return a result (</a:t>
            </a:r>
            <a:r>
              <a:rPr lang="en-US" sz="2000" i="1" dirty="0"/>
              <a:t>why not?</a:t>
            </a:r>
            <a:r>
              <a:rPr lang="en-US" sz="2000" dirty="0"/>
              <a:t>)</a:t>
            </a:r>
          </a:p>
          <a:p>
            <a:pPr lvl="1"/>
            <a:r>
              <a:rPr lang="en-US" sz="2000" dirty="0"/>
              <a:t>The </a:t>
            </a:r>
            <a:r>
              <a:rPr lang="en-US" sz="2000" b="1" dirty="0"/>
              <a:t>name</a:t>
            </a:r>
            <a:r>
              <a:rPr lang="en-US" sz="2000" dirty="0"/>
              <a:t> of the method (</a:t>
            </a:r>
            <a:r>
              <a:rPr lang="en-US" sz="2000" i="1" dirty="0"/>
              <a:t>which is what?</a:t>
            </a:r>
            <a:r>
              <a:rPr lang="en-US" sz="2000" dirty="0"/>
              <a:t>)</a:t>
            </a:r>
          </a:p>
          <a:p>
            <a:pPr lvl="1"/>
            <a:r>
              <a:rPr lang="en-US" sz="2000" dirty="0"/>
              <a:t>The method has three </a:t>
            </a:r>
            <a:r>
              <a:rPr lang="en-US" sz="2000" b="1" dirty="0"/>
              <a:t>parameters</a:t>
            </a:r>
            <a:r>
              <a:rPr lang="en-US" sz="2000" dirty="0"/>
              <a:t> (</a:t>
            </a:r>
            <a:r>
              <a:rPr lang="en-US" sz="2000" i="1" dirty="0"/>
              <a:t>what are they?</a:t>
            </a:r>
            <a:r>
              <a:rPr lang="en-US" sz="2000" dirty="0"/>
              <a:t>)</a:t>
            </a:r>
          </a:p>
          <a:p>
            <a:pPr lvl="1"/>
            <a:r>
              <a:rPr lang="en-US" sz="2000" dirty="0"/>
              <a:t>The </a:t>
            </a:r>
            <a:r>
              <a:rPr lang="en-US" sz="2000" b="1" dirty="0"/>
              <a:t>types</a:t>
            </a:r>
            <a:r>
              <a:rPr lang="en-US" sz="2000" dirty="0"/>
              <a:t> of each of the parameters (</a:t>
            </a:r>
            <a:r>
              <a:rPr lang="en-US" sz="2000" i="1" dirty="0"/>
              <a:t>which are?</a:t>
            </a:r>
            <a:r>
              <a:rPr lang="en-US" sz="2000" dirty="0"/>
              <a:t>)</a:t>
            </a:r>
          </a:p>
        </p:txBody>
      </p:sp>
      <p:pic>
        <p:nvPicPr>
          <p:cNvPr id="4" name="Picture 3" descr="Screen Shot 2011-09-05 at 1.54.37 PM.png"/>
          <p:cNvPicPr>
            <a:picLocks noChangeAspect="1"/>
          </p:cNvPicPr>
          <p:nvPr/>
        </p:nvPicPr>
        <p:blipFill rotWithShape="1">
          <a:blip r:embed="rId2">
            <a:extLst>
              <a:ext uri="{28A0092B-C50C-407E-A947-70E740481C1C}">
                <a14:useLocalDpi xmlns:a14="http://schemas.microsoft.com/office/drawing/2010/main" val="0"/>
              </a:ext>
            </a:extLst>
          </a:blip>
          <a:srcRect b="28284"/>
          <a:stretch/>
        </p:blipFill>
        <p:spPr>
          <a:xfrm>
            <a:off x="1511905" y="1909850"/>
            <a:ext cx="5740400" cy="1657652"/>
          </a:xfrm>
          <a:prstGeom prst="rect">
            <a:avLst/>
          </a:prstGeom>
        </p:spPr>
      </p:pic>
      <p:sp>
        <p:nvSpPr>
          <p:cNvPr id="5" name="Rounded Rectangle 4"/>
          <p:cNvSpPr/>
          <p:nvPr/>
        </p:nvSpPr>
        <p:spPr>
          <a:xfrm>
            <a:off x="2398488" y="3021404"/>
            <a:ext cx="5043712" cy="546098"/>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266096" y="5739123"/>
            <a:ext cx="866019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a:t>
            </a:r>
            <a:r>
              <a:rPr lang="en-US" sz="1600" b="1" dirty="0" err="1">
                <a:latin typeface="Courier New"/>
                <a:cs typeface="Courier New"/>
              </a:rPr>
              <a:t>addObject</a:t>
            </a:r>
            <a:r>
              <a:rPr lang="en-US" sz="1600" dirty="0"/>
              <a:t> method can be used to add a new actor into the world without having to "drag" the object into the world ourselves. Since the method belongs to the </a:t>
            </a:r>
            <a:r>
              <a:rPr lang="en-US" sz="1600" b="1" dirty="0">
                <a:latin typeface="Courier New"/>
                <a:cs typeface="Courier New"/>
              </a:rPr>
              <a:t>World</a:t>
            </a:r>
            <a:r>
              <a:rPr lang="en-US" sz="1600" dirty="0"/>
              <a:t> class and </a:t>
            </a:r>
            <a:r>
              <a:rPr lang="en-US" sz="1600" b="1" dirty="0" err="1">
                <a:latin typeface="Courier New"/>
                <a:cs typeface="Courier New"/>
              </a:rPr>
              <a:t>CrabWorld</a:t>
            </a:r>
            <a:r>
              <a:rPr lang="en-US" sz="1600" b="1" dirty="0">
                <a:latin typeface="Courier New"/>
                <a:cs typeface="Courier New"/>
              </a:rPr>
              <a:t> </a:t>
            </a:r>
            <a:r>
              <a:rPr lang="en-US" sz="1600" b="1" i="1" dirty="0"/>
              <a:t>is-a </a:t>
            </a:r>
            <a:r>
              <a:rPr lang="en-US" sz="1600" b="1" dirty="0">
                <a:latin typeface="Courier New"/>
                <a:cs typeface="Courier New"/>
              </a:rPr>
              <a:t>World</a:t>
            </a:r>
            <a:r>
              <a:rPr lang="en-US" sz="1600" dirty="0"/>
              <a:t> (it inherits all of </a:t>
            </a:r>
            <a:r>
              <a:rPr lang="en-US" sz="1600" b="1" dirty="0">
                <a:latin typeface="Courier New"/>
                <a:cs typeface="Courier New"/>
              </a:rPr>
              <a:t>World</a:t>
            </a:r>
            <a:r>
              <a:rPr lang="en-US" sz="1600" dirty="0"/>
              <a:t>'s methods), then we can simply call </a:t>
            </a:r>
            <a:r>
              <a:rPr lang="en-US" sz="1600" b="1" dirty="0" err="1">
                <a:latin typeface="Courier New"/>
                <a:cs typeface="Courier New"/>
              </a:rPr>
              <a:t>addObject</a:t>
            </a:r>
            <a:r>
              <a:rPr lang="en-US" sz="1600" dirty="0"/>
              <a:t> from within the </a:t>
            </a:r>
            <a:r>
              <a:rPr lang="en-US" sz="1600" b="1" dirty="0" err="1">
                <a:latin typeface="Courier New"/>
                <a:cs typeface="Courier New"/>
              </a:rPr>
              <a:t>CrabWorld</a:t>
            </a:r>
            <a:r>
              <a:rPr lang="en-US" sz="1600" b="1" dirty="0">
                <a:latin typeface="Courier New"/>
                <a:cs typeface="Courier New"/>
              </a:rPr>
              <a:t> </a:t>
            </a:r>
            <a:r>
              <a:rPr lang="en-US" sz="1600" dirty="0"/>
              <a:t>class!</a:t>
            </a:r>
          </a:p>
        </p:txBody>
      </p:sp>
    </p:spTree>
    <p:extLst>
      <p:ext uri="{BB962C8B-B14F-4D97-AF65-F5344CB8AC3E}">
        <p14:creationId xmlns:p14="http://schemas.microsoft.com/office/powerpoint/2010/main" val="65672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760"/>
            <a:ext cx="8229600" cy="1600200"/>
          </a:xfrm>
        </p:spPr>
        <p:style>
          <a:lnRef idx="1">
            <a:schemeClr val="accent3"/>
          </a:lnRef>
          <a:fillRef idx="2">
            <a:schemeClr val="accent3"/>
          </a:fillRef>
          <a:effectRef idx="1">
            <a:schemeClr val="accent3"/>
          </a:effectRef>
          <a:fontRef idx="minor">
            <a:schemeClr val="dk1"/>
          </a:fontRef>
        </p:style>
        <p:txBody>
          <a:bodyPr>
            <a:noAutofit/>
          </a:bodyPr>
          <a:lstStyle/>
          <a:p>
            <a:r>
              <a:rPr lang="en-US" sz="3200" b="1" dirty="0">
                <a:solidFill>
                  <a:srgbClr val="FF0000"/>
                </a:solidFill>
              </a:rPr>
              <a:t>Concept: </a:t>
            </a:r>
            <a:r>
              <a:rPr lang="en-US" sz="3200" dirty="0"/>
              <a:t>Java objects can be created programmatically (from within your code) by using the </a:t>
            </a:r>
            <a:r>
              <a:rPr lang="en-US" sz="3200" b="1" dirty="0">
                <a:latin typeface="Courier New"/>
                <a:cs typeface="Courier New"/>
              </a:rPr>
              <a:t>new</a:t>
            </a:r>
            <a:r>
              <a:rPr lang="en-US" sz="3200" dirty="0"/>
              <a:t> keyword</a:t>
            </a:r>
          </a:p>
        </p:txBody>
      </p:sp>
      <p:sp>
        <p:nvSpPr>
          <p:cNvPr id="3" name="Content Placeholder 2"/>
          <p:cNvSpPr>
            <a:spLocks noGrp="1"/>
          </p:cNvSpPr>
          <p:nvPr>
            <p:ph idx="1"/>
          </p:nvPr>
        </p:nvSpPr>
        <p:spPr>
          <a:xfrm>
            <a:off x="457200" y="1950964"/>
            <a:ext cx="8229600" cy="4525963"/>
          </a:xfrm>
        </p:spPr>
        <p:txBody>
          <a:bodyPr>
            <a:normAutofit fontScale="77500" lnSpcReduction="20000"/>
          </a:bodyPr>
          <a:lstStyle/>
          <a:p>
            <a:pPr>
              <a:lnSpc>
                <a:spcPct val="120000"/>
              </a:lnSpc>
            </a:pPr>
            <a:r>
              <a:rPr lang="en-US" sz="2800" dirty="0"/>
              <a:t>While the </a:t>
            </a:r>
            <a:r>
              <a:rPr lang="en-US" sz="2800" b="1" dirty="0" err="1">
                <a:latin typeface="Courier New"/>
                <a:cs typeface="Courier New"/>
              </a:rPr>
              <a:t>addObject</a:t>
            </a:r>
            <a:r>
              <a:rPr lang="en-US" sz="2800" dirty="0"/>
              <a:t> method allows us to add an actor object to the world, we must first have an object to add, right?</a:t>
            </a:r>
          </a:p>
          <a:p>
            <a:pPr>
              <a:lnSpc>
                <a:spcPct val="120000"/>
              </a:lnSpc>
            </a:pPr>
            <a:r>
              <a:rPr lang="en-US" sz="2800" dirty="0"/>
              <a:t>The Java keyword </a:t>
            </a:r>
            <a:r>
              <a:rPr lang="en-US" sz="2800" b="1" dirty="0">
                <a:latin typeface="Courier New"/>
                <a:cs typeface="Courier New"/>
              </a:rPr>
              <a:t>new</a:t>
            </a:r>
            <a:r>
              <a:rPr lang="en-US" sz="2800" dirty="0"/>
              <a:t> allows us to create new objects of any of the existing classes. For example, the expression</a:t>
            </a:r>
          </a:p>
          <a:p>
            <a:pPr marL="0" indent="0">
              <a:lnSpc>
                <a:spcPct val="120000"/>
              </a:lnSpc>
              <a:buNone/>
            </a:pPr>
            <a:endParaRPr lang="en-US" sz="2800" dirty="0"/>
          </a:p>
          <a:p>
            <a:pPr marL="0" indent="0">
              <a:lnSpc>
                <a:spcPct val="120000"/>
              </a:lnSpc>
              <a:buNone/>
            </a:pPr>
            <a:r>
              <a:rPr lang="en-US" sz="2800" dirty="0"/>
              <a:t>     creates a </a:t>
            </a:r>
            <a:r>
              <a:rPr lang="en-US" sz="2800" b="1" dirty="0"/>
              <a:t>new instance </a:t>
            </a:r>
            <a:r>
              <a:rPr lang="en-US" sz="2800" dirty="0"/>
              <a:t>of class </a:t>
            </a:r>
            <a:r>
              <a:rPr lang="en-US" sz="2800" b="1" dirty="0">
                <a:latin typeface="Courier New"/>
                <a:cs typeface="Courier New"/>
              </a:rPr>
              <a:t>Crab</a:t>
            </a:r>
            <a:r>
              <a:rPr lang="en-US" sz="2800" dirty="0"/>
              <a:t>. </a:t>
            </a:r>
          </a:p>
          <a:p>
            <a:pPr>
              <a:lnSpc>
                <a:spcPct val="120000"/>
              </a:lnSpc>
            </a:pPr>
            <a:r>
              <a:rPr lang="en-US" sz="2800" dirty="0"/>
              <a:t>The expression to create new objects always starts with the keyword </a:t>
            </a:r>
            <a:r>
              <a:rPr lang="en-US" sz="2800" b="1" dirty="0">
                <a:latin typeface="Courier New"/>
                <a:cs typeface="Courier New"/>
              </a:rPr>
              <a:t>new</a:t>
            </a:r>
            <a:r>
              <a:rPr lang="en-US" sz="2800" dirty="0"/>
              <a:t>, followed by the name of the class we wish to create, and a parameter list (which is empty in our example). </a:t>
            </a:r>
          </a:p>
          <a:p>
            <a:pPr>
              <a:lnSpc>
                <a:spcPct val="120000"/>
              </a:lnSpc>
            </a:pPr>
            <a:r>
              <a:rPr lang="en-US" sz="2800" dirty="0"/>
              <a:t>The parameter list allows us to pass parameters to the constructor. </a:t>
            </a:r>
            <a:r>
              <a:rPr lang="en-US" sz="2800" b="1" dirty="0"/>
              <a:t>However, since we have not specified a constructor for our </a:t>
            </a:r>
            <a:r>
              <a:rPr lang="en-US" sz="2800" b="1" dirty="0">
                <a:latin typeface="Courier New"/>
                <a:cs typeface="Courier New"/>
              </a:rPr>
              <a:t>Crab</a:t>
            </a:r>
            <a:r>
              <a:rPr lang="en-US" sz="2800" b="1" dirty="0"/>
              <a:t> class, the default parameter list is </a:t>
            </a:r>
            <a:r>
              <a:rPr lang="en-US" sz="2800" b="1" u="sng" dirty="0"/>
              <a:t>empty</a:t>
            </a:r>
            <a:r>
              <a:rPr lang="en-US" sz="2800" b="1" dirty="0"/>
              <a:t>.</a:t>
            </a:r>
          </a:p>
        </p:txBody>
      </p:sp>
      <p:sp>
        <p:nvSpPr>
          <p:cNvPr id="4" name="TextBox 3"/>
          <p:cNvSpPr txBox="1"/>
          <p:nvPr/>
        </p:nvSpPr>
        <p:spPr>
          <a:xfrm>
            <a:off x="2975421" y="3386672"/>
            <a:ext cx="2394862" cy="523220"/>
          </a:xfrm>
          <a:prstGeom prst="rect">
            <a:avLst/>
          </a:prstGeom>
          <a:noFill/>
        </p:spPr>
        <p:txBody>
          <a:bodyPr wrap="square" rtlCol="0">
            <a:spAutoFit/>
          </a:bodyPr>
          <a:lstStyle/>
          <a:p>
            <a:r>
              <a:rPr lang="en-US" sz="2800" b="1" dirty="0">
                <a:solidFill>
                  <a:schemeClr val="accent2"/>
                </a:solidFill>
                <a:latin typeface="Courier New"/>
                <a:cs typeface="Courier New"/>
              </a:rPr>
              <a:t>new</a:t>
            </a:r>
            <a:r>
              <a:rPr lang="en-US" sz="2800" b="1" dirty="0">
                <a:latin typeface="Courier New"/>
                <a:cs typeface="Courier New"/>
              </a:rPr>
              <a:t> Crab()</a:t>
            </a:r>
          </a:p>
        </p:txBody>
      </p:sp>
    </p:spTree>
    <p:extLst>
      <p:ext uri="{BB962C8B-B14F-4D97-AF65-F5344CB8AC3E}">
        <p14:creationId xmlns:p14="http://schemas.microsoft.com/office/powerpoint/2010/main" val="342163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01104" y="3222170"/>
            <a:ext cx="6174438" cy="3216122"/>
          </a:xfrm>
          <a:prstGeom prst="rect">
            <a:avLst/>
          </a:prstGeom>
        </p:spPr>
      </p:pic>
      <p:sp>
        <p:nvSpPr>
          <p:cNvPr id="2" name="Title 1"/>
          <p:cNvSpPr>
            <a:spLocks noGrp="1"/>
          </p:cNvSpPr>
          <p:nvPr>
            <p:ph type="title"/>
          </p:nvPr>
        </p:nvSpPr>
        <p:spPr/>
        <p:txBody>
          <a:bodyPr>
            <a:normAutofit fontScale="90000"/>
          </a:bodyPr>
          <a:lstStyle/>
          <a:p>
            <a:r>
              <a:rPr lang="en-US" dirty="0"/>
              <a:t>Using </a:t>
            </a:r>
            <a:r>
              <a:rPr lang="en-US" b="1" dirty="0">
                <a:latin typeface="Courier New"/>
                <a:cs typeface="Courier New"/>
              </a:rPr>
              <a:t>new</a:t>
            </a:r>
            <a:r>
              <a:rPr lang="en-US" dirty="0"/>
              <a:t> with </a:t>
            </a:r>
            <a:r>
              <a:rPr lang="en-US" b="1" dirty="0" err="1">
                <a:latin typeface="Courier New"/>
                <a:cs typeface="Courier New"/>
              </a:rPr>
              <a:t>addObject</a:t>
            </a:r>
            <a:r>
              <a:rPr lang="en-US" dirty="0"/>
              <a:t> to add a new actor to the world</a:t>
            </a:r>
          </a:p>
        </p:txBody>
      </p:sp>
      <p:pic>
        <p:nvPicPr>
          <p:cNvPr id="4" name="Picture 3" descr="Screen Shot 2011-09-05 at 1.54.37 PM.png"/>
          <p:cNvPicPr>
            <a:picLocks noChangeAspect="1"/>
          </p:cNvPicPr>
          <p:nvPr/>
        </p:nvPicPr>
        <p:blipFill rotWithShape="1">
          <a:blip r:embed="rId3">
            <a:extLst>
              <a:ext uri="{28A0092B-C50C-407E-A947-70E740481C1C}">
                <a14:useLocalDpi xmlns:a14="http://schemas.microsoft.com/office/drawing/2010/main" val="0"/>
              </a:ext>
            </a:extLst>
          </a:blip>
          <a:srcRect b="28284"/>
          <a:stretch/>
        </p:blipFill>
        <p:spPr>
          <a:xfrm>
            <a:off x="338667" y="1595373"/>
            <a:ext cx="5740400" cy="1657652"/>
          </a:xfrm>
          <a:prstGeom prst="rect">
            <a:avLst/>
          </a:prstGeom>
        </p:spPr>
      </p:pic>
      <p:grpSp>
        <p:nvGrpSpPr>
          <p:cNvPr id="29" name="Group 28"/>
          <p:cNvGrpSpPr/>
          <p:nvPr/>
        </p:nvGrpSpPr>
        <p:grpSpPr>
          <a:xfrm>
            <a:off x="2873813" y="2769808"/>
            <a:ext cx="2605328" cy="3253619"/>
            <a:chOff x="2873813" y="2769808"/>
            <a:chExt cx="2605328" cy="3253619"/>
          </a:xfrm>
        </p:grpSpPr>
        <p:sp>
          <p:nvSpPr>
            <p:cNvPr id="7" name="Rounded Rectangle 6"/>
            <p:cNvSpPr/>
            <p:nvPr/>
          </p:nvSpPr>
          <p:spPr>
            <a:xfrm>
              <a:off x="2873813" y="2769808"/>
              <a:ext cx="1185334"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p:cNvSpPr/>
            <p:nvPr/>
          </p:nvSpPr>
          <p:spPr>
            <a:xfrm>
              <a:off x="4864674" y="5793618"/>
              <a:ext cx="614467" cy="229809"/>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a:stCxn id="7" idx="2"/>
              <a:endCxn id="8" idx="0"/>
            </p:cNvCxnSpPr>
            <p:nvPr/>
          </p:nvCxnSpPr>
          <p:spPr>
            <a:xfrm>
              <a:off x="3466480" y="2999617"/>
              <a:ext cx="1705428" cy="2794001"/>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30" name="Group 29"/>
          <p:cNvGrpSpPr/>
          <p:nvPr/>
        </p:nvGrpSpPr>
        <p:grpSpPr>
          <a:xfrm>
            <a:off x="4275649" y="2769808"/>
            <a:ext cx="1651003" cy="3271684"/>
            <a:chOff x="4275649" y="2769808"/>
            <a:chExt cx="1651003" cy="3271684"/>
          </a:xfrm>
        </p:grpSpPr>
        <p:sp>
          <p:nvSpPr>
            <p:cNvPr id="11" name="Rounded Rectangle 10"/>
            <p:cNvSpPr/>
            <p:nvPr/>
          </p:nvSpPr>
          <p:spPr>
            <a:xfrm>
              <a:off x="4275649" y="2769808"/>
              <a:ext cx="592667" cy="229810"/>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p:cNvSpPr/>
            <p:nvPr/>
          </p:nvSpPr>
          <p:spPr>
            <a:xfrm>
              <a:off x="5585566" y="5793617"/>
              <a:ext cx="341086" cy="247875"/>
            </a:xfrm>
            <a:prstGeom prst="roundRect">
              <a:avLst/>
            </a:prstGeom>
            <a:noFill/>
            <a:ln w="57150" cmpd="sng">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p:cNvCxnSpPr>
              <a:stCxn id="11" idx="2"/>
              <a:endCxn id="12" idx="0"/>
            </p:cNvCxnSpPr>
            <p:nvPr/>
          </p:nvCxnSpPr>
          <p:spPr>
            <a:xfrm>
              <a:off x="4571983" y="2999618"/>
              <a:ext cx="1184126" cy="279399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31" name="Group 30"/>
          <p:cNvGrpSpPr/>
          <p:nvPr/>
        </p:nvGrpSpPr>
        <p:grpSpPr>
          <a:xfrm>
            <a:off x="4986865" y="2769808"/>
            <a:ext cx="1435707" cy="3259590"/>
            <a:chOff x="4986865" y="2769808"/>
            <a:chExt cx="1435707" cy="3259590"/>
          </a:xfrm>
        </p:grpSpPr>
        <p:sp>
          <p:nvSpPr>
            <p:cNvPr id="15" name="Rounded Rectangle 14"/>
            <p:cNvSpPr/>
            <p:nvPr/>
          </p:nvSpPr>
          <p:spPr>
            <a:xfrm>
              <a:off x="4986865" y="2769808"/>
              <a:ext cx="598701" cy="222552"/>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6050024" y="5781522"/>
              <a:ext cx="372548" cy="247876"/>
            </a:xfrm>
            <a:prstGeom prst="roundRect">
              <a:avLst/>
            </a:prstGeom>
            <a:noFill/>
            <a:ln w="57150" cmpd="sng">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p:cNvCxnSpPr>
              <a:stCxn id="15" idx="2"/>
              <a:endCxn id="16" idx="0"/>
            </p:cNvCxnSpPr>
            <p:nvPr/>
          </p:nvCxnSpPr>
          <p:spPr>
            <a:xfrm>
              <a:off x="5286216" y="2992360"/>
              <a:ext cx="950082" cy="2789162"/>
            </a:xfrm>
            <a:prstGeom prst="straightConnector1">
              <a:avLst/>
            </a:prstGeom>
            <a:ln>
              <a:solidFill>
                <a:srgbClr val="F79646"/>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32" name="TextBox 31"/>
          <p:cNvSpPr txBox="1"/>
          <p:nvPr/>
        </p:nvSpPr>
        <p:spPr>
          <a:xfrm>
            <a:off x="217715" y="3923970"/>
            <a:ext cx="2358571"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We can now use </a:t>
            </a:r>
            <a:r>
              <a:rPr lang="en-US" b="1" dirty="0" err="1">
                <a:latin typeface="Courier New" panose="02070309020205020404" pitchFamily="49" charset="0"/>
                <a:cs typeface="Courier New" panose="02070309020205020404" pitchFamily="49" charset="0"/>
              </a:rPr>
              <a:t>myCrab</a:t>
            </a:r>
            <a:r>
              <a:rPr lang="en-US" dirty="0"/>
              <a:t> (a reference to the Crab object) in place of the </a:t>
            </a:r>
            <a:r>
              <a:rPr lang="en-US" b="1" dirty="0">
                <a:latin typeface="Courier New"/>
                <a:cs typeface="Courier New"/>
              </a:rPr>
              <a:t>Actor object</a:t>
            </a:r>
            <a:r>
              <a:rPr lang="en-US" dirty="0"/>
              <a:t> parameter of the </a:t>
            </a:r>
            <a:r>
              <a:rPr lang="en-US" b="1" dirty="0" err="1">
                <a:latin typeface="Courier New"/>
                <a:cs typeface="Courier New"/>
              </a:rPr>
              <a:t>addObject</a:t>
            </a:r>
            <a:r>
              <a:rPr lang="en-US" dirty="0"/>
              <a:t> method to add this object to the world!</a:t>
            </a:r>
          </a:p>
        </p:txBody>
      </p:sp>
      <p:sp>
        <p:nvSpPr>
          <p:cNvPr id="33" name="TextBox 32"/>
          <p:cNvSpPr txBox="1"/>
          <p:nvPr/>
        </p:nvSpPr>
        <p:spPr>
          <a:xfrm>
            <a:off x="6647543" y="5290734"/>
            <a:ext cx="2358571"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remaining two parameters specify the </a:t>
            </a:r>
            <a:r>
              <a:rPr lang="en-US" i="1" dirty="0"/>
              <a:t>x</a:t>
            </a:r>
            <a:r>
              <a:rPr lang="en-US" dirty="0"/>
              <a:t> and</a:t>
            </a:r>
            <a:r>
              <a:rPr lang="en-US" i="1" dirty="0"/>
              <a:t> y</a:t>
            </a:r>
            <a:r>
              <a:rPr lang="en-US" dirty="0"/>
              <a:t> coordinates of the position where we wish to add the object</a:t>
            </a:r>
          </a:p>
        </p:txBody>
      </p:sp>
    </p:spTree>
    <p:extLst>
      <p:ext uri="{BB962C8B-B14F-4D97-AF65-F5344CB8AC3E}">
        <p14:creationId xmlns:p14="http://schemas.microsoft.com/office/powerpoint/2010/main" val="39562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Variables</a:t>
            </a:r>
          </a:p>
        </p:txBody>
      </p:sp>
      <p:pic>
        <p:nvPicPr>
          <p:cNvPr id="5" name="Picture 4"/>
          <p:cNvPicPr>
            <a:picLocks noChangeAspect="1"/>
          </p:cNvPicPr>
          <p:nvPr/>
        </p:nvPicPr>
        <p:blipFill>
          <a:blip r:embed="rId2"/>
          <a:stretch>
            <a:fillRect/>
          </a:stretch>
        </p:blipFill>
        <p:spPr>
          <a:xfrm>
            <a:off x="0" y="1417638"/>
            <a:ext cx="9144000" cy="4435684"/>
          </a:xfrm>
          <a:prstGeom prst="rect">
            <a:avLst/>
          </a:prstGeom>
        </p:spPr>
      </p:pic>
    </p:spTree>
    <p:extLst>
      <p:ext uri="{BB962C8B-B14F-4D97-AF65-F5344CB8AC3E}">
        <p14:creationId xmlns:p14="http://schemas.microsoft.com/office/powerpoint/2010/main" val="2421710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Variables, cont’d</a:t>
            </a:r>
          </a:p>
        </p:txBody>
      </p:sp>
      <p:pic>
        <p:nvPicPr>
          <p:cNvPr id="3" name="Picture 2"/>
          <p:cNvPicPr>
            <a:picLocks noChangeAspect="1"/>
          </p:cNvPicPr>
          <p:nvPr/>
        </p:nvPicPr>
        <p:blipFill>
          <a:blip r:embed="rId2"/>
          <a:stretch>
            <a:fillRect/>
          </a:stretch>
        </p:blipFill>
        <p:spPr>
          <a:xfrm>
            <a:off x="0" y="1612475"/>
            <a:ext cx="9144000" cy="4452200"/>
          </a:xfrm>
          <a:prstGeom prst="rect">
            <a:avLst/>
          </a:prstGeom>
        </p:spPr>
      </p:pic>
    </p:spTree>
    <p:extLst>
      <p:ext uri="{BB962C8B-B14F-4D97-AF65-F5344CB8AC3E}">
        <p14:creationId xmlns:p14="http://schemas.microsoft.com/office/powerpoint/2010/main" val="118800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Assignment Statements</a:t>
            </a:r>
          </a:p>
        </p:txBody>
      </p:sp>
      <p:pic>
        <p:nvPicPr>
          <p:cNvPr id="5" name="Picture 4"/>
          <p:cNvPicPr>
            <a:picLocks noChangeAspect="1"/>
          </p:cNvPicPr>
          <p:nvPr/>
        </p:nvPicPr>
        <p:blipFill>
          <a:blip r:embed="rId2"/>
          <a:stretch>
            <a:fillRect/>
          </a:stretch>
        </p:blipFill>
        <p:spPr>
          <a:xfrm>
            <a:off x="190500" y="1242896"/>
            <a:ext cx="8763000" cy="5526907"/>
          </a:xfrm>
          <a:prstGeom prst="rect">
            <a:avLst/>
          </a:prstGeom>
        </p:spPr>
      </p:pic>
    </p:spTree>
    <p:extLst>
      <p:ext uri="{BB962C8B-B14F-4D97-AF65-F5344CB8AC3E}">
        <p14:creationId xmlns:p14="http://schemas.microsoft.com/office/powerpoint/2010/main" val="173645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Assignment Statements, cont’d</a:t>
            </a:r>
          </a:p>
        </p:txBody>
      </p:sp>
      <p:pic>
        <p:nvPicPr>
          <p:cNvPr id="3" name="Picture 2"/>
          <p:cNvPicPr>
            <a:picLocks noChangeAspect="1"/>
          </p:cNvPicPr>
          <p:nvPr/>
        </p:nvPicPr>
        <p:blipFill>
          <a:blip r:embed="rId2"/>
          <a:stretch>
            <a:fillRect/>
          </a:stretch>
        </p:blipFill>
        <p:spPr>
          <a:xfrm>
            <a:off x="0" y="1342503"/>
            <a:ext cx="9144000" cy="5411244"/>
          </a:xfrm>
          <a:prstGeom prst="rect">
            <a:avLst/>
          </a:prstGeom>
        </p:spPr>
      </p:pic>
    </p:spTree>
    <p:extLst>
      <p:ext uri="{BB962C8B-B14F-4D97-AF65-F5344CB8AC3E}">
        <p14:creationId xmlns:p14="http://schemas.microsoft.com/office/powerpoint/2010/main" val="1198597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086225" cy="1143000"/>
          </a:xfrm>
        </p:spPr>
        <p:txBody>
          <a:bodyPr/>
          <a:lstStyle/>
          <a:p>
            <a:r>
              <a:rPr lang="en-US" b="1" dirty="0">
                <a:solidFill>
                  <a:srgbClr val="0070C0"/>
                </a:solidFill>
              </a:rPr>
              <a:t>Object variables</a:t>
            </a:r>
          </a:p>
        </p:txBody>
      </p:sp>
      <p:pic>
        <p:nvPicPr>
          <p:cNvPr id="6" name="Picture 5"/>
          <p:cNvPicPr>
            <a:picLocks noChangeAspect="1"/>
          </p:cNvPicPr>
          <p:nvPr/>
        </p:nvPicPr>
        <p:blipFill rotWithShape="1">
          <a:blip r:embed="rId3"/>
          <a:srcRect b="57420"/>
          <a:stretch/>
        </p:blipFill>
        <p:spPr>
          <a:xfrm>
            <a:off x="0" y="1618857"/>
            <a:ext cx="9144000" cy="1719961"/>
          </a:xfrm>
          <a:prstGeom prst="rect">
            <a:avLst/>
          </a:prstGeom>
        </p:spPr>
      </p:pic>
      <p:sp>
        <p:nvSpPr>
          <p:cNvPr id="4" name="TextBox 3"/>
          <p:cNvSpPr txBox="1"/>
          <p:nvPr/>
        </p:nvSpPr>
        <p:spPr>
          <a:xfrm>
            <a:off x="272443" y="3642953"/>
            <a:ext cx="8599114" cy="169277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b="1" dirty="0">
                <a:solidFill>
                  <a:srgbClr val="FF0000"/>
                </a:solidFill>
              </a:rPr>
              <a:t>Concept: </a:t>
            </a:r>
            <a:r>
              <a:rPr lang="en-US" sz="2400" dirty="0"/>
              <a:t>Variables of </a:t>
            </a:r>
            <a:r>
              <a:rPr lang="en-US" sz="2400" b="1" dirty="0"/>
              <a:t>primitive types </a:t>
            </a:r>
            <a:r>
              <a:rPr lang="en-US" sz="2400" dirty="0"/>
              <a:t>store numbers (</a:t>
            </a:r>
            <a:r>
              <a:rPr lang="en-US" sz="2400" b="1" dirty="0" err="1"/>
              <a:t>int</a:t>
            </a:r>
            <a:r>
              <a:rPr lang="en-US" sz="2400" dirty="0"/>
              <a:t>), logical (</a:t>
            </a:r>
            <a:r>
              <a:rPr lang="en-US" sz="2400" b="1" dirty="0" err="1">
                <a:latin typeface="Consolas" panose="020B0609020204030204" pitchFamily="49" charset="0"/>
                <a:cs typeface="Consolas" panose="020B0609020204030204" pitchFamily="49" charset="0"/>
              </a:rPr>
              <a:t>boolean</a:t>
            </a:r>
            <a:r>
              <a:rPr lang="en-US" sz="2400" dirty="0"/>
              <a:t>) values, and characters (</a:t>
            </a:r>
            <a:r>
              <a:rPr lang="en-US" sz="2400" b="1" dirty="0">
                <a:latin typeface="Consolas" panose="020B0609020204030204" pitchFamily="49" charset="0"/>
                <a:cs typeface="Consolas" panose="020B0609020204030204" pitchFamily="49" charset="0"/>
              </a:rPr>
              <a:t>char</a:t>
            </a:r>
            <a:r>
              <a:rPr lang="en-US" sz="2400" dirty="0"/>
              <a:t>), while variables of </a:t>
            </a:r>
            <a:r>
              <a:rPr lang="en-US" sz="2400" b="1" dirty="0"/>
              <a:t>object types </a:t>
            </a:r>
            <a:r>
              <a:rPr lang="en-US" sz="2400" i="1" dirty="0"/>
              <a:t>(also known as </a:t>
            </a:r>
            <a:r>
              <a:rPr lang="en-US" sz="2400" b="1" i="1" dirty="0"/>
              <a:t>reference types</a:t>
            </a:r>
            <a:r>
              <a:rPr lang="en-US" sz="2400" i="1" dirty="0"/>
              <a:t>)</a:t>
            </a:r>
            <a:r>
              <a:rPr lang="en-US" sz="2400" b="1" dirty="0"/>
              <a:t> </a:t>
            </a:r>
            <a:r>
              <a:rPr lang="en-US" sz="2400" dirty="0"/>
              <a:t>store </a:t>
            </a:r>
            <a:r>
              <a:rPr lang="en-US" sz="3200" b="1" u="sng" dirty="0">
                <a:solidFill>
                  <a:srgbClr val="FF0000"/>
                </a:solidFill>
              </a:rPr>
              <a:t>references to </a:t>
            </a:r>
            <a:r>
              <a:rPr lang="en-US" sz="2400" dirty="0"/>
              <a:t>objects.</a:t>
            </a:r>
          </a:p>
        </p:txBody>
      </p:sp>
      <p:cxnSp>
        <p:nvCxnSpPr>
          <p:cNvPr id="5" name="Straight Arrow Connector 4">
            <a:extLst>
              <a:ext uri="{FF2B5EF4-FFF2-40B4-BE49-F238E27FC236}">
                <a16:creationId xmlns:a16="http://schemas.microsoft.com/office/drawing/2014/main" id="{B5E81F8B-AFA7-6945-8A52-664C471DAFB4}"/>
              </a:ext>
            </a:extLst>
          </p:cNvPr>
          <p:cNvCxnSpPr>
            <a:cxnSpLocks/>
            <a:stCxn id="7" idx="2"/>
          </p:cNvCxnSpPr>
          <p:nvPr/>
        </p:nvCxnSpPr>
        <p:spPr>
          <a:xfrm>
            <a:off x="7028960" y="1312268"/>
            <a:ext cx="314815" cy="502245"/>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5E1AB56-7DF0-6C41-99CC-9FEA120743E4}"/>
              </a:ext>
            </a:extLst>
          </p:cNvPr>
          <p:cNvSpPr txBox="1"/>
          <p:nvPr/>
        </p:nvSpPr>
        <p:spPr>
          <a:xfrm>
            <a:off x="5186362" y="388938"/>
            <a:ext cx="3685195"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a:t>This is not exactly correct; variables do not store the objects themselves; they only store </a:t>
            </a:r>
            <a:r>
              <a:rPr lang="en-US" u="sng" dirty="0"/>
              <a:t>references</a:t>
            </a:r>
            <a:r>
              <a:rPr lang="en-US" i="1" dirty="0"/>
              <a:t> </a:t>
            </a:r>
            <a:r>
              <a:rPr lang="en-US" dirty="0"/>
              <a:t>to objects</a:t>
            </a:r>
          </a:p>
        </p:txBody>
      </p:sp>
    </p:spTree>
    <p:extLst>
      <p:ext uri="{BB962C8B-B14F-4D97-AF65-F5344CB8AC3E}">
        <p14:creationId xmlns:p14="http://schemas.microsoft.com/office/powerpoint/2010/main" val="260686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9"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9388"/>
            <a:ext cx="8229600" cy="825176"/>
          </a:xfrm>
        </p:spPr>
        <p:txBody>
          <a:bodyPr/>
          <a:lstStyle/>
          <a:p>
            <a:r>
              <a:rPr lang="en-US" dirty="0"/>
              <a:t>From Appendix D</a:t>
            </a:r>
          </a:p>
        </p:txBody>
      </p:sp>
      <p:pic>
        <p:nvPicPr>
          <p:cNvPr id="4" name="Picture 3"/>
          <p:cNvPicPr>
            <a:picLocks noChangeAspect="1"/>
          </p:cNvPicPr>
          <p:nvPr/>
        </p:nvPicPr>
        <p:blipFill>
          <a:blip r:embed="rId2"/>
          <a:stretch>
            <a:fillRect/>
          </a:stretch>
        </p:blipFill>
        <p:spPr>
          <a:xfrm>
            <a:off x="0" y="1099814"/>
            <a:ext cx="9144000" cy="5687071"/>
          </a:xfrm>
          <a:prstGeom prst="rect">
            <a:avLst/>
          </a:prstGeom>
        </p:spPr>
      </p:pic>
      <p:sp>
        <p:nvSpPr>
          <p:cNvPr id="3" name="TextBox 2">
            <a:extLst>
              <a:ext uri="{FF2B5EF4-FFF2-40B4-BE49-F238E27FC236}">
                <a16:creationId xmlns:a16="http://schemas.microsoft.com/office/drawing/2014/main" id="{1925F4AB-16C0-BD49-AE8C-411FC8CC9E28}"/>
              </a:ext>
            </a:extLst>
          </p:cNvPr>
          <p:cNvSpPr txBox="1"/>
          <p:nvPr/>
        </p:nvSpPr>
        <p:spPr>
          <a:xfrm>
            <a:off x="145774" y="2729947"/>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byte</a:t>
            </a:r>
          </a:p>
        </p:txBody>
      </p:sp>
      <p:sp>
        <p:nvSpPr>
          <p:cNvPr id="5" name="TextBox 4">
            <a:extLst>
              <a:ext uri="{FF2B5EF4-FFF2-40B4-BE49-F238E27FC236}">
                <a16:creationId xmlns:a16="http://schemas.microsoft.com/office/drawing/2014/main" id="{47EF7E85-3648-BC45-A8DC-347FAC4F29BC}"/>
              </a:ext>
            </a:extLst>
          </p:cNvPr>
          <p:cNvSpPr txBox="1"/>
          <p:nvPr/>
        </p:nvSpPr>
        <p:spPr>
          <a:xfrm>
            <a:off x="139148" y="3120886"/>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short</a:t>
            </a:r>
          </a:p>
        </p:txBody>
      </p:sp>
      <p:sp>
        <p:nvSpPr>
          <p:cNvPr id="6" name="TextBox 5">
            <a:extLst>
              <a:ext uri="{FF2B5EF4-FFF2-40B4-BE49-F238E27FC236}">
                <a16:creationId xmlns:a16="http://schemas.microsoft.com/office/drawing/2014/main" id="{70DFE579-9EE5-3E4E-9A99-90D03FE1CFF7}"/>
              </a:ext>
            </a:extLst>
          </p:cNvPr>
          <p:cNvSpPr txBox="1"/>
          <p:nvPr/>
        </p:nvSpPr>
        <p:spPr>
          <a:xfrm>
            <a:off x="145774" y="3498573"/>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err="1">
                <a:latin typeface="Consolas" panose="020B0609020204030204" pitchFamily="49" charset="0"/>
                <a:cs typeface="Consolas" panose="020B0609020204030204" pitchFamily="49" charset="0"/>
              </a:rPr>
              <a:t>int</a:t>
            </a:r>
            <a:endParaRPr lang="en-US"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124D87DF-1C2F-C54B-AF6A-970B621FE7B1}"/>
              </a:ext>
            </a:extLst>
          </p:cNvPr>
          <p:cNvSpPr txBox="1"/>
          <p:nvPr/>
        </p:nvSpPr>
        <p:spPr>
          <a:xfrm>
            <a:off x="139148" y="3943349"/>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long</a:t>
            </a:r>
          </a:p>
        </p:txBody>
      </p:sp>
      <p:sp>
        <p:nvSpPr>
          <p:cNvPr id="8" name="TextBox 7">
            <a:extLst>
              <a:ext uri="{FF2B5EF4-FFF2-40B4-BE49-F238E27FC236}">
                <a16:creationId xmlns:a16="http://schemas.microsoft.com/office/drawing/2014/main" id="{35C47E79-6A5A-4144-918B-3A7C8EFA7D14}"/>
              </a:ext>
            </a:extLst>
          </p:cNvPr>
          <p:cNvSpPr txBox="1"/>
          <p:nvPr/>
        </p:nvSpPr>
        <p:spPr>
          <a:xfrm>
            <a:off x="145774" y="4706990"/>
            <a:ext cx="9011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float</a:t>
            </a:r>
          </a:p>
        </p:txBody>
      </p:sp>
      <p:sp>
        <p:nvSpPr>
          <p:cNvPr id="9" name="TextBox 8">
            <a:extLst>
              <a:ext uri="{FF2B5EF4-FFF2-40B4-BE49-F238E27FC236}">
                <a16:creationId xmlns:a16="http://schemas.microsoft.com/office/drawing/2014/main" id="{0156299E-7E20-0949-81A2-01641EDCC837}"/>
              </a:ext>
            </a:extLst>
          </p:cNvPr>
          <p:cNvSpPr txBox="1"/>
          <p:nvPr/>
        </p:nvSpPr>
        <p:spPr>
          <a:xfrm>
            <a:off x="152399" y="5097929"/>
            <a:ext cx="1133061"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double</a:t>
            </a:r>
          </a:p>
        </p:txBody>
      </p:sp>
      <p:sp>
        <p:nvSpPr>
          <p:cNvPr id="10" name="TextBox 9">
            <a:extLst>
              <a:ext uri="{FF2B5EF4-FFF2-40B4-BE49-F238E27FC236}">
                <a16:creationId xmlns:a16="http://schemas.microsoft.com/office/drawing/2014/main" id="{760786BA-08BC-314D-974B-6DDB19F1FCBD}"/>
              </a:ext>
            </a:extLst>
          </p:cNvPr>
          <p:cNvSpPr txBox="1"/>
          <p:nvPr/>
        </p:nvSpPr>
        <p:spPr>
          <a:xfrm>
            <a:off x="159026" y="5912938"/>
            <a:ext cx="71561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a:latin typeface="Consolas" panose="020B0609020204030204" pitchFamily="49" charset="0"/>
                <a:cs typeface="Consolas" panose="020B0609020204030204" pitchFamily="49" charset="0"/>
              </a:rPr>
              <a:t>char</a:t>
            </a:r>
          </a:p>
        </p:txBody>
      </p:sp>
      <p:sp>
        <p:nvSpPr>
          <p:cNvPr id="11" name="TextBox 10">
            <a:extLst>
              <a:ext uri="{FF2B5EF4-FFF2-40B4-BE49-F238E27FC236}">
                <a16:creationId xmlns:a16="http://schemas.microsoft.com/office/drawing/2014/main" id="{0C7B5C69-D837-A04B-B233-9D7862FFB180}"/>
              </a:ext>
            </a:extLst>
          </p:cNvPr>
          <p:cNvSpPr txBox="1"/>
          <p:nvPr/>
        </p:nvSpPr>
        <p:spPr>
          <a:xfrm>
            <a:off x="152400" y="6303877"/>
            <a:ext cx="113306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b="1" dirty="0" err="1">
                <a:latin typeface="Consolas" panose="020B0609020204030204" pitchFamily="49" charset="0"/>
                <a:cs typeface="Consolas" panose="020B0609020204030204" pitchFamily="49" charset="0"/>
              </a:rPr>
              <a:t>boolean</a:t>
            </a:r>
            <a:endParaRPr lang="en-US"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12841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Object variables, cont’d</a:t>
            </a:r>
          </a:p>
        </p:txBody>
      </p:sp>
      <p:pic>
        <p:nvPicPr>
          <p:cNvPr id="3" name="Picture 2"/>
          <p:cNvPicPr>
            <a:picLocks noChangeAspect="1"/>
          </p:cNvPicPr>
          <p:nvPr/>
        </p:nvPicPr>
        <p:blipFill>
          <a:blip r:embed="rId2"/>
          <a:stretch>
            <a:fillRect/>
          </a:stretch>
        </p:blipFill>
        <p:spPr>
          <a:xfrm>
            <a:off x="0" y="1116252"/>
            <a:ext cx="9144000" cy="5635145"/>
          </a:xfrm>
          <a:prstGeom prst="rect">
            <a:avLst/>
          </a:prstGeom>
        </p:spPr>
      </p:pic>
      <p:sp>
        <p:nvSpPr>
          <p:cNvPr id="4" name="TextBox 3">
            <a:extLst>
              <a:ext uri="{FF2B5EF4-FFF2-40B4-BE49-F238E27FC236}">
                <a16:creationId xmlns:a16="http://schemas.microsoft.com/office/drawing/2014/main" id="{C48F8578-1790-9444-AECC-6517ED4C8B2F}"/>
              </a:ext>
            </a:extLst>
          </p:cNvPr>
          <p:cNvSpPr txBox="1"/>
          <p:nvPr/>
        </p:nvSpPr>
        <p:spPr>
          <a:xfrm>
            <a:off x="4234068" y="3962398"/>
            <a:ext cx="4605132" cy="193899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400" dirty="0">
                <a:latin typeface="Calibri" panose="020F0502020204030204" pitchFamily="34" charset="0"/>
                <a:cs typeface="Calibri" panose="020F0502020204030204" pitchFamily="34" charset="0"/>
              </a:rPr>
              <a:t>The variable </a:t>
            </a:r>
            <a:r>
              <a:rPr lang="en-US" sz="2400" b="1" dirty="0" err="1">
                <a:latin typeface="Consolas" panose="020B0609020204030204" pitchFamily="49" charset="0"/>
                <a:cs typeface="Consolas" panose="020B0609020204030204" pitchFamily="49" charset="0"/>
              </a:rPr>
              <a:t>myCrab</a:t>
            </a:r>
            <a:r>
              <a:rPr lang="en-US" sz="2400" dirty="0">
                <a:latin typeface="Calibri" panose="020F0502020204030204" pitchFamily="34" charset="0"/>
                <a:cs typeface="Calibri" panose="020F0502020204030204" pitchFamily="34" charset="0"/>
              </a:rPr>
              <a:t> stores a </a:t>
            </a:r>
            <a:r>
              <a:rPr lang="en-US" sz="2400" i="1" dirty="0">
                <a:latin typeface="Calibri" panose="020F0502020204030204" pitchFamily="34" charset="0"/>
                <a:cs typeface="Calibri" panose="020F0502020204030204" pitchFamily="34" charset="0"/>
              </a:rPr>
              <a:t>pointer </a:t>
            </a:r>
            <a:r>
              <a:rPr lang="en-US" sz="2400" dirty="0">
                <a:latin typeface="Calibri" panose="020F0502020204030204" pitchFamily="34" charset="0"/>
                <a:cs typeface="Calibri" panose="020F0502020204030204" pitchFamily="34" charset="0"/>
              </a:rPr>
              <a:t>(or as it’s more commonly termed in </a:t>
            </a:r>
            <a:r>
              <a:rPr lang="en-US" sz="2400" b="1" dirty="0">
                <a:latin typeface="Calibri" panose="020F0502020204030204" pitchFamily="34" charset="0"/>
                <a:cs typeface="Calibri" panose="020F0502020204030204" pitchFamily="34" charset="0"/>
              </a:rPr>
              <a:t>Java</a:t>
            </a:r>
            <a:r>
              <a:rPr lang="en-US" sz="2400" dirty="0">
                <a:latin typeface="Calibri" panose="020F0502020204030204" pitchFamily="34" charset="0"/>
                <a:cs typeface="Calibri" panose="020F0502020204030204" pitchFamily="34" charset="0"/>
              </a:rPr>
              <a:t>, a </a:t>
            </a:r>
            <a:r>
              <a:rPr lang="en-US" sz="2400" i="1" u="sng" dirty="0">
                <a:latin typeface="Calibri" panose="020F0502020204030204" pitchFamily="34" charset="0"/>
                <a:cs typeface="Calibri" panose="020F0502020204030204" pitchFamily="34" charset="0"/>
              </a:rPr>
              <a:t>reference</a:t>
            </a:r>
            <a:r>
              <a:rPr lang="en-US" sz="2400" dirty="0">
                <a:latin typeface="Calibri" panose="020F0502020204030204" pitchFamily="34" charset="0"/>
                <a:cs typeface="Calibri" panose="020F0502020204030204" pitchFamily="34" charset="0"/>
              </a:rPr>
              <a:t>) to an object in memory; </a:t>
            </a:r>
            <a:r>
              <a:rPr lang="en-US" sz="2400" b="1" dirty="0" err="1">
                <a:latin typeface="Consolas" panose="020B0609020204030204" pitchFamily="49" charset="0"/>
                <a:cs typeface="Consolas" panose="020B0609020204030204" pitchFamily="49" charset="0"/>
              </a:rPr>
              <a:t>myCrab</a:t>
            </a:r>
            <a:r>
              <a:rPr lang="en-US" sz="2400" b="1" dirty="0">
                <a:latin typeface="Calibri" panose="020F0502020204030204" pitchFamily="34" charset="0"/>
                <a:cs typeface="Calibri" panose="020F0502020204030204" pitchFamily="34" charset="0"/>
              </a:rPr>
              <a:t> </a:t>
            </a:r>
            <a:r>
              <a:rPr lang="en-US" sz="2400" b="1" dirty="0">
                <a:highlight>
                  <a:srgbClr val="FFFF00"/>
                </a:highlight>
                <a:latin typeface="Calibri" panose="020F0502020204030204" pitchFamily="34" charset="0"/>
                <a:cs typeface="Calibri" panose="020F0502020204030204" pitchFamily="34" charset="0"/>
              </a:rPr>
              <a:t> does not store the object</a:t>
            </a:r>
            <a:r>
              <a:rPr lang="en-US" sz="2400" b="1" dirty="0">
                <a:latin typeface="Calibri" panose="020F0502020204030204" pitchFamily="34" charset="0"/>
                <a:cs typeface="Calibri" panose="020F0502020204030204" pitchFamily="34" charset="0"/>
              </a:rPr>
              <a:t> itself!</a:t>
            </a:r>
          </a:p>
        </p:txBody>
      </p:sp>
    </p:spTree>
    <p:extLst>
      <p:ext uri="{BB962C8B-B14F-4D97-AF65-F5344CB8AC3E}">
        <p14:creationId xmlns:p14="http://schemas.microsoft.com/office/powerpoint/2010/main" val="143301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Object variables, cont’d</a:t>
            </a:r>
          </a:p>
        </p:txBody>
      </p:sp>
      <p:pic>
        <p:nvPicPr>
          <p:cNvPr id="4" name="Picture 3"/>
          <p:cNvPicPr>
            <a:picLocks noChangeAspect="1"/>
          </p:cNvPicPr>
          <p:nvPr/>
        </p:nvPicPr>
        <p:blipFill>
          <a:blip r:embed="rId2"/>
          <a:stretch>
            <a:fillRect/>
          </a:stretch>
        </p:blipFill>
        <p:spPr>
          <a:xfrm>
            <a:off x="0" y="1313495"/>
            <a:ext cx="9144000" cy="5278759"/>
          </a:xfrm>
          <a:prstGeom prst="rect">
            <a:avLst/>
          </a:prstGeom>
        </p:spPr>
      </p:pic>
      <p:pic>
        <p:nvPicPr>
          <p:cNvPr id="5" name="Picture 4"/>
          <p:cNvPicPr>
            <a:picLocks noChangeAspect="1"/>
          </p:cNvPicPr>
          <p:nvPr/>
        </p:nvPicPr>
        <p:blipFill>
          <a:blip r:embed="rId3"/>
          <a:stretch>
            <a:fillRect/>
          </a:stretch>
        </p:blipFill>
        <p:spPr>
          <a:xfrm>
            <a:off x="5210175" y="4730725"/>
            <a:ext cx="3395662" cy="1531962"/>
          </a:xfrm>
          <a:prstGeom prst="rect">
            <a:avLst/>
          </a:prstGeom>
        </p:spPr>
      </p:pic>
      <p:sp>
        <p:nvSpPr>
          <p:cNvPr id="3" name="TextBox 2">
            <a:extLst>
              <a:ext uri="{FF2B5EF4-FFF2-40B4-BE49-F238E27FC236}">
                <a16:creationId xmlns:a16="http://schemas.microsoft.com/office/drawing/2014/main" id="{50F8660E-E4EE-A146-A6F8-9F0EAC9B6D12}"/>
              </a:ext>
            </a:extLst>
          </p:cNvPr>
          <p:cNvSpPr txBox="1"/>
          <p:nvPr/>
        </p:nvSpPr>
        <p:spPr>
          <a:xfrm>
            <a:off x="457200" y="6058139"/>
            <a:ext cx="6102626"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It assigns a </a:t>
            </a:r>
            <a:r>
              <a:rPr lang="en-US" u="sng" dirty="0">
                <a:highlight>
                  <a:srgbClr val="FFFF00"/>
                </a:highlight>
              </a:rPr>
              <a:t>reference</a:t>
            </a:r>
            <a:r>
              <a:rPr lang="en-US" dirty="0"/>
              <a:t> to the crab object to the </a:t>
            </a:r>
            <a:r>
              <a:rPr lang="en-US" dirty="0" err="1">
                <a:highlight>
                  <a:srgbClr val="FFFF00"/>
                </a:highlight>
                <a:latin typeface="Consolas" panose="020B0609020204030204" pitchFamily="49" charset="0"/>
              </a:rPr>
              <a:t>myCrab</a:t>
            </a:r>
            <a:r>
              <a:rPr lang="en-US" dirty="0"/>
              <a:t> variable</a:t>
            </a:r>
          </a:p>
        </p:txBody>
      </p:sp>
    </p:spTree>
    <p:extLst>
      <p:ext uri="{BB962C8B-B14F-4D97-AF65-F5344CB8AC3E}">
        <p14:creationId xmlns:p14="http://schemas.microsoft.com/office/powerpoint/2010/main" val="351223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t="28928"/>
          <a:stretch/>
        </p:blipFill>
        <p:spPr>
          <a:xfrm>
            <a:off x="0" y="2120969"/>
            <a:ext cx="9144000" cy="4411719"/>
          </a:xfrm>
          <a:prstGeom prst="rect">
            <a:avLst/>
          </a:prstGeom>
        </p:spPr>
      </p:pic>
      <p:pic>
        <p:nvPicPr>
          <p:cNvPr id="5" name="Picture 4"/>
          <p:cNvPicPr>
            <a:picLocks noChangeAspect="1"/>
          </p:cNvPicPr>
          <p:nvPr/>
        </p:nvPicPr>
        <p:blipFill>
          <a:blip r:embed="rId3"/>
          <a:stretch>
            <a:fillRect/>
          </a:stretch>
        </p:blipFill>
        <p:spPr>
          <a:xfrm>
            <a:off x="6919623" y="1048579"/>
            <a:ext cx="1952913" cy="8810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a:blip r:embed="rId4"/>
          <a:stretch>
            <a:fillRect/>
          </a:stretch>
        </p:blipFill>
        <p:spPr>
          <a:xfrm>
            <a:off x="5534025" y="133982"/>
            <a:ext cx="3457575" cy="7232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Rectangle: Rounded Corners 8"/>
          <p:cNvSpPr/>
          <p:nvPr/>
        </p:nvSpPr>
        <p:spPr>
          <a:xfrm>
            <a:off x="0" y="5495925"/>
            <a:ext cx="9058275" cy="1114425"/>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377106" y="287356"/>
            <a:ext cx="4882791"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dirty="0">
                <a:solidFill>
                  <a:srgbClr val="FF0000"/>
                </a:solidFill>
              </a:rPr>
              <a:t>Concept: </a:t>
            </a:r>
            <a:r>
              <a:rPr lang="en-US" sz="2800" dirty="0"/>
              <a:t>Objects are “stored” in variables by storing a </a:t>
            </a:r>
            <a:r>
              <a:rPr lang="en-US" sz="2800" b="1" i="1" dirty="0">
                <a:highlight>
                  <a:srgbClr val="FFFF00"/>
                </a:highlight>
              </a:rPr>
              <a:t>reference</a:t>
            </a:r>
            <a:r>
              <a:rPr lang="en-US" sz="2800" i="1" dirty="0"/>
              <a:t> to the object.</a:t>
            </a:r>
            <a:endParaRPr lang="en-US" sz="2800" dirty="0"/>
          </a:p>
        </p:txBody>
      </p:sp>
    </p:spTree>
    <p:extLst>
      <p:ext uri="{BB962C8B-B14F-4D97-AF65-F5344CB8AC3E}">
        <p14:creationId xmlns:p14="http://schemas.microsoft.com/office/powerpoint/2010/main" val="414020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176303"/>
            <a:ext cx="9144000" cy="4505394"/>
          </a:xfrm>
          <a:prstGeom prst="rect">
            <a:avLst/>
          </a:prstGeom>
        </p:spPr>
      </p:pic>
    </p:spTree>
    <p:extLst>
      <p:ext uri="{BB962C8B-B14F-4D97-AF65-F5344CB8AC3E}">
        <p14:creationId xmlns:p14="http://schemas.microsoft.com/office/powerpoint/2010/main" val="1643411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914885"/>
            <a:ext cx="9144000" cy="5028229"/>
          </a:xfrm>
          <a:prstGeom prst="rect">
            <a:avLst/>
          </a:prstGeom>
        </p:spPr>
      </p:pic>
    </p:spTree>
    <p:extLst>
      <p:ext uri="{BB962C8B-B14F-4D97-AF65-F5344CB8AC3E}">
        <p14:creationId xmlns:p14="http://schemas.microsoft.com/office/powerpoint/2010/main" val="1750838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1614"/>
          </a:xfrm>
        </p:spPr>
        <p:txBody>
          <a:bodyPr/>
          <a:lstStyle/>
          <a:p>
            <a:r>
              <a:rPr lang="en-US" b="1" dirty="0">
                <a:solidFill>
                  <a:srgbClr val="0070C0"/>
                </a:solidFill>
              </a:rPr>
              <a:t>Using Variables</a:t>
            </a:r>
          </a:p>
        </p:txBody>
      </p:sp>
      <p:pic>
        <p:nvPicPr>
          <p:cNvPr id="3" name="Picture 2"/>
          <p:cNvPicPr>
            <a:picLocks noChangeAspect="1"/>
          </p:cNvPicPr>
          <p:nvPr/>
        </p:nvPicPr>
        <p:blipFill>
          <a:blip r:embed="rId2"/>
          <a:stretch>
            <a:fillRect/>
          </a:stretch>
        </p:blipFill>
        <p:spPr>
          <a:xfrm>
            <a:off x="0" y="1116252"/>
            <a:ext cx="9144000" cy="5688861"/>
          </a:xfrm>
          <a:prstGeom prst="rect">
            <a:avLst/>
          </a:prstGeom>
        </p:spPr>
      </p:pic>
    </p:spTree>
    <p:extLst>
      <p:ext uri="{BB962C8B-B14F-4D97-AF65-F5344CB8AC3E}">
        <p14:creationId xmlns:p14="http://schemas.microsoft.com/office/powerpoint/2010/main" val="354898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56568"/>
            <a:ext cx="9144000" cy="5344864"/>
          </a:xfrm>
          <a:prstGeom prst="rect">
            <a:avLst/>
          </a:prstGeom>
        </p:spPr>
      </p:pic>
    </p:spTree>
    <p:extLst>
      <p:ext uri="{BB962C8B-B14F-4D97-AF65-F5344CB8AC3E}">
        <p14:creationId xmlns:p14="http://schemas.microsoft.com/office/powerpoint/2010/main" val="3172304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a:t>
            </a:r>
          </a:p>
        </p:txBody>
      </p:sp>
      <p:sp>
        <p:nvSpPr>
          <p:cNvPr id="3" name="Content Placeholder 2"/>
          <p:cNvSpPr>
            <a:spLocks noGrp="1"/>
          </p:cNvSpPr>
          <p:nvPr>
            <p:ph idx="1"/>
          </p:nvPr>
        </p:nvSpPr>
        <p:spPr>
          <a:xfrm>
            <a:off x="457200" y="1600200"/>
            <a:ext cx="8229600" cy="3080657"/>
          </a:xfrm>
        </p:spPr>
        <p:style>
          <a:lnRef idx="1">
            <a:schemeClr val="accent3"/>
          </a:lnRef>
          <a:fillRef idx="2">
            <a:schemeClr val="accent3"/>
          </a:fillRef>
          <a:effectRef idx="1">
            <a:schemeClr val="accent3"/>
          </a:effectRef>
          <a:fontRef idx="minor">
            <a:schemeClr val="dk1"/>
          </a:fontRef>
        </p:style>
        <p:txBody>
          <a:bodyPr>
            <a:normAutofit/>
          </a:bodyPr>
          <a:lstStyle/>
          <a:p>
            <a:r>
              <a:rPr lang="en-US" sz="2400" b="1" dirty="0">
                <a:solidFill>
                  <a:srgbClr val="008000"/>
                </a:solidFill>
              </a:rPr>
              <a:t>4.10</a:t>
            </a:r>
            <a:r>
              <a:rPr lang="en-US" sz="2400" dirty="0"/>
              <a:t> – Add code to the </a:t>
            </a:r>
            <a:r>
              <a:rPr lang="en-US" sz="2400" b="1" dirty="0" err="1">
                <a:latin typeface="Courier New"/>
                <a:cs typeface="Courier New"/>
              </a:rPr>
              <a:t>CrabWorld</a:t>
            </a:r>
            <a:r>
              <a:rPr lang="en-US" sz="2400" dirty="0"/>
              <a:t> constructor of your own project to create a crab automatically, as discussed</a:t>
            </a:r>
          </a:p>
          <a:p>
            <a:r>
              <a:rPr lang="en-US" sz="2400" b="1" dirty="0">
                <a:solidFill>
                  <a:srgbClr val="008000"/>
                </a:solidFill>
              </a:rPr>
              <a:t>4.11</a:t>
            </a:r>
            <a:r>
              <a:rPr lang="en-US" sz="2400" dirty="0"/>
              <a:t> – Add code to automatically create three lobsters in the </a:t>
            </a:r>
            <a:r>
              <a:rPr lang="en-US" sz="2400" b="1" dirty="0" err="1">
                <a:latin typeface="Courier New"/>
                <a:cs typeface="Courier New"/>
              </a:rPr>
              <a:t>CrabWorld</a:t>
            </a:r>
            <a:r>
              <a:rPr lang="en-US" sz="2400" dirty="0"/>
              <a:t> . You can choose arbitrary locations for them in the world — just set whatever </a:t>
            </a:r>
            <a:r>
              <a:rPr lang="en-US" sz="2400" dirty="0" err="1"/>
              <a:t>x,y</a:t>
            </a:r>
            <a:r>
              <a:rPr lang="en-US" sz="2400" dirty="0"/>
              <a:t> coordinates you desire.</a:t>
            </a:r>
          </a:p>
          <a:p>
            <a:r>
              <a:rPr lang="en-US" sz="2400" b="1" dirty="0">
                <a:solidFill>
                  <a:srgbClr val="008000"/>
                </a:solidFill>
              </a:rPr>
              <a:t>4.12</a:t>
            </a:r>
            <a:r>
              <a:rPr lang="en-US" sz="2400" b="1" dirty="0"/>
              <a:t> </a:t>
            </a:r>
            <a:r>
              <a:rPr lang="en-US" sz="2400" dirty="0"/>
              <a:t>– Add code to create two worms at arbitrary locations in the </a:t>
            </a:r>
            <a:r>
              <a:rPr lang="en-US" sz="2400" b="1" dirty="0" err="1">
                <a:latin typeface="Courier New"/>
                <a:cs typeface="Courier New"/>
              </a:rPr>
              <a:t>CrabWorld</a:t>
            </a:r>
            <a:r>
              <a:rPr lang="en-US" sz="2400" dirty="0"/>
              <a:t> .</a:t>
            </a:r>
          </a:p>
        </p:txBody>
      </p:sp>
    </p:spTree>
    <p:extLst>
      <p:ext uri="{BB962C8B-B14F-4D97-AF65-F5344CB8AC3E}">
        <p14:creationId xmlns:p14="http://schemas.microsoft.com/office/powerpoint/2010/main" val="4105718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highlight>
                  <a:srgbClr val="FFFF00"/>
                </a:highlight>
              </a:rPr>
              <a:t>Save the World</a:t>
            </a:r>
          </a:p>
        </p:txBody>
      </p:sp>
      <p:pic>
        <p:nvPicPr>
          <p:cNvPr id="4" name="Picture 3"/>
          <p:cNvPicPr>
            <a:picLocks noChangeAspect="1"/>
          </p:cNvPicPr>
          <p:nvPr/>
        </p:nvPicPr>
        <p:blipFill>
          <a:blip r:embed="rId2"/>
          <a:stretch>
            <a:fillRect/>
          </a:stretch>
        </p:blipFill>
        <p:spPr>
          <a:xfrm>
            <a:off x="0" y="1219066"/>
            <a:ext cx="9144000" cy="5348555"/>
          </a:xfrm>
          <a:prstGeom prst="rect">
            <a:avLst/>
          </a:prstGeom>
        </p:spPr>
      </p:pic>
      <p:pic>
        <p:nvPicPr>
          <p:cNvPr id="5" name="Picture 4"/>
          <p:cNvPicPr>
            <a:picLocks noChangeAspect="1"/>
          </p:cNvPicPr>
          <p:nvPr/>
        </p:nvPicPr>
        <p:blipFill>
          <a:blip r:embed="rId3"/>
          <a:stretch>
            <a:fillRect/>
          </a:stretch>
        </p:blipFill>
        <p:spPr>
          <a:xfrm>
            <a:off x="6861277" y="4493418"/>
            <a:ext cx="1975541" cy="1216819"/>
          </a:xfrm>
          <a:prstGeom prst="rect">
            <a:avLst/>
          </a:prstGeom>
        </p:spPr>
      </p:pic>
    </p:spTree>
    <p:extLst>
      <p:ext uri="{BB962C8B-B14F-4D97-AF65-F5344CB8AC3E}">
        <p14:creationId xmlns:p14="http://schemas.microsoft.com/office/powerpoint/2010/main" val="3630883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901"/>
            <a:ext cx="6815138" cy="582612"/>
          </a:xfrm>
        </p:spPr>
        <p:txBody>
          <a:bodyPr>
            <a:normAutofit fontScale="90000"/>
          </a:bodyPr>
          <a:lstStyle/>
          <a:p>
            <a:r>
              <a:rPr lang="en-US" b="1" dirty="0">
                <a:solidFill>
                  <a:srgbClr val="0070C0"/>
                </a:solidFill>
              </a:rPr>
              <a:t>Save the World, cont’d</a:t>
            </a:r>
          </a:p>
        </p:txBody>
      </p:sp>
      <p:pic>
        <p:nvPicPr>
          <p:cNvPr id="3" name="Picture 2"/>
          <p:cNvPicPr>
            <a:picLocks noChangeAspect="1"/>
          </p:cNvPicPr>
          <p:nvPr/>
        </p:nvPicPr>
        <p:blipFill>
          <a:blip r:embed="rId2"/>
          <a:stretch>
            <a:fillRect/>
          </a:stretch>
        </p:blipFill>
        <p:spPr>
          <a:xfrm>
            <a:off x="307181" y="760414"/>
            <a:ext cx="8522494" cy="6018891"/>
          </a:xfrm>
          <a:prstGeom prst="rect">
            <a:avLst/>
          </a:prstGeom>
        </p:spPr>
      </p:pic>
      <p:pic>
        <p:nvPicPr>
          <p:cNvPr id="5" name="Picture 4"/>
          <p:cNvPicPr>
            <a:picLocks noChangeAspect="1"/>
          </p:cNvPicPr>
          <p:nvPr/>
        </p:nvPicPr>
        <p:blipFill>
          <a:blip r:embed="rId3"/>
          <a:stretch>
            <a:fillRect/>
          </a:stretch>
        </p:blipFill>
        <p:spPr>
          <a:xfrm>
            <a:off x="6997008" y="0"/>
            <a:ext cx="1975541" cy="1216819"/>
          </a:xfrm>
          <a:prstGeom prst="rect">
            <a:avLst/>
          </a:prstGeom>
        </p:spPr>
      </p:pic>
    </p:spTree>
    <p:extLst>
      <p:ext uri="{BB962C8B-B14F-4D97-AF65-F5344CB8AC3E}">
        <p14:creationId xmlns:p14="http://schemas.microsoft.com/office/powerpoint/2010/main" val="1386567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slightly more challenging exercise</a:t>
            </a:r>
            <a:br>
              <a:rPr lang="en-US" dirty="0"/>
            </a:br>
            <a:r>
              <a:rPr lang="en-US" dirty="0"/>
              <a:t>(not in your book!)</a:t>
            </a:r>
          </a:p>
        </p:txBody>
      </p:sp>
      <p:sp>
        <p:nvSpPr>
          <p:cNvPr id="3" name="Content Placeholder 2"/>
          <p:cNvSpPr>
            <a:spLocks noGrp="1"/>
          </p:cNvSpPr>
          <p:nvPr>
            <p:ph idx="1"/>
          </p:nvPr>
        </p:nvSpPr>
        <p:spPr>
          <a:xfrm>
            <a:off x="457200" y="1600201"/>
            <a:ext cx="8229600" cy="4772024"/>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120000"/>
              </a:lnSpc>
            </a:pPr>
            <a:r>
              <a:rPr lang="en-US" sz="2800" dirty="0"/>
              <a:t>In the </a:t>
            </a:r>
            <a:r>
              <a:rPr lang="en-US" sz="2800" dirty="0" err="1"/>
              <a:t>CrabWorld</a:t>
            </a:r>
            <a:r>
              <a:rPr lang="en-US" sz="2800" dirty="0"/>
              <a:t> class, modify the </a:t>
            </a:r>
            <a:r>
              <a:rPr lang="en-US" sz="2800" b="1" dirty="0">
                <a:latin typeface="Courier New" panose="02070309020205020404" pitchFamily="49" charset="0"/>
                <a:cs typeface="Courier New" panose="02070309020205020404" pitchFamily="49" charset="0"/>
              </a:rPr>
              <a:t>prepare()</a:t>
            </a:r>
            <a:r>
              <a:rPr lang="en-US" sz="2800" dirty="0"/>
              <a:t> method to use </a:t>
            </a:r>
            <a:r>
              <a:rPr lang="en-US" sz="2800" i="1" dirty="0"/>
              <a:t>random numbers </a:t>
            </a:r>
            <a:r>
              <a:rPr lang="en-US" sz="2800" dirty="0"/>
              <a:t>for the coordinates of each of the 10 worms. You can do this by replacing your coordinate values will calls to get random numbers from the </a:t>
            </a:r>
            <a:r>
              <a:rPr lang="en-US" sz="2800" b="1" dirty="0" err="1">
                <a:latin typeface="Courier New"/>
                <a:cs typeface="Courier New"/>
              </a:rPr>
              <a:t>Greenfoot</a:t>
            </a:r>
            <a:r>
              <a:rPr lang="en-US" sz="2800" dirty="0"/>
              <a:t> class. </a:t>
            </a:r>
          </a:p>
          <a:p>
            <a:pPr lvl="1">
              <a:lnSpc>
                <a:spcPct val="120000"/>
              </a:lnSpc>
            </a:pPr>
            <a:r>
              <a:rPr lang="en-US" sz="2400" b="1" dirty="0">
                <a:solidFill>
                  <a:srgbClr val="FF0000"/>
                </a:solidFill>
              </a:rPr>
              <a:t>Before you start writing any code, first determine what </a:t>
            </a:r>
            <a:r>
              <a:rPr lang="en-US" sz="2400" b="1" i="1" dirty="0">
                <a:solidFill>
                  <a:srgbClr val="FF0000"/>
                </a:solidFill>
              </a:rPr>
              <a:t>range </a:t>
            </a:r>
            <a:r>
              <a:rPr lang="en-US" sz="2400" b="1" dirty="0">
                <a:solidFill>
                  <a:srgbClr val="FF0000"/>
                </a:solidFill>
              </a:rPr>
              <a:t>of possible random values should be generated, and then come up with an appropriate expression that will generate a random integer in that range.</a:t>
            </a:r>
          </a:p>
          <a:p>
            <a:pPr>
              <a:lnSpc>
                <a:spcPct val="120000"/>
              </a:lnSpc>
            </a:pPr>
            <a:endParaRPr lang="en-US" sz="2800" dirty="0"/>
          </a:p>
        </p:txBody>
      </p:sp>
    </p:spTree>
    <p:extLst>
      <p:ext uri="{BB962C8B-B14F-4D97-AF65-F5344CB8AC3E}">
        <p14:creationId xmlns:p14="http://schemas.microsoft.com/office/powerpoint/2010/main" val="2653093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5783"/>
            <a:ext cx="8229600" cy="1143000"/>
          </a:xfrm>
        </p:spPr>
        <p:txBody>
          <a:bodyPr/>
          <a:lstStyle/>
          <a:p>
            <a:r>
              <a:rPr lang="en-US" b="1" dirty="0">
                <a:solidFill>
                  <a:srgbClr val="0070C0"/>
                </a:solidFill>
              </a:rPr>
              <a:t>Animating images</a:t>
            </a:r>
          </a:p>
        </p:txBody>
      </p:sp>
      <p:sp>
        <p:nvSpPr>
          <p:cNvPr id="3" name="Content Placeholder 2"/>
          <p:cNvSpPr>
            <a:spLocks noGrp="1"/>
          </p:cNvSpPr>
          <p:nvPr>
            <p:ph idx="1"/>
          </p:nvPr>
        </p:nvSpPr>
        <p:spPr>
          <a:xfrm>
            <a:off x="457200" y="1455060"/>
            <a:ext cx="8229600" cy="4525963"/>
          </a:xfrm>
        </p:spPr>
        <p:txBody>
          <a:bodyPr vert="horz" lIns="91440" tIns="45720" rIns="91440" bIns="45720" rtlCol="0" anchor="t">
            <a:normAutofit/>
          </a:bodyPr>
          <a:lstStyle/>
          <a:p>
            <a:r>
              <a:rPr lang="en-US" sz="2800" dirty="0"/>
              <a:t>Let's improve the appearance of the crab's movement using animation</a:t>
            </a:r>
            <a:r>
              <a:rPr lang="en-US" sz="2800" dirty="0">
                <a:highlight>
                  <a:srgbClr val="FFFF00"/>
                </a:highlight>
              </a:rPr>
              <a:t>,</a:t>
            </a:r>
            <a:r>
              <a:rPr lang="en-US" sz="2800" dirty="0"/>
              <a:t> so that it appears to move its legs while it is walking</a:t>
            </a:r>
          </a:p>
          <a:p>
            <a:r>
              <a:rPr lang="en-US" sz="2800" dirty="0"/>
              <a:t>Animation is achieved with a simple trick: </a:t>
            </a:r>
          </a:p>
          <a:p>
            <a:pPr lvl="1"/>
            <a:r>
              <a:rPr lang="en-US" sz="2400" dirty="0"/>
              <a:t>We have two images of the crab (</a:t>
            </a:r>
            <a:r>
              <a:rPr lang="en-US" sz="2400" b="1" dirty="0">
                <a:latin typeface="Courier New"/>
                <a:cs typeface="Courier New"/>
              </a:rPr>
              <a:t>crab.png</a:t>
            </a:r>
            <a:r>
              <a:rPr lang="en-US" sz="2400" dirty="0"/>
              <a:t> and </a:t>
            </a:r>
            <a:r>
              <a:rPr lang="en-US" sz="2400" b="1" dirty="0">
                <a:latin typeface="Courier New"/>
                <a:cs typeface="Courier New"/>
              </a:rPr>
              <a:t>crab2.png</a:t>
            </a:r>
            <a:r>
              <a:rPr lang="en-US" sz="2400" dirty="0"/>
              <a:t>), and we simply switch the crab's images between these two versions fairly quickly</a:t>
            </a:r>
            <a:endParaRPr lang="en-US" sz="2400" dirty="0">
              <a:highlight>
                <a:srgbClr val="FFFF00"/>
              </a:highlight>
              <a:ea typeface="Calibri"/>
              <a:cs typeface="Calibri"/>
            </a:endParaRPr>
          </a:p>
        </p:txBody>
      </p:sp>
      <p:pic>
        <p:nvPicPr>
          <p:cNvPr id="4" name="Picture 3" descr="Fig-4-2-a.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123" y="4575268"/>
            <a:ext cx="2462590" cy="1723000"/>
          </a:xfrm>
          <a:prstGeom prst="rect">
            <a:avLst/>
          </a:prstGeom>
        </p:spPr>
      </p:pic>
      <p:pic>
        <p:nvPicPr>
          <p:cNvPr id="5" name="Picture 4" descr="Fig-4-2-b.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645" y="4630060"/>
            <a:ext cx="2414210" cy="1689150"/>
          </a:xfrm>
          <a:prstGeom prst="rect">
            <a:avLst/>
          </a:prstGeom>
        </p:spPr>
      </p:pic>
      <p:sp>
        <p:nvSpPr>
          <p:cNvPr id="6" name="Rectangle 5"/>
          <p:cNvSpPr/>
          <p:nvPr/>
        </p:nvSpPr>
        <p:spPr>
          <a:xfrm>
            <a:off x="898012" y="6113602"/>
            <a:ext cx="1300356" cy="646331"/>
          </a:xfrm>
          <a:prstGeom prst="rect">
            <a:avLst/>
          </a:prstGeom>
        </p:spPr>
        <p:txBody>
          <a:bodyPr wrap="none">
            <a:spAutoFit/>
          </a:bodyPr>
          <a:lstStyle/>
          <a:p>
            <a:pPr algn="ctr"/>
            <a:r>
              <a:rPr lang="en-US" b="1" dirty="0" err="1">
                <a:latin typeface="Courier New"/>
                <a:cs typeface="Courier New"/>
              </a:rPr>
              <a:t>crab.png</a:t>
            </a:r>
            <a:br>
              <a:rPr lang="en-US" b="1" dirty="0">
                <a:latin typeface="Courier New"/>
                <a:cs typeface="Courier New"/>
              </a:rPr>
            </a:br>
            <a:r>
              <a:rPr lang="en-US" b="1" dirty="0">
                <a:cs typeface="Courier New"/>
              </a:rPr>
              <a:t>(legs </a:t>
            </a:r>
            <a:r>
              <a:rPr lang="en-US" b="1" i="1" dirty="0">
                <a:cs typeface="Courier New"/>
              </a:rPr>
              <a:t>out</a:t>
            </a:r>
            <a:r>
              <a:rPr lang="en-US" b="1" dirty="0">
                <a:cs typeface="Courier New"/>
              </a:rPr>
              <a:t>)</a:t>
            </a:r>
            <a:endParaRPr lang="en-US" dirty="0"/>
          </a:p>
        </p:txBody>
      </p:sp>
      <p:sp>
        <p:nvSpPr>
          <p:cNvPr id="7" name="Rectangle 6"/>
          <p:cNvSpPr/>
          <p:nvPr/>
        </p:nvSpPr>
        <p:spPr>
          <a:xfrm>
            <a:off x="3626697" y="6134544"/>
            <a:ext cx="1431364" cy="646331"/>
          </a:xfrm>
          <a:prstGeom prst="rect">
            <a:avLst/>
          </a:prstGeom>
        </p:spPr>
        <p:txBody>
          <a:bodyPr wrap="none">
            <a:spAutoFit/>
          </a:bodyPr>
          <a:lstStyle/>
          <a:p>
            <a:pPr algn="ctr"/>
            <a:r>
              <a:rPr lang="en-US" b="1" dirty="0">
                <a:latin typeface="Courier New"/>
                <a:cs typeface="Courier New"/>
              </a:rPr>
              <a:t>crab2.png</a:t>
            </a:r>
            <a:br>
              <a:rPr lang="en-US" b="1" dirty="0">
                <a:latin typeface="Courier New"/>
                <a:cs typeface="Courier New"/>
              </a:rPr>
            </a:br>
            <a:r>
              <a:rPr lang="en-US" b="1" dirty="0">
                <a:cs typeface="Courier New"/>
              </a:rPr>
              <a:t>(legs </a:t>
            </a:r>
            <a:r>
              <a:rPr lang="en-US" b="1" i="1" dirty="0">
                <a:cs typeface="Courier New"/>
              </a:rPr>
              <a:t>in</a:t>
            </a:r>
            <a:r>
              <a:rPr lang="en-US" b="1" dirty="0">
                <a:cs typeface="Courier New"/>
              </a:rPr>
              <a:t>)</a:t>
            </a:r>
            <a:endParaRPr lang="en-US" dirty="0"/>
          </a:p>
        </p:txBody>
      </p:sp>
      <p:sp>
        <p:nvSpPr>
          <p:cNvPr id="8" name="TextBox 7"/>
          <p:cNvSpPr txBox="1"/>
          <p:nvPr/>
        </p:nvSpPr>
        <p:spPr>
          <a:xfrm>
            <a:off x="5672667" y="4630060"/>
            <a:ext cx="3314095"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In order to accomplish this, we have to use some more variables and also discuss how to work with </a:t>
            </a:r>
            <a:r>
              <a:rPr lang="en-US" sz="2400" i="1" dirty="0" err="1"/>
              <a:t>Greenfoot</a:t>
            </a:r>
            <a:r>
              <a:rPr lang="en-US" sz="2400" i="1" dirty="0"/>
              <a:t> images</a:t>
            </a:r>
            <a:r>
              <a:rPr lang="en-US" sz="2400" dirty="0"/>
              <a:t>.</a:t>
            </a:r>
          </a:p>
        </p:txBody>
      </p:sp>
    </p:spTree>
    <p:extLst>
      <p:ext uri="{BB962C8B-B14F-4D97-AF65-F5344CB8AC3E}">
        <p14:creationId xmlns:p14="http://schemas.microsoft.com/office/powerpoint/2010/main" val="1368569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1303338"/>
          </a:xfrm>
        </p:spPr>
        <p:style>
          <a:lnRef idx="1">
            <a:schemeClr val="accent3"/>
          </a:lnRef>
          <a:fillRef idx="2">
            <a:schemeClr val="accent3"/>
          </a:fillRef>
          <a:effectRef idx="1">
            <a:schemeClr val="accent3"/>
          </a:effectRef>
          <a:fontRef idx="minor">
            <a:schemeClr val="dk1"/>
          </a:fontRef>
        </p:style>
        <p:txBody>
          <a:bodyPr>
            <a:noAutofit/>
          </a:bodyPr>
          <a:lstStyle/>
          <a:p>
            <a:r>
              <a:rPr lang="en-US" sz="2800" b="1" dirty="0">
                <a:solidFill>
                  <a:srgbClr val="FF0000"/>
                </a:solidFill>
              </a:rPr>
              <a:t>Concept: </a:t>
            </a:r>
            <a:r>
              <a:rPr lang="en-US" sz="2800" dirty="0" err="1"/>
              <a:t>Greenfoot</a:t>
            </a:r>
            <a:r>
              <a:rPr lang="en-US" sz="2800" dirty="0"/>
              <a:t> actors maintain their visible image by holding [a reference to] an object of type </a:t>
            </a:r>
            <a:r>
              <a:rPr lang="en-US" sz="2800" dirty="0" err="1">
                <a:latin typeface="Calibri"/>
                <a:ea typeface="Calibri"/>
                <a:cs typeface="Calibri"/>
              </a:rPr>
              <a:t>GreenfootImage</a:t>
            </a:r>
            <a:endParaRPr lang="en-US" sz="2800" dirty="0" err="1">
              <a:highlight>
                <a:srgbClr val="FFFF00"/>
              </a:highlight>
              <a:ea typeface="Calibri"/>
              <a:cs typeface="Calibri"/>
            </a:endParaRPr>
          </a:p>
        </p:txBody>
      </p:sp>
      <p:sp>
        <p:nvSpPr>
          <p:cNvPr id="3" name="Content Placeholder 2"/>
          <p:cNvSpPr>
            <a:spLocks noGrp="1"/>
          </p:cNvSpPr>
          <p:nvPr>
            <p:ph idx="1"/>
          </p:nvPr>
        </p:nvSpPr>
        <p:spPr/>
        <p:txBody>
          <a:bodyPr>
            <a:noAutofit/>
          </a:bodyPr>
          <a:lstStyle/>
          <a:p>
            <a:r>
              <a:rPr lang="en-US" sz="2400" b="1" dirty="0" err="1">
                <a:latin typeface="Courier New"/>
                <a:cs typeface="Courier New"/>
              </a:rPr>
              <a:t>GreenfootImage</a:t>
            </a:r>
            <a:r>
              <a:rPr lang="en-US" sz="2400" dirty="0"/>
              <a:t> helps in using and manipulating images. </a:t>
            </a:r>
          </a:p>
          <a:p>
            <a:r>
              <a:rPr lang="en-US" sz="2400" dirty="0"/>
              <a:t>We can obtain an image by instantiating (and constructing) a new </a:t>
            </a:r>
            <a:r>
              <a:rPr lang="en-US" sz="2400" b="1" dirty="0" err="1">
                <a:latin typeface="Courier New"/>
                <a:cs typeface="Courier New"/>
              </a:rPr>
              <a:t>GreenfootImage</a:t>
            </a:r>
            <a:r>
              <a:rPr lang="en-US" sz="2400" dirty="0"/>
              <a:t> object—using Java's </a:t>
            </a:r>
            <a:r>
              <a:rPr lang="en-US" sz="2400" b="1" dirty="0">
                <a:latin typeface="Courier New"/>
                <a:cs typeface="Courier New"/>
              </a:rPr>
              <a:t>new</a:t>
            </a:r>
            <a:r>
              <a:rPr lang="en-US" sz="2400" dirty="0"/>
              <a:t> keyword—with the filename of the image file as a parameter to the constructor. For example, to get access to the </a:t>
            </a:r>
            <a:r>
              <a:rPr lang="en-US" sz="2400" b="1" dirty="0">
                <a:latin typeface="Courier New"/>
                <a:cs typeface="Courier New"/>
              </a:rPr>
              <a:t>crab2.png </a:t>
            </a:r>
            <a:r>
              <a:rPr lang="en-US" sz="2400" dirty="0"/>
              <a:t>image, we can write:</a:t>
            </a:r>
          </a:p>
          <a:p>
            <a:endParaRPr lang="en-US" sz="2400" dirty="0"/>
          </a:p>
          <a:p>
            <a:endParaRPr lang="en-US" sz="2400" dirty="0"/>
          </a:p>
          <a:p>
            <a:r>
              <a:rPr lang="en-US" sz="1800" dirty="0"/>
              <a:t>All </a:t>
            </a:r>
            <a:r>
              <a:rPr lang="en-US" sz="1800" dirty="0" err="1"/>
              <a:t>Greenfoot</a:t>
            </a:r>
            <a:r>
              <a:rPr lang="en-US" sz="1800" dirty="0"/>
              <a:t> actors have images. By default, actors get their image from their class. We assign an image to the class when we create it, and every object created from that class will receive, upon creation, a copy of that same image. </a:t>
            </a:r>
          </a:p>
        </p:txBody>
      </p:sp>
      <p:sp>
        <p:nvSpPr>
          <p:cNvPr id="4" name="TextBox 3"/>
          <p:cNvSpPr txBox="1"/>
          <p:nvPr/>
        </p:nvSpPr>
        <p:spPr>
          <a:xfrm>
            <a:off x="689429" y="4046283"/>
            <a:ext cx="4777619" cy="369332"/>
          </a:xfrm>
          <a:prstGeom prst="rect">
            <a:avLst/>
          </a:prstGeom>
          <a:noFill/>
        </p:spPr>
        <p:txBody>
          <a:bodyPr wrap="square" rtlCol="0">
            <a:spAutoFit/>
          </a:bodyPr>
          <a:lstStyle/>
          <a:p>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"crab2.png"</a:t>
            </a:r>
            <a:r>
              <a:rPr lang="en-US" b="1" dirty="0">
                <a:latin typeface="Courier New"/>
                <a:cs typeface="Courier New"/>
              </a:rPr>
              <a:t>)</a:t>
            </a:r>
          </a:p>
        </p:txBody>
      </p:sp>
      <p:sp>
        <p:nvSpPr>
          <p:cNvPr id="7" name="Rectangle 6"/>
          <p:cNvSpPr/>
          <p:nvPr/>
        </p:nvSpPr>
        <p:spPr>
          <a:xfrm>
            <a:off x="749904" y="5745240"/>
            <a:ext cx="7961086"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lIns="91440" tIns="45720" rIns="91440" bIns="45720" anchor="t">
            <a:spAutoFit/>
          </a:bodyPr>
          <a:lstStyle/>
          <a:p>
            <a:r>
              <a:rPr lang="en-US" sz="2000" dirty="0"/>
              <a:t>This does not mean, however, that all objects of the same class must always keep the same image. Every individual </a:t>
            </a:r>
            <a:r>
              <a:rPr lang="en-US" sz="2000"/>
              <a:t>actor</a:t>
            </a:r>
            <a:r>
              <a:rPr lang="en-US" sz="2000" dirty="0"/>
              <a:t> can decide to change its image at anytime</a:t>
            </a:r>
            <a:r>
              <a:rPr lang="en-US" sz="2000" b="1" i="1" dirty="0">
                <a:highlight>
                  <a:srgbClr val="FFFF00"/>
                </a:highlight>
              </a:rPr>
              <a:t>.</a:t>
            </a:r>
          </a:p>
        </p:txBody>
      </p:sp>
      <p:sp>
        <p:nvSpPr>
          <p:cNvPr id="8" name="Left Arrow Callout 7"/>
          <p:cNvSpPr/>
          <p:nvPr/>
        </p:nvSpPr>
        <p:spPr>
          <a:xfrm>
            <a:off x="5116286" y="3701142"/>
            <a:ext cx="3810000" cy="1016000"/>
          </a:xfrm>
          <a:prstGeom prst="leftArrowCallout">
            <a:avLst>
              <a:gd name="adj1" fmla="val 25000"/>
              <a:gd name="adj2" fmla="val 25000"/>
              <a:gd name="adj3" fmla="val 25000"/>
              <a:gd name="adj4" fmla="val 83072"/>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Note that the file we name here must exist in the scenario's </a:t>
            </a:r>
            <a:r>
              <a:rPr lang="en-US" i="1" dirty="0"/>
              <a:t>images</a:t>
            </a:r>
            <a:r>
              <a:rPr lang="en-US" dirty="0"/>
              <a:t> folder.</a:t>
            </a:r>
          </a:p>
        </p:txBody>
      </p:sp>
    </p:spTree>
    <p:extLst>
      <p:ext uri="{BB962C8B-B14F-4D97-AF65-F5344CB8AC3E}">
        <p14:creationId xmlns:p14="http://schemas.microsoft.com/office/powerpoint/2010/main" val="387807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exercise</a:t>
            </a:r>
          </a:p>
        </p:txBody>
      </p:sp>
      <p:sp>
        <p:nvSpPr>
          <p:cNvPr id="3" name="Content Placeholder 2"/>
          <p:cNvSpPr>
            <a:spLocks noGrp="1"/>
          </p:cNvSpPr>
          <p:nvPr>
            <p:ph idx="1"/>
          </p:nvPr>
        </p:nvSpPr>
        <p:spPr>
          <a:xfrm>
            <a:off x="457200" y="1600201"/>
            <a:ext cx="8229600" cy="1955800"/>
          </a:xfrm>
        </p:spPr>
        <p:style>
          <a:lnRef idx="1">
            <a:schemeClr val="accent3"/>
          </a:lnRef>
          <a:fillRef idx="2">
            <a:schemeClr val="accent3"/>
          </a:fillRef>
          <a:effectRef idx="1">
            <a:schemeClr val="accent3"/>
          </a:effectRef>
          <a:fontRef idx="minor">
            <a:schemeClr val="dk1"/>
          </a:fontRef>
        </p:style>
        <p:txBody>
          <a:bodyPr>
            <a:normAutofit/>
          </a:bodyPr>
          <a:lstStyle/>
          <a:p>
            <a:r>
              <a:rPr lang="en-US" sz="2800" b="1" dirty="0">
                <a:solidFill>
                  <a:srgbClr val="008000"/>
                </a:solidFill>
              </a:rPr>
              <a:t>4.15</a:t>
            </a:r>
            <a:r>
              <a:rPr lang="en-US" sz="2800" dirty="0"/>
              <a:t> – Check the documentation of the </a:t>
            </a:r>
            <a:r>
              <a:rPr lang="en-US" sz="2800" b="1" dirty="0">
                <a:latin typeface="Courier New"/>
                <a:cs typeface="Courier New"/>
              </a:rPr>
              <a:t>Actor</a:t>
            </a:r>
            <a:r>
              <a:rPr lang="en-US" sz="2800" dirty="0"/>
              <a:t> class. There are </a:t>
            </a:r>
            <a:r>
              <a:rPr lang="en-US" sz="2800" u="sng" dirty="0"/>
              <a:t>two methods</a:t>
            </a:r>
            <a:r>
              <a:rPr lang="en-US" sz="2800" dirty="0"/>
              <a:t> that allow us to change an actor's image. What are they </a:t>
            </a:r>
            <a:r>
              <a:rPr lang="en-US" sz="2800" i="1" dirty="0"/>
              <a:t>called</a:t>
            </a:r>
            <a:r>
              <a:rPr lang="en-US" sz="2800" dirty="0"/>
              <a:t>, and what are their </a:t>
            </a:r>
            <a:r>
              <a:rPr lang="en-US" sz="2800" i="1" dirty="0"/>
              <a:t>parameters</a:t>
            </a:r>
            <a:r>
              <a:rPr lang="en-US" sz="2800" dirty="0"/>
              <a:t>? What do they </a:t>
            </a:r>
            <a:r>
              <a:rPr lang="en-US" sz="2800" i="1" dirty="0"/>
              <a:t>return</a:t>
            </a:r>
            <a:r>
              <a:rPr lang="en-US" sz="2800" dirty="0"/>
              <a:t>?</a:t>
            </a:r>
          </a:p>
        </p:txBody>
      </p:sp>
      <p:pic>
        <p:nvPicPr>
          <p:cNvPr id="5" name="Picture 4" descr="Screen Shot 2011-09-05 at 2.56.0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6" y="4255105"/>
            <a:ext cx="5397500" cy="1066800"/>
          </a:xfrm>
          <a:prstGeom prst="rect">
            <a:avLst/>
          </a:prstGeom>
        </p:spPr>
      </p:pic>
      <p:grpSp>
        <p:nvGrpSpPr>
          <p:cNvPr id="8" name="Group 7"/>
          <p:cNvGrpSpPr/>
          <p:nvPr/>
        </p:nvGrpSpPr>
        <p:grpSpPr>
          <a:xfrm>
            <a:off x="69545" y="3894670"/>
            <a:ext cx="8905122" cy="1245810"/>
            <a:chOff x="69545" y="3894670"/>
            <a:chExt cx="8905122" cy="1245810"/>
          </a:xfrm>
        </p:grpSpPr>
        <p:sp>
          <p:nvSpPr>
            <p:cNvPr id="6" name="Left Arrow Callout 5"/>
            <p:cNvSpPr/>
            <p:nvPr/>
          </p:nvSpPr>
          <p:spPr>
            <a:xfrm>
              <a:off x="5370286" y="3894670"/>
              <a:ext cx="3604381" cy="1245810"/>
            </a:xfrm>
            <a:prstGeom prst="leftArrowCallout">
              <a:avLst>
                <a:gd name="adj1" fmla="val 25000"/>
                <a:gd name="adj2" fmla="val 25000"/>
                <a:gd name="adj3" fmla="val 25000"/>
                <a:gd name="adj4" fmla="val 79407"/>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dirty="0"/>
                <a:t>This is the version of the </a:t>
              </a:r>
              <a:r>
                <a:rPr lang="en-US" b="1" dirty="0" err="1">
                  <a:latin typeface="Courier New"/>
                  <a:cs typeface="Courier New"/>
                </a:rPr>
                <a:t>setImage</a:t>
              </a:r>
              <a:r>
                <a:rPr lang="en-US" dirty="0"/>
                <a:t> method that we shall use.</a:t>
              </a:r>
            </a:p>
          </p:txBody>
        </p:sp>
        <p:sp>
          <p:nvSpPr>
            <p:cNvPr id="7" name="Rounded Rectangle 6"/>
            <p:cNvSpPr/>
            <p:nvPr/>
          </p:nvSpPr>
          <p:spPr>
            <a:xfrm>
              <a:off x="69545" y="4255105"/>
              <a:ext cx="5240265" cy="546098"/>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5892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524" y="105305"/>
            <a:ext cx="8793238" cy="1143000"/>
          </a:xfrm>
        </p:spPr>
        <p:txBody>
          <a:bodyPr>
            <a:noAutofit/>
          </a:bodyPr>
          <a:lstStyle/>
          <a:p>
            <a:r>
              <a:rPr lang="en-US" sz="2800" dirty="0"/>
              <a:t>Using the </a:t>
            </a:r>
            <a:r>
              <a:rPr lang="en-US" sz="2800" dirty="0" err="1">
                <a:latin typeface="Calibri"/>
                <a:ea typeface="Calibri"/>
                <a:cs typeface="Calibri"/>
              </a:rPr>
              <a:t>setImage</a:t>
            </a:r>
            <a:r>
              <a:rPr lang="en-US" sz="2800" b="1" dirty="0">
                <a:highlight>
                  <a:srgbClr val="FFFF00"/>
                </a:highlight>
                <a:latin typeface="Courier New"/>
                <a:cs typeface="Courier New"/>
              </a:rPr>
              <a:t> </a:t>
            </a:r>
            <a:r>
              <a:rPr lang="en-US" sz="2800" dirty="0"/>
              <a:t>method (with the </a:t>
            </a:r>
            <a:r>
              <a:rPr lang="en-US" sz="2800" b="1" dirty="0" err="1">
                <a:latin typeface="Courier New"/>
                <a:cs typeface="Courier New"/>
              </a:rPr>
              <a:t>GreenfootImage</a:t>
            </a:r>
            <a:r>
              <a:rPr lang="en-US" sz="2800" dirty="0"/>
              <a:t> </a:t>
            </a:r>
            <a:r>
              <a:rPr lang="en-US" sz="2800" dirty="0">
                <a:highlight>
                  <a:srgbClr val="FFFF00"/>
                </a:highlight>
              </a:rPr>
              <a:t>parameter)</a:t>
            </a:r>
            <a:r>
              <a:rPr lang="en-US" sz="2800" dirty="0"/>
              <a:t> to update</a:t>
            </a:r>
            <a:r>
              <a:rPr lang="en-US" sz="2800" i="1" dirty="0"/>
              <a:t> </a:t>
            </a:r>
            <a:r>
              <a:rPr lang="en-US" sz="2800" dirty="0"/>
              <a:t>the crab's image</a:t>
            </a:r>
          </a:p>
        </p:txBody>
      </p:sp>
      <p:sp>
        <p:nvSpPr>
          <p:cNvPr id="3" name="Content Placeholder 2"/>
          <p:cNvSpPr>
            <a:spLocks noGrp="1"/>
          </p:cNvSpPr>
          <p:nvPr>
            <p:ph idx="1"/>
          </p:nvPr>
        </p:nvSpPr>
        <p:spPr>
          <a:xfrm>
            <a:off x="457200" y="1248305"/>
            <a:ext cx="8229600" cy="3918858"/>
          </a:xfrm>
        </p:spPr>
        <p:txBody>
          <a:bodyPr>
            <a:normAutofit fontScale="92500" lnSpcReduction="20000"/>
          </a:bodyPr>
          <a:lstStyle/>
          <a:p>
            <a:r>
              <a:rPr lang="en-US" sz="2400" dirty="0"/>
              <a:t>Here is a code snippet that we can use:</a:t>
            </a:r>
          </a:p>
          <a:p>
            <a:endParaRPr lang="en-US" sz="2400" dirty="0"/>
          </a:p>
          <a:p>
            <a:endParaRPr lang="en-US" sz="2400" dirty="0"/>
          </a:p>
          <a:p>
            <a:r>
              <a:rPr lang="en-US" sz="2400" dirty="0"/>
              <a:t>Note that the above line of code does two things:</a:t>
            </a:r>
          </a:p>
          <a:p>
            <a:pPr lvl="1"/>
            <a:r>
              <a:rPr lang="en-US" sz="2000" dirty="0"/>
              <a:t>We call the </a:t>
            </a:r>
            <a:r>
              <a:rPr lang="en-US" sz="2000" b="1" dirty="0" err="1">
                <a:latin typeface="Courier New"/>
                <a:cs typeface="Courier New"/>
              </a:rPr>
              <a:t>setImage</a:t>
            </a:r>
            <a:r>
              <a:rPr lang="en-US" sz="2000" b="1" dirty="0">
                <a:latin typeface="Courier New"/>
                <a:cs typeface="Courier New"/>
              </a:rPr>
              <a:t> </a:t>
            </a:r>
            <a:r>
              <a:rPr lang="en-US" sz="2000" dirty="0"/>
              <a:t>method, which expects an image as a </a:t>
            </a:r>
            <a:r>
              <a:rPr lang="en-US" sz="2000" i="1" dirty="0"/>
              <a:t>parameter</a:t>
            </a:r>
            <a:r>
              <a:rPr lang="en-US" sz="2000" dirty="0"/>
              <a:t>:</a:t>
            </a:r>
          </a:p>
          <a:p>
            <a:pPr lvl="1"/>
            <a:endParaRPr lang="en-US" sz="2000" dirty="0"/>
          </a:p>
          <a:p>
            <a:pPr lvl="1"/>
            <a:endParaRPr lang="en-US" sz="2000" dirty="0"/>
          </a:p>
          <a:p>
            <a:pPr lvl="1"/>
            <a:r>
              <a:rPr lang="en-US" sz="2000" dirty="0"/>
              <a:t>And in place of </a:t>
            </a:r>
            <a:r>
              <a:rPr lang="en-US" sz="2000" b="1" i="1" dirty="0">
                <a:solidFill>
                  <a:schemeClr val="bg1">
                    <a:lumMod val="65000"/>
                  </a:schemeClr>
                </a:solidFill>
                <a:latin typeface="Courier New"/>
                <a:cs typeface="Courier New"/>
              </a:rPr>
              <a:t>some-image </a:t>
            </a:r>
            <a:r>
              <a:rPr lang="en-US" sz="2000" dirty="0"/>
              <a:t>we write </a:t>
            </a:r>
          </a:p>
          <a:p>
            <a:pPr lvl="1"/>
            <a:endParaRPr lang="en-US" sz="2000" dirty="0"/>
          </a:p>
          <a:p>
            <a:pPr lvl="1"/>
            <a:endParaRPr lang="en-US" sz="2000" dirty="0"/>
          </a:p>
          <a:p>
            <a:r>
              <a:rPr lang="en-US" sz="2400" dirty="0"/>
              <a:t>This creates the image object from the named image file </a:t>
            </a:r>
            <a:r>
              <a:rPr lang="en-US" sz="2400" b="1" dirty="0">
                <a:latin typeface="Courier New"/>
                <a:cs typeface="Courier New"/>
              </a:rPr>
              <a:t>crab2.png</a:t>
            </a:r>
            <a:r>
              <a:rPr lang="en-US" sz="2400" dirty="0"/>
              <a:t>.</a:t>
            </a:r>
          </a:p>
        </p:txBody>
      </p:sp>
      <p:sp>
        <p:nvSpPr>
          <p:cNvPr id="4" name="TextBox 3"/>
          <p:cNvSpPr txBox="1"/>
          <p:nvPr/>
        </p:nvSpPr>
        <p:spPr>
          <a:xfrm>
            <a:off x="469295" y="1621210"/>
            <a:ext cx="8394095" cy="461665"/>
          </a:xfrm>
          <a:prstGeom prst="rect">
            <a:avLst/>
          </a:prstGeom>
          <a:noFill/>
        </p:spPr>
        <p:txBody>
          <a:bodyPr wrap="square" rtlCol="0">
            <a:spAutoFit/>
          </a:bodyPr>
          <a:lstStyle/>
          <a:p>
            <a:r>
              <a:rPr lang="en-US" sz="2400" b="1" dirty="0" err="1">
                <a:latin typeface="Courier New"/>
                <a:cs typeface="Courier New"/>
              </a:rPr>
              <a:t>setImage</a:t>
            </a:r>
            <a:r>
              <a:rPr lang="en-US" sz="2400" b="1" dirty="0">
                <a:latin typeface="Courier New"/>
                <a:cs typeface="Courier New"/>
              </a:rPr>
              <a:t>( </a:t>
            </a:r>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 );</a:t>
            </a:r>
          </a:p>
        </p:txBody>
      </p:sp>
      <p:sp>
        <p:nvSpPr>
          <p:cNvPr id="5" name="TextBox 4"/>
          <p:cNvSpPr txBox="1"/>
          <p:nvPr/>
        </p:nvSpPr>
        <p:spPr>
          <a:xfrm>
            <a:off x="1182915" y="2865344"/>
            <a:ext cx="4547809" cy="461665"/>
          </a:xfrm>
          <a:prstGeom prst="rect">
            <a:avLst/>
          </a:prstGeom>
          <a:noFill/>
        </p:spPr>
        <p:txBody>
          <a:bodyPr wrap="square" rtlCol="0">
            <a:spAutoFit/>
          </a:bodyPr>
          <a:lstStyle/>
          <a:p>
            <a:r>
              <a:rPr lang="en-US" sz="2400" b="1" dirty="0" err="1">
                <a:latin typeface="Courier New"/>
                <a:cs typeface="Courier New"/>
              </a:rPr>
              <a:t>setImage</a:t>
            </a:r>
            <a:r>
              <a:rPr lang="en-US" sz="2400" b="1" dirty="0">
                <a:latin typeface="Courier New"/>
                <a:cs typeface="Courier New"/>
              </a:rPr>
              <a:t>( </a:t>
            </a:r>
            <a:r>
              <a:rPr lang="en-US" sz="2400" b="1" i="1" dirty="0">
                <a:solidFill>
                  <a:schemeClr val="bg1">
                    <a:lumMod val="65000"/>
                  </a:schemeClr>
                </a:solidFill>
                <a:latin typeface="Courier New"/>
                <a:cs typeface="Courier New"/>
              </a:rPr>
              <a:t>some-image </a:t>
            </a:r>
            <a:r>
              <a:rPr lang="en-US" sz="2400" b="1" dirty="0">
                <a:latin typeface="Courier New"/>
                <a:cs typeface="Courier New"/>
              </a:rPr>
              <a:t>);</a:t>
            </a:r>
          </a:p>
        </p:txBody>
      </p:sp>
      <p:sp>
        <p:nvSpPr>
          <p:cNvPr id="6" name="TextBox 5"/>
          <p:cNvSpPr txBox="1"/>
          <p:nvPr/>
        </p:nvSpPr>
        <p:spPr>
          <a:xfrm>
            <a:off x="1207105" y="3729225"/>
            <a:ext cx="6219372" cy="461665"/>
          </a:xfrm>
          <a:prstGeom prst="rect">
            <a:avLst/>
          </a:prstGeom>
          <a:noFill/>
        </p:spPr>
        <p:txBody>
          <a:bodyPr wrap="square" rtlCol="0">
            <a:spAutoFit/>
          </a:bodyPr>
          <a:lstStyle/>
          <a:p>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a:t>
            </a:r>
          </a:p>
        </p:txBody>
      </p:sp>
      <p:sp>
        <p:nvSpPr>
          <p:cNvPr id="7" name="Rectangle 6"/>
          <p:cNvSpPr/>
          <p:nvPr/>
        </p:nvSpPr>
        <p:spPr>
          <a:xfrm>
            <a:off x="193524" y="4985734"/>
            <a:ext cx="8793238" cy="83099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a:t>When the whole line is executed, the </a:t>
            </a:r>
            <a:r>
              <a:rPr lang="en-US" sz="1600" b="1" i="1" dirty="0"/>
              <a:t>inner</a:t>
            </a:r>
            <a:r>
              <a:rPr lang="en-US" sz="1600" dirty="0"/>
              <a:t> part of the code—</a:t>
            </a:r>
            <a:r>
              <a:rPr lang="en-US" sz="1600" u="sng" dirty="0"/>
              <a:t>the creation of the </a:t>
            </a:r>
            <a:r>
              <a:rPr lang="en-US" sz="1600" b="1" u="sng" dirty="0" err="1">
                <a:latin typeface="Courier New"/>
                <a:cs typeface="Courier New"/>
              </a:rPr>
              <a:t>GreenfootImage</a:t>
            </a:r>
            <a:r>
              <a:rPr lang="en-US" sz="1600" b="1" u="sng" dirty="0">
                <a:latin typeface="Courier New"/>
                <a:cs typeface="Courier New"/>
              </a:rPr>
              <a:t> </a:t>
            </a:r>
            <a:r>
              <a:rPr lang="en-US" sz="1600" u="sng" dirty="0"/>
              <a:t>object</a:t>
            </a:r>
            <a:r>
              <a:rPr lang="en-US" sz="1600" dirty="0"/>
              <a:t>—is executed </a:t>
            </a:r>
            <a:r>
              <a:rPr lang="en-US" sz="1600" b="1" u="sng" dirty="0"/>
              <a:t>first</a:t>
            </a:r>
            <a:r>
              <a:rPr lang="en-US" sz="1600" dirty="0"/>
              <a:t>. </a:t>
            </a:r>
            <a:r>
              <a:rPr lang="en-US" sz="1600" i="1" dirty="0"/>
              <a:t>Following</a:t>
            </a:r>
            <a:r>
              <a:rPr lang="en-US" sz="1600" dirty="0"/>
              <a:t> that, the </a:t>
            </a:r>
            <a:r>
              <a:rPr lang="en-US" sz="1600" b="1" i="1" dirty="0"/>
              <a:t>outer</a:t>
            </a:r>
            <a:r>
              <a:rPr lang="en-US" sz="1600" dirty="0"/>
              <a:t> part of the code— the </a:t>
            </a:r>
            <a:r>
              <a:rPr lang="en-US" sz="1600" b="1" dirty="0" err="1">
                <a:latin typeface="Courier New"/>
                <a:cs typeface="Courier New"/>
              </a:rPr>
              <a:t>setImage</a:t>
            </a:r>
            <a:r>
              <a:rPr lang="en-US" sz="1600" b="1" dirty="0">
                <a:latin typeface="Courier New"/>
                <a:cs typeface="Courier New"/>
              </a:rPr>
              <a:t> </a:t>
            </a:r>
            <a:r>
              <a:rPr lang="en-US" sz="1600" dirty="0"/>
              <a:t>method call—is executed, and the </a:t>
            </a:r>
            <a:r>
              <a:rPr lang="en-US" sz="1600" u="sng" dirty="0"/>
              <a:t>image object we just created </a:t>
            </a:r>
            <a:r>
              <a:rPr lang="en-US" sz="1600" dirty="0"/>
              <a:t>is passed as a </a:t>
            </a:r>
            <a:r>
              <a:rPr lang="en-US" sz="1600" i="1" dirty="0"/>
              <a:t>parameter</a:t>
            </a:r>
            <a:r>
              <a:rPr lang="en-US" sz="1600" dirty="0"/>
              <a:t>.</a:t>
            </a:r>
          </a:p>
        </p:txBody>
      </p:sp>
      <p:sp>
        <p:nvSpPr>
          <p:cNvPr id="8" name="Rectangle 7"/>
          <p:cNvSpPr/>
          <p:nvPr/>
        </p:nvSpPr>
        <p:spPr>
          <a:xfrm>
            <a:off x="193524" y="5939024"/>
            <a:ext cx="879323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lIns="91440" tIns="45720" rIns="91440" bIns="45720" anchor="t">
            <a:spAutoFit/>
          </a:bodyPr>
          <a:lstStyle/>
          <a:p>
            <a:r>
              <a:rPr lang="en-US" sz="1600" dirty="0"/>
              <a:t>For our purposes here, it is better to </a:t>
            </a:r>
            <a:r>
              <a:rPr lang="en-US" sz="1600" b="1" i="1" dirty="0"/>
              <a:t>separate</a:t>
            </a:r>
            <a:r>
              <a:rPr lang="en-US" sz="1600" dirty="0"/>
              <a:t> the creation</a:t>
            </a:r>
            <a:r>
              <a:rPr lang="en-US" sz="1600" i="1" dirty="0">
                <a:highlight>
                  <a:srgbClr val="FFFF00"/>
                </a:highlight>
              </a:rPr>
              <a:t> </a:t>
            </a:r>
            <a:r>
              <a:rPr lang="en-US" sz="1600" dirty="0"/>
              <a:t>of the image object and the setting</a:t>
            </a:r>
            <a:r>
              <a:rPr lang="en-US" sz="1600" i="1" dirty="0">
                <a:highlight>
                  <a:srgbClr val="FFFF00"/>
                </a:highlight>
              </a:rPr>
              <a:t> </a:t>
            </a:r>
            <a:r>
              <a:rPr lang="en-US" sz="1600" dirty="0"/>
              <a:t>of the image. Since we will be switching the crab's image back and forth repeatedly while it is walking, it makes more sense to </a:t>
            </a:r>
            <a:r>
              <a:rPr lang="en-US" sz="1600" b="1" i="1" dirty="0"/>
              <a:t>create</a:t>
            </a:r>
            <a:r>
              <a:rPr lang="en-US" sz="1600" dirty="0"/>
              <a:t> each image only once, and then </a:t>
            </a:r>
            <a:r>
              <a:rPr lang="en-US" sz="1600" b="1" i="1" dirty="0"/>
              <a:t>set</a:t>
            </a:r>
            <a:r>
              <a:rPr lang="en-US" sz="1600" dirty="0"/>
              <a:t> the image as often as needed.</a:t>
            </a:r>
          </a:p>
        </p:txBody>
      </p:sp>
    </p:spTree>
    <p:extLst>
      <p:ext uri="{BB962C8B-B14F-4D97-AF65-F5344CB8AC3E}">
        <p14:creationId xmlns:p14="http://schemas.microsoft.com/office/powerpoint/2010/main" val="196439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71725"/>
            <a:ext cx="8229600" cy="4525963"/>
          </a:xfrm>
        </p:spPr>
        <p:txBody>
          <a:bodyPr vert="horz" lIns="91440" tIns="45720" rIns="91440" bIns="45720" rtlCol="0" anchor="t">
            <a:normAutofit lnSpcReduction="10000"/>
          </a:bodyPr>
          <a:lstStyle/>
          <a:p>
            <a:r>
              <a:rPr lang="en-US" sz="2400" dirty="0"/>
              <a:t>To store the two images in our crab object, we need a new construct that we have not used before: a </a:t>
            </a:r>
            <a:r>
              <a:rPr lang="en-US" sz="2400" i="1" dirty="0"/>
              <a:t>variable</a:t>
            </a:r>
            <a:endParaRPr lang="en-US" sz="2400" i="1" dirty="0">
              <a:ea typeface="Calibri"/>
              <a:cs typeface="Calibri"/>
            </a:endParaRPr>
          </a:p>
          <a:p>
            <a:pPr lvl="1"/>
            <a:r>
              <a:rPr lang="en-US" sz="2000" dirty="0"/>
              <a:t>All programming languages use variables to store information</a:t>
            </a:r>
          </a:p>
          <a:p>
            <a:r>
              <a:rPr lang="en-US" sz="2400" dirty="0"/>
              <a:t>Java supports different kinds of variables. The ones we have seen before are called </a:t>
            </a:r>
            <a:r>
              <a:rPr lang="en-US" sz="2400" i="1" dirty="0"/>
              <a:t>local variables.</a:t>
            </a:r>
            <a:r>
              <a:rPr lang="en-US" sz="2400" dirty="0"/>
              <a:t> Here, we will look at </a:t>
            </a:r>
            <a:r>
              <a:rPr lang="en-US" sz="2400" b="1" dirty="0"/>
              <a:t>instance variables</a:t>
            </a:r>
            <a:r>
              <a:rPr lang="en-US" sz="2400" dirty="0"/>
              <a:t>, also called </a:t>
            </a:r>
            <a:r>
              <a:rPr lang="en-US" sz="2400" b="1" dirty="0"/>
              <a:t>fields</a:t>
            </a:r>
            <a:r>
              <a:rPr lang="en-US" sz="2400" dirty="0"/>
              <a:t>.</a:t>
            </a:r>
          </a:p>
          <a:p>
            <a:r>
              <a:rPr lang="en-US" sz="2400" dirty="0"/>
              <a:t>An </a:t>
            </a:r>
            <a:r>
              <a:rPr lang="en-US" sz="2400" i="1" dirty="0"/>
              <a:t>instance variable </a:t>
            </a:r>
            <a:r>
              <a:rPr lang="en-US" sz="2400" dirty="0"/>
              <a:t>is a bit of memory that belongs to the </a:t>
            </a:r>
            <a:r>
              <a:rPr lang="en-US" sz="2400" i="1" dirty="0"/>
              <a:t>object</a:t>
            </a:r>
            <a:r>
              <a:rPr lang="en-US" sz="2400" dirty="0"/>
              <a:t> (which is an </a:t>
            </a:r>
            <a:r>
              <a:rPr lang="en-US" sz="2400" i="1" dirty="0"/>
              <a:t>instance</a:t>
            </a:r>
            <a:r>
              <a:rPr lang="en-US" sz="2400" dirty="0"/>
              <a:t> of the class, hence the name "instance variable").</a:t>
            </a:r>
          </a:p>
          <a:p>
            <a:r>
              <a:rPr lang="en-US" sz="2400" dirty="0"/>
              <a:t>Each object in the class will have a separate copy  </a:t>
            </a:r>
            <a:r>
              <a:rPr lang="en-US" sz="2400" b="1" dirty="0"/>
              <a:t> </a:t>
            </a:r>
            <a:r>
              <a:rPr lang="en-US" sz="2400" dirty="0"/>
              <a:t>of the instance variable, and this copy "lives" in memory for the “lifetime” of the object.</a:t>
            </a:r>
          </a:p>
        </p:txBody>
      </p:sp>
      <p:sp>
        <p:nvSpPr>
          <p:cNvPr id="4" name="TextBox 3"/>
          <p:cNvSpPr txBox="1"/>
          <p:nvPr/>
        </p:nvSpPr>
        <p:spPr>
          <a:xfrm>
            <a:off x="217715" y="362857"/>
            <a:ext cx="878114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p>
            <a:r>
              <a:rPr lang="en-US" sz="2800" b="1" dirty="0">
                <a:solidFill>
                  <a:srgbClr val="FF0000"/>
                </a:solidFill>
              </a:rPr>
              <a:t>Concept: Instance variable</a:t>
            </a:r>
            <a:r>
              <a:rPr lang="en-US" sz="2800" b="1" dirty="0">
                <a:highlight>
                  <a:srgbClr val="FFFF00"/>
                </a:highlight>
              </a:rPr>
              <a:t> </a:t>
            </a:r>
            <a:r>
              <a:rPr lang="en-US" sz="2800" dirty="0"/>
              <a:t>(also called fields</a:t>
            </a:r>
            <a:r>
              <a:rPr lang="en-US" sz="2800" b="1" dirty="0">
                <a:highlight>
                  <a:srgbClr val="FFFF00"/>
                </a:highlight>
              </a:rPr>
              <a:t> </a:t>
            </a:r>
            <a:r>
              <a:rPr lang="en-US" sz="2800" dirty="0"/>
              <a:t>) can be used to store information (</a:t>
            </a:r>
            <a:r>
              <a:rPr lang="en-US" sz="2800" strike="sngStrike" dirty="0"/>
              <a:t>objects</a:t>
            </a:r>
            <a:r>
              <a:rPr lang="en-US" sz="2800" dirty="0">
                <a:highlight>
                  <a:srgbClr val="FFFF00"/>
                </a:highlight>
              </a:rPr>
              <a:t> object references </a:t>
            </a:r>
            <a:r>
              <a:rPr lang="en-US" sz="2800" dirty="0"/>
              <a:t>or values) for later use </a:t>
            </a:r>
            <a:r>
              <a:rPr lang="en-US" sz="2800" dirty="0">
                <a:highlight>
                  <a:srgbClr val="FFFF00"/>
                </a:highlight>
              </a:rPr>
              <a:t>.</a:t>
            </a:r>
            <a:r>
              <a:rPr lang="en-US" sz="2800" dirty="0"/>
              <a:t> They are variables that belong to an object</a:t>
            </a:r>
            <a:r>
              <a:rPr lang="en-US" sz="2800" dirty="0">
                <a:highlight>
                  <a:srgbClr val="FFFF00"/>
                </a:highlight>
              </a:rPr>
              <a:t> </a:t>
            </a:r>
            <a:r>
              <a:rPr lang="en-US" sz="2800" dirty="0"/>
              <a:t>(rather than to a method).</a:t>
            </a:r>
          </a:p>
        </p:txBody>
      </p:sp>
    </p:spTree>
    <p:extLst>
      <p:ext uri="{BB962C8B-B14F-4D97-AF65-F5344CB8AC3E}">
        <p14:creationId xmlns:p14="http://schemas.microsoft.com/office/powerpoint/2010/main" val="3851645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425" y="95251"/>
            <a:ext cx="8229600" cy="906046"/>
          </a:xfrm>
        </p:spPr>
        <p:txBody>
          <a:bodyPr>
            <a:normAutofit/>
          </a:bodyPr>
          <a:lstStyle/>
          <a:p>
            <a:r>
              <a:rPr lang="en-US" sz="2400" dirty="0"/>
              <a:t>Local variables and instance variables behave differently, especially regarding their </a:t>
            </a:r>
            <a:r>
              <a:rPr lang="en-US" sz="2400" i="1" dirty="0"/>
              <a:t>lifetime</a:t>
            </a:r>
            <a:r>
              <a:rPr lang="en-US" sz="2400" dirty="0"/>
              <a:t>.</a:t>
            </a:r>
          </a:p>
        </p:txBody>
      </p:sp>
      <p:sp>
        <p:nvSpPr>
          <p:cNvPr id="4" name="TextBox 3"/>
          <p:cNvSpPr txBox="1"/>
          <p:nvPr/>
        </p:nvSpPr>
        <p:spPr>
          <a:xfrm>
            <a:off x="76652" y="1011993"/>
            <a:ext cx="8781143" cy="954107"/>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p>
            <a:r>
              <a:rPr lang="en-US" sz="2800" b="1" dirty="0">
                <a:solidFill>
                  <a:srgbClr val="FF0000"/>
                </a:solidFill>
              </a:rPr>
              <a:t>Concept: </a:t>
            </a:r>
            <a:r>
              <a:rPr lang="en-US" sz="2800" b="1" dirty="0"/>
              <a:t>Lifetime of </a:t>
            </a:r>
            <a:r>
              <a:rPr lang="en-US" sz="2800" b="1" u="sng" dirty="0"/>
              <a:t>instance</a:t>
            </a:r>
            <a:r>
              <a:rPr lang="en-US" sz="2800" b="1" dirty="0"/>
              <a:t> variables: </a:t>
            </a:r>
            <a:r>
              <a:rPr lang="en-US" sz="2800" dirty="0"/>
              <a:t>Instance variables persist</a:t>
            </a:r>
            <a:r>
              <a:rPr lang="en-US" sz="2800" dirty="0">
                <a:highlight>
                  <a:srgbClr val="FFFF00"/>
                </a:highlight>
              </a:rPr>
              <a:t> </a:t>
            </a:r>
            <a:r>
              <a:rPr lang="en-US" sz="2800" dirty="0"/>
              <a:t>as long as the object exists that holds them.</a:t>
            </a:r>
          </a:p>
        </p:txBody>
      </p:sp>
      <p:sp>
        <p:nvSpPr>
          <p:cNvPr id="5" name="TextBox 4"/>
          <p:cNvSpPr txBox="1"/>
          <p:nvPr/>
        </p:nvSpPr>
        <p:spPr>
          <a:xfrm>
            <a:off x="76653" y="2089924"/>
            <a:ext cx="8781143" cy="954107"/>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p>
            <a:r>
              <a:rPr lang="en-US" sz="2800" b="1" dirty="0">
                <a:solidFill>
                  <a:srgbClr val="FF0000"/>
                </a:solidFill>
              </a:rPr>
              <a:t>Concept: </a:t>
            </a:r>
            <a:r>
              <a:rPr lang="en-US" sz="2800" b="1" dirty="0"/>
              <a:t>Lifetime of </a:t>
            </a:r>
            <a:r>
              <a:rPr lang="en-US" sz="2800" b="1" u="sng" dirty="0"/>
              <a:t>local</a:t>
            </a:r>
            <a:r>
              <a:rPr lang="en-US" sz="2800" b="1" dirty="0"/>
              <a:t> variables: </a:t>
            </a:r>
            <a:r>
              <a:rPr lang="en-US" sz="2800" dirty="0"/>
              <a:t>Local variables persist</a:t>
            </a:r>
            <a:r>
              <a:rPr lang="en-US" sz="2800" dirty="0">
                <a:highlight>
                  <a:srgbClr val="FFFF00"/>
                </a:highlight>
              </a:rPr>
              <a:t> </a:t>
            </a:r>
            <a:r>
              <a:rPr lang="en-US" sz="2800" dirty="0"/>
              <a:t>only during execution  </a:t>
            </a:r>
            <a:r>
              <a:rPr lang="en-US" sz="2800" dirty="0">
                <a:highlight>
                  <a:srgbClr val="FFFF00"/>
                </a:highlight>
              </a:rPr>
              <a:t>.</a:t>
            </a:r>
          </a:p>
        </p:txBody>
      </p:sp>
      <p:sp>
        <p:nvSpPr>
          <p:cNvPr id="6" name="Content Placeholder 2"/>
          <p:cNvSpPr txBox="1">
            <a:spLocks/>
          </p:cNvSpPr>
          <p:nvPr/>
        </p:nvSpPr>
        <p:spPr>
          <a:xfrm>
            <a:off x="352425" y="3167855"/>
            <a:ext cx="8382000" cy="3690145"/>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Local variables </a:t>
            </a:r>
            <a:r>
              <a:rPr lang="en-US" sz="2400" dirty="0"/>
              <a:t>belong to the method in which they are declared, and disappear as soon as the method finishes executing. </a:t>
            </a:r>
          </a:p>
          <a:p>
            <a:pPr lvl="1"/>
            <a:r>
              <a:rPr lang="en-US" sz="2000" dirty="0"/>
              <a:t>Every time we call the method, the variables are created again, and can be used while the method executes, but they do not survive between method calls. When the method execution ends, the values or object references stored in them are lost. </a:t>
            </a:r>
          </a:p>
          <a:p>
            <a:pPr lvl="1"/>
            <a:r>
              <a:rPr lang="en-US" sz="2000" dirty="0"/>
              <a:t>(To be exact, local variables belong to the </a:t>
            </a:r>
            <a:r>
              <a:rPr lang="en-US" sz="2000" i="1" dirty="0"/>
              <a:t>scope </a:t>
            </a:r>
            <a:r>
              <a:rPr lang="en-US" sz="2000" dirty="0"/>
              <a:t>they are declared in. This could be the scope of a method, or it could be the scope of a different block of code, such as an if-statement.)</a:t>
            </a:r>
          </a:p>
          <a:p>
            <a:r>
              <a:rPr lang="en-US" sz="2400" b="1" dirty="0"/>
              <a:t>Instance variables</a:t>
            </a:r>
            <a:r>
              <a:rPr lang="en-US" sz="2400" dirty="0"/>
              <a:t>, on the other hand, belong to the object they are declared in, and they survive as long as the object exists. They can be used over and over again, over multiple method calls, and can be used by multiple methods. </a:t>
            </a:r>
          </a:p>
          <a:p>
            <a:pPr lvl="1"/>
            <a:r>
              <a:rPr lang="en-US" sz="2000" dirty="0"/>
              <a:t>Thus, if we want an object to store information for a longer time, an instance variable is what we should use.</a:t>
            </a:r>
          </a:p>
        </p:txBody>
      </p:sp>
    </p:spTree>
    <p:extLst>
      <p:ext uri="{BB962C8B-B14F-4D97-AF65-F5344CB8AC3E}">
        <p14:creationId xmlns:p14="http://schemas.microsoft.com/office/powerpoint/2010/main" val="405546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an instance variable</a:t>
            </a:r>
          </a:p>
        </p:txBody>
      </p:sp>
      <p:sp>
        <p:nvSpPr>
          <p:cNvPr id="3" name="Content Placeholder 2"/>
          <p:cNvSpPr>
            <a:spLocks noGrp="1"/>
          </p:cNvSpPr>
          <p:nvPr>
            <p:ph idx="1"/>
          </p:nvPr>
        </p:nvSpPr>
        <p:spPr/>
        <p:txBody>
          <a:bodyPr>
            <a:normAutofit fontScale="92500" lnSpcReduction="20000"/>
          </a:bodyPr>
          <a:lstStyle/>
          <a:p>
            <a:r>
              <a:rPr lang="en-US" sz="2800" dirty="0"/>
              <a:t>An instance variable is declared in a class by writing the keyword </a:t>
            </a:r>
            <a:r>
              <a:rPr lang="en-US" sz="2800" b="1" dirty="0">
                <a:latin typeface="Courier New"/>
                <a:cs typeface="Courier New"/>
              </a:rPr>
              <a:t>private</a:t>
            </a:r>
            <a:r>
              <a:rPr lang="en-US" sz="2800" dirty="0"/>
              <a:t> followed by the </a:t>
            </a:r>
            <a:r>
              <a:rPr lang="en-US" sz="2800" i="1" dirty="0"/>
              <a:t>type of variable </a:t>
            </a:r>
            <a:r>
              <a:rPr lang="en-US" sz="2800" dirty="0"/>
              <a:t>and then the </a:t>
            </a:r>
            <a:r>
              <a:rPr lang="en-US" sz="2800" i="1" dirty="0"/>
              <a:t>variable name</a:t>
            </a:r>
            <a:r>
              <a:rPr lang="en-US" sz="2800" dirty="0"/>
              <a:t>:</a:t>
            </a:r>
          </a:p>
          <a:p>
            <a:endParaRPr lang="en-US" sz="2800" i="1" dirty="0"/>
          </a:p>
          <a:p>
            <a:endParaRPr lang="en-US" sz="2800" i="1" dirty="0"/>
          </a:p>
          <a:p>
            <a:r>
              <a:rPr lang="en-US" sz="2800" dirty="0"/>
              <a:t>The </a:t>
            </a:r>
            <a:r>
              <a:rPr lang="en-US" sz="2800" b="1" dirty="0"/>
              <a:t>type</a:t>
            </a:r>
            <a:r>
              <a:rPr lang="en-US" sz="2800" dirty="0"/>
              <a:t> of the variable defines what we want to store in it. (In the present example, the type will be </a:t>
            </a:r>
            <a:r>
              <a:rPr lang="en-US" sz="2800" b="1" dirty="0" err="1">
                <a:latin typeface="Courier New"/>
                <a:cs typeface="Courier New"/>
              </a:rPr>
              <a:t>GreenfootImage</a:t>
            </a:r>
            <a:r>
              <a:rPr lang="en-US" sz="2800" dirty="0"/>
              <a:t>.)</a:t>
            </a:r>
          </a:p>
          <a:p>
            <a:r>
              <a:rPr lang="en-US" sz="2800" dirty="0"/>
              <a:t>The variable </a:t>
            </a:r>
            <a:r>
              <a:rPr lang="en-US" sz="2800" b="1" dirty="0"/>
              <a:t>name</a:t>
            </a:r>
            <a:r>
              <a:rPr lang="en-US" sz="2800" dirty="0"/>
              <a:t> allows us to refer to this variable elsewhere in the code, and it should describe what this variable is used for.</a:t>
            </a:r>
          </a:p>
          <a:p>
            <a:r>
              <a:rPr lang="en-US" sz="2800" dirty="0"/>
              <a:t>Let's look at our </a:t>
            </a:r>
            <a:r>
              <a:rPr lang="en-US" sz="2800" b="1" dirty="0">
                <a:latin typeface="Courier New"/>
                <a:cs typeface="Courier New"/>
              </a:rPr>
              <a:t>Crab</a:t>
            </a:r>
            <a:r>
              <a:rPr lang="en-US" sz="2800" dirty="0"/>
              <a:t> class as an example…</a:t>
            </a:r>
          </a:p>
        </p:txBody>
      </p:sp>
      <p:sp>
        <p:nvSpPr>
          <p:cNvPr id="4" name="TextBox 3"/>
          <p:cNvSpPr txBox="1"/>
          <p:nvPr/>
        </p:nvSpPr>
        <p:spPr>
          <a:xfrm>
            <a:off x="641048" y="2682017"/>
            <a:ext cx="8176380" cy="523220"/>
          </a:xfrm>
          <a:prstGeom prst="rect">
            <a:avLst/>
          </a:prstGeom>
          <a:noFill/>
        </p:spPr>
        <p:txBody>
          <a:bodyPr wrap="square" rtlCol="0">
            <a:spAutoFit/>
          </a:bodyPr>
          <a:lstStyle/>
          <a:p>
            <a:r>
              <a:rPr lang="en-US" sz="2800" b="1" dirty="0">
                <a:solidFill>
                  <a:schemeClr val="accent2"/>
                </a:solidFill>
                <a:latin typeface="Courier New"/>
                <a:cs typeface="Courier New"/>
              </a:rPr>
              <a:t>private</a:t>
            </a:r>
            <a:r>
              <a:rPr lang="en-US" sz="2800" b="1" dirty="0">
                <a:latin typeface="Courier New"/>
                <a:cs typeface="Courier New"/>
              </a:rPr>
              <a:t> </a:t>
            </a:r>
            <a:r>
              <a:rPr lang="en-US" sz="2800" b="1" i="1" dirty="0">
                <a:latin typeface="Courier New"/>
                <a:cs typeface="Courier New"/>
              </a:rPr>
              <a:t>variable-type variable-name</a:t>
            </a:r>
            <a:r>
              <a:rPr lang="en-US" sz="2800" b="1" dirty="0">
                <a:latin typeface="Courier New"/>
                <a:cs typeface="Courier New"/>
              </a:rPr>
              <a:t>;</a:t>
            </a:r>
          </a:p>
        </p:txBody>
      </p:sp>
    </p:spTree>
    <p:extLst>
      <p:ext uri="{BB962C8B-B14F-4D97-AF65-F5344CB8AC3E}">
        <p14:creationId xmlns:p14="http://schemas.microsoft.com/office/powerpoint/2010/main" val="35993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86190"/>
          </a:xfrm>
        </p:spPr>
        <p:txBody>
          <a:bodyPr>
            <a:normAutofit/>
          </a:bodyPr>
          <a:lstStyle/>
          <a:p>
            <a:r>
              <a:rPr lang="en-US" sz="3600" dirty="0"/>
              <a:t>The </a:t>
            </a:r>
            <a:r>
              <a:rPr lang="en-US" sz="3600" b="1" dirty="0">
                <a:latin typeface="Courier New"/>
                <a:cs typeface="Courier New"/>
              </a:rPr>
              <a:t>Crab</a:t>
            </a:r>
            <a:r>
              <a:rPr lang="en-US" sz="3600" dirty="0"/>
              <a:t> class with two instance variables</a:t>
            </a:r>
          </a:p>
        </p:txBody>
      </p:sp>
      <p:sp>
        <p:nvSpPr>
          <p:cNvPr id="4" name="Rectangle 3"/>
          <p:cNvSpPr/>
          <p:nvPr/>
        </p:nvSpPr>
        <p:spPr>
          <a:xfrm>
            <a:off x="0" y="840618"/>
            <a:ext cx="9144000" cy="3693319"/>
          </a:xfrm>
          <a:prstGeom prst="rect">
            <a:avLst/>
          </a:prstGeom>
          <a:solidFill>
            <a:srgbClr val="FFF5B5"/>
          </a:solidFill>
        </p:spPr>
        <p:txBody>
          <a:bodyPr wrap="square">
            <a:spAutoFit/>
          </a:bodyPr>
          <a:lstStyle/>
          <a:p>
            <a:r>
              <a:rPr lang="en-US" b="1" dirty="0">
                <a:solidFill>
                  <a:schemeClr val="accent2"/>
                </a:solidFill>
                <a:latin typeface="Courier New"/>
                <a:cs typeface="Courier New"/>
              </a:rPr>
              <a:t>import </a:t>
            </a:r>
            <a:r>
              <a:rPr lang="en-US" b="1" dirty="0" err="1">
                <a:latin typeface="Courier New"/>
                <a:cs typeface="Courier New"/>
              </a:rPr>
              <a:t>greenfoot</a:t>
            </a:r>
            <a:r>
              <a:rPr lang="en-US" b="1" dirty="0">
                <a:latin typeface="Courier New"/>
                <a:cs typeface="Courier New"/>
              </a:rPr>
              <a:t>.*; </a:t>
            </a:r>
            <a:r>
              <a:rPr lang="en-US" b="1" dirty="0">
                <a:solidFill>
                  <a:schemeClr val="bg1">
                    <a:lumMod val="50000"/>
                  </a:schemeClr>
                </a:solidFill>
                <a:latin typeface="Courier New"/>
                <a:cs typeface="Courier New"/>
              </a:rPr>
              <a:t>// (Actor, World, </a:t>
            </a:r>
            <a:r>
              <a:rPr lang="en-US" b="1" dirty="0" err="1">
                <a:solidFill>
                  <a:schemeClr val="bg1">
                    <a:lumMod val="50000"/>
                  </a:schemeClr>
                </a:solidFill>
                <a:latin typeface="Courier New"/>
                <a:cs typeface="Courier New"/>
              </a:rPr>
              <a:t>Greenfoot</a:t>
            </a:r>
            <a:r>
              <a:rPr lang="en-US" b="1" dirty="0">
                <a:solidFill>
                  <a:schemeClr val="bg1">
                    <a:lumMod val="50000"/>
                  </a:schemeClr>
                </a:solidFill>
                <a:latin typeface="Courier New"/>
                <a:cs typeface="Courier New"/>
              </a:rPr>
              <a:t>, </a:t>
            </a:r>
            <a:r>
              <a:rPr lang="en-US" b="1" dirty="0" err="1">
                <a:solidFill>
                  <a:schemeClr val="bg1">
                    <a:lumMod val="50000"/>
                  </a:schemeClr>
                </a:solidFill>
                <a:latin typeface="Courier New"/>
                <a:cs typeface="Courier New"/>
              </a:rPr>
              <a:t>GreenfootImage</a:t>
            </a:r>
            <a:r>
              <a:rPr lang="en-US" b="1" dirty="0">
                <a:solidFill>
                  <a:schemeClr val="bg1">
                    <a:lumMod val="50000"/>
                  </a:schemeClr>
                </a:solidFill>
                <a:latin typeface="Courier New"/>
                <a:cs typeface="Courier New"/>
              </a:rPr>
              <a:t>)</a:t>
            </a:r>
            <a:r>
              <a:rPr lang="en-US" b="1" dirty="0">
                <a:latin typeface="Courier New"/>
                <a:cs typeface="Courier New"/>
              </a:rPr>
              <a:t>  </a:t>
            </a:r>
          </a:p>
          <a:p>
            <a:endParaRPr lang="en-US" b="1" dirty="0">
              <a:latin typeface="Courier New"/>
              <a:cs typeface="Courier New"/>
            </a:endParaRPr>
          </a:p>
          <a:p>
            <a:r>
              <a:rPr lang="en-US" b="1" dirty="0">
                <a:solidFill>
                  <a:schemeClr val="bg1">
                    <a:lumMod val="50000"/>
                  </a:schemeClr>
                </a:solidFill>
                <a:latin typeface="Courier New"/>
                <a:cs typeface="Courier New"/>
              </a:rPr>
              <a:t>// </a:t>
            </a:r>
            <a:r>
              <a:rPr lang="en-US" b="1" i="1" dirty="0">
                <a:solidFill>
                  <a:schemeClr val="bg1">
                    <a:lumMod val="50000"/>
                  </a:schemeClr>
                </a:solidFill>
                <a:latin typeface="Courier New"/>
                <a:cs typeface="Courier New"/>
              </a:rPr>
              <a:t>comment omitted</a:t>
            </a:r>
          </a:p>
          <a:p>
            <a:endParaRPr lang="en-US" b="1" dirty="0">
              <a:latin typeface="Courier New"/>
              <a:cs typeface="Courier New"/>
            </a:endParaRPr>
          </a:p>
          <a:p>
            <a:r>
              <a:rPr lang="en-US" b="1" dirty="0">
                <a:solidFill>
                  <a:schemeClr val="accent2">
                    <a:lumMod val="75000"/>
                  </a:schemeClr>
                </a:solidFill>
                <a:latin typeface="Courier New"/>
                <a:cs typeface="Courier New"/>
              </a:rPr>
              <a:t>public</a:t>
            </a:r>
            <a:r>
              <a:rPr lang="en-US" b="1" dirty="0">
                <a:solidFill>
                  <a:schemeClr val="accent2"/>
                </a:solidFill>
                <a:latin typeface="Courier New"/>
                <a:cs typeface="Courier New"/>
              </a:rPr>
              <a:t> class </a:t>
            </a:r>
            <a:r>
              <a:rPr lang="en-US" b="1" dirty="0">
                <a:latin typeface="Courier New"/>
                <a:cs typeface="Courier New"/>
              </a:rPr>
              <a:t>Crab</a:t>
            </a:r>
            <a:r>
              <a:rPr lang="en-US" b="1" dirty="0">
                <a:solidFill>
                  <a:schemeClr val="accent2"/>
                </a:solidFill>
                <a:latin typeface="Courier New"/>
                <a:cs typeface="Courier New"/>
              </a:rPr>
              <a:t> extends </a:t>
            </a:r>
            <a:r>
              <a:rPr lang="en-US" b="1" dirty="0">
                <a:solidFill>
                  <a:srgbClr val="000000"/>
                </a:solidFill>
                <a:latin typeface="Courier New"/>
                <a:cs typeface="Courier New"/>
              </a:rPr>
              <a:t>Actor</a:t>
            </a:r>
          </a:p>
          <a:p>
            <a:r>
              <a:rPr lang="en-US" b="1" dirty="0">
                <a:latin typeface="Courier New"/>
                <a:cs typeface="Courier New"/>
              </a:rPr>
              <a:t>{</a:t>
            </a:r>
          </a:p>
          <a:p>
            <a:r>
              <a:rPr lang="en-US" b="1" dirty="0">
                <a:latin typeface="Courier New"/>
                <a:cs typeface="Courier New"/>
              </a:rPr>
              <a:t>	</a:t>
            </a:r>
            <a:r>
              <a:rPr lang="en-US" b="1" dirty="0">
                <a:solidFill>
                  <a:srgbClr val="953735"/>
                </a:solidFill>
                <a:latin typeface="Courier New"/>
                <a:cs typeface="Courier New"/>
              </a:rPr>
              <a:t>private</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 image1;</a:t>
            </a:r>
          </a:p>
          <a:p>
            <a:r>
              <a:rPr lang="en-US" b="1" dirty="0">
                <a:latin typeface="Courier New"/>
                <a:cs typeface="Courier New"/>
              </a:rPr>
              <a:t>	</a:t>
            </a:r>
            <a:r>
              <a:rPr lang="en-US" b="1" dirty="0">
                <a:solidFill>
                  <a:srgbClr val="953735"/>
                </a:solidFill>
                <a:latin typeface="Courier New"/>
                <a:cs typeface="Courier New"/>
              </a:rPr>
              <a:t>private</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 image2;</a:t>
            </a:r>
          </a:p>
          <a:p>
            <a:endParaRPr lang="en-US" b="1" dirty="0">
              <a:latin typeface="Courier New"/>
              <a:cs typeface="Courier New"/>
            </a:endParaRPr>
          </a:p>
          <a:p>
            <a:r>
              <a:rPr lang="en-US" b="1" dirty="0">
                <a:latin typeface="Courier New"/>
                <a:cs typeface="Courier New"/>
              </a:rPr>
              <a:t>	</a:t>
            </a:r>
            <a:r>
              <a:rPr lang="en-US" b="1" dirty="0">
                <a:solidFill>
                  <a:schemeClr val="bg1">
                    <a:lumMod val="50000"/>
                  </a:schemeClr>
                </a:solidFill>
                <a:latin typeface="Courier New"/>
                <a:cs typeface="Courier New"/>
              </a:rPr>
              <a:t>// </a:t>
            </a:r>
            <a:r>
              <a:rPr lang="en-US" b="1" i="1" dirty="0">
                <a:solidFill>
                  <a:schemeClr val="bg1">
                    <a:lumMod val="50000"/>
                  </a:schemeClr>
                </a:solidFill>
                <a:latin typeface="Courier New"/>
                <a:cs typeface="Courier New"/>
              </a:rPr>
              <a:t>method definitions...</a:t>
            </a:r>
          </a:p>
          <a:p>
            <a:endParaRPr lang="en-US" b="1" dirty="0">
              <a:latin typeface="Courier New"/>
              <a:cs typeface="Courier New"/>
            </a:endParaRPr>
          </a:p>
          <a:p>
            <a:r>
              <a:rPr lang="en-US" b="1" dirty="0">
                <a:latin typeface="Courier New"/>
                <a:cs typeface="Courier New"/>
              </a:rPr>
              <a:t>} </a:t>
            </a:r>
            <a:r>
              <a:rPr lang="en-US" b="1" dirty="0">
                <a:solidFill>
                  <a:schemeClr val="bg1">
                    <a:lumMod val="50000"/>
                  </a:schemeClr>
                </a:solidFill>
                <a:latin typeface="Courier New"/>
                <a:cs typeface="Courier New"/>
              </a:rPr>
              <a:t>// end class Crab</a:t>
            </a:r>
            <a:endParaRPr lang="en-US" b="1" dirty="0">
              <a:latin typeface="Courier New"/>
              <a:cs typeface="Courier New"/>
            </a:endParaRPr>
          </a:p>
          <a:p>
            <a:r>
              <a:rPr lang="en-US" b="1" dirty="0">
                <a:solidFill>
                  <a:schemeClr val="bg1">
                    <a:lumMod val="50000"/>
                  </a:schemeClr>
                </a:solidFill>
                <a:latin typeface="Courier New"/>
                <a:cs typeface="Courier New"/>
              </a:rPr>
              <a:t>  </a:t>
            </a:r>
            <a:endParaRPr lang="en-US" b="1" dirty="0">
              <a:latin typeface="Courier New"/>
              <a:cs typeface="Courier New"/>
            </a:endParaRPr>
          </a:p>
        </p:txBody>
      </p:sp>
      <p:sp>
        <p:nvSpPr>
          <p:cNvPr id="6" name="TextBox 5"/>
          <p:cNvSpPr txBox="1"/>
          <p:nvPr/>
        </p:nvSpPr>
        <p:spPr>
          <a:xfrm>
            <a:off x="5067905" y="1403048"/>
            <a:ext cx="3618895"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Here, we have </a:t>
            </a:r>
            <a:r>
              <a:rPr lang="en-US" i="1" dirty="0"/>
              <a:t>declared</a:t>
            </a:r>
            <a:r>
              <a:rPr lang="en-US" dirty="0"/>
              <a:t> two variables in our </a:t>
            </a:r>
            <a:r>
              <a:rPr lang="en-US" b="1" dirty="0">
                <a:latin typeface="Courier New"/>
                <a:cs typeface="Courier New"/>
              </a:rPr>
              <a:t>Crab</a:t>
            </a:r>
            <a:r>
              <a:rPr lang="en-US" b="1" dirty="0">
                <a:solidFill>
                  <a:schemeClr val="accent2"/>
                </a:solidFill>
                <a:latin typeface="Courier New"/>
                <a:cs typeface="Courier New"/>
              </a:rPr>
              <a:t> </a:t>
            </a:r>
            <a:r>
              <a:rPr lang="en-US" dirty="0"/>
              <a:t>class. Both are of </a:t>
            </a:r>
            <a:r>
              <a:rPr lang="en-US" i="1" dirty="0"/>
              <a:t>type</a:t>
            </a:r>
            <a:r>
              <a:rPr lang="en-US" dirty="0"/>
              <a:t> </a:t>
            </a:r>
            <a:r>
              <a:rPr lang="en-US" b="1" dirty="0" err="1">
                <a:latin typeface="Courier New"/>
                <a:cs typeface="Courier New"/>
              </a:rPr>
              <a:t>GreenfootImage</a:t>
            </a:r>
            <a:r>
              <a:rPr lang="en-US" dirty="0"/>
              <a:t>, and they are </a:t>
            </a:r>
            <a:r>
              <a:rPr lang="en-US" i="1" dirty="0"/>
              <a:t>named</a:t>
            </a:r>
            <a:r>
              <a:rPr lang="en-US" dirty="0"/>
              <a:t> </a:t>
            </a:r>
            <a:r>
              <a:rPr lang="en-US" b="1" dirty="0">
                <a:latin typeface="Courier New"/>
                <a:cs typeface="Courier New"/>
              </a:rPr>
              <a:t>image1</a:t>
            </a:r>
            <a:r>
              <a:rPr lang="en-US" dirty="0"/>
              <a:t> and </a:t>
            </a:r>
            <a:r>
              <a:rPr lang="en-US" b="1" dirty="0">
                <a:latin typeface="Courier New"/>
                <a:cs typeface="Courier New"/>
              </a:rPr>
              <a:t>image2</a:t>
            </a:r>
            <a:r>
              <a:rPr lang="en-US" dirty="0"/>
              <a:t> . </a:t>
            </a:r>
          </a:p>
        </p:txBody>
      </p:sp>
      <p:sp>
        <p:nvSpPr>
          <p:cNvPr id="7" name="TextBox 6"/>
          <p:cNvSpPr txBox="1"/>
          <p:nvPr/>
        </p:nvSpPr>
        <p:spPr>
          <a:xfrm>
            <a:off x="4305300" y="3314700"/>
            <a:ext cx="3955748"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Also, we will always write instance variable declarations at the </a:t>
            </a:r>
            <a:r>
              <a:rPr lang="en-US" u="sng" dirty="0"/>
              <a:t>top</a:t>
            </a:r>
            <a:r>
              <a:rPr lang="en-US" dirty="0"/>
              <a:t> of the class, </a:t>
            </a:r>
            <a:r>
              <a:rPr lang="en-US" u="sng" dirty="0"/>
              <a:t>before</a:t>
            </a:r>
            <a:r>
              <a:rPr lang="en-US" dirty="0"/>
              <a:t> all constructors and methods. Java does not </a:t>
            </a:r>
            <a:r>
              <a:rPr lang="en-US" i="1" dirty="0"/>
              <a:t>enforce</a:t>
            </a:r>
            <a:r>
              <a:rPr lang="en-US" dirty="0"/>
              <a:t> this, but it is </a:t>
            </a:r>
            <a:r>
              <a:rPr lang="en-US" b="1" dirty="0"/>
              <a:t>a good practice </a:t>
            </a:r>
            <a:r>
              <a:rPr lang="en-US" dirty="0"/>
              <a:t>so that we can always find variable declarations easily when we need to see them. </a:t>
            </a:r>
          </a:p>
        </p:txBody>
      </p:sp>
    </p:spTree>
    <p:extLst>
      <p:ext uri="{BB962C8B-B14F-4D97-AF65-F5344CB8AC3E}">
        <p14:creationId xmlns:p14="http://schemas.microsoft.com/office/powerpoint/2010/main" val="4246135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47887" y="4686300"/>
            <a:ext cx="4848225" cy="1371600"/>
          </a:xfrm>
          <a:prstGeom prst="rect">
            <a:avLst/>
          </a:prstGeom>
        </p:spPr>
      </p:pic>
      <p:sp>
        <p:nvSpPr>
          <p:cNvPr id="2" name="Title 1"/>
          <p:cNvSpPr>
            <a:spLocks noGrp="1"/>
          </p:cNvSpPr>
          <p:nvPr>
            <p:ph type="title"/>
          </p:nvPr>
        </p:nvSpPr>
        <p:spPr>
          <a:xfrm>
            <a:off x="457200" y="70154"/>
            <a:ext cx="8229600" cy="1143000"/>
          </a:xfrm>
        </p:spPr>
        <p:txBody>
          <a:bodyPr/>
          <a:lstStyle/>
          <a:p>
            <a:r>
              <a:rPr lang="en-US" dirty="0"/>
              <a:t>Exercises</a:t>
            </a:r>
          </a:p>
        </p:txBody>
      </p:sp>
      <p:sp>
        <p:nvSpPr>
          <p:cNvPr id="3" name="Content Placeholder 2"/>
          <p:cNvSpPr>
            <a:spLocks noGrp="1"/>
          </p:cNvSpPr>
          <p:nvPr>
            <p:ph idx="1"/>
          </p:nvPr>
        </p:nvSpPr>
        <p:spPr>
          <a:xfrm>
            <a:off x="457200" y="1309914"/>
            <a:ext cx="8229600" cy="3080657"/>
          </a:xfrm>
        </p:spPr>
        <p:style>
          <a:lnRef idx="1">
            <a:schemeClr val="accent3"/>
          </a:lnRef>
          <a:fillRef idx="2">
            <a:schemeClr val="accent3"/>
          </a:fillRef>
          <a:effectRef idx="1">
            <a:schemeClr val="accent3"/>
          </a:effectRef>
          <a:fontRef idx="minor">
            <a:schemeClr val="dk1"/>
          </a:fontRef>
        </p:style>
        <p:txBody>
          <a:bodyPr>
            <a:normAutofit/>
          </a:bodyPr>
          <a:lstStyle/>
          <a:p>
            <a:pPr>
              <a:lnSpc>
                <a:spcPct val="110000"/>
              </a:lnSpc>
            </a:pPr>
            <a:r>
              <a:rPr lang="en-US" sz="2000" b="1" dirty="0">
                <a:solidFill>
                  <a:srgbClr val="008000"/>
                </a:solidFill>
              </a:rPr>
              <a:t>4.16</a:t>
            </a:r>
            <a:r>
              <a:rPr lang="en-US" sz="2000" dirty="0"/>
              <a:t> – Before adding any code</a:t>
            </a:r>
            <a:r>
              <a:rPr lang="en-US" sz="2000" i="1" dirty="0"/>
              <a:t>, right-click </a:t>
            </a:r>
            <a:r>
              <a:rPr lang="en-US" sz="2000" dirty="0"/>
              <a:t>a crab object in your world and select </a:t>
            </a:r>
            <a:r>
              <a:rPr lang="en-US" sz="2000" b="1" dirty="0"/>
              <a:t>Inspect</a:t>
            </a:r>
            <a:r>
              <a:rPr lang="en-US" sz="2000" dirty="0"/>
              <a:t> from the crab </a:t>
            </a:r>
            <a:r>
              <a:rPr lang="en-US" sz="2000" i="1" dirty="0"/>
              <a:t>object</a:t>
            </a:r>
            <a:r>
              <a:rPr lang="en-US" sz="2000" dirty="0"/>
              <a:t>'s popup menu</a:t>
            </a:r>
          </a:p>
          <a:p>
            <a:pPr>
              <a:lnSpc>
                <a:spcPct val="110000"/>
              </a:lnSpc>
            </a:pPr>
            <a:r>
              <a:rPr lang="en-US" sz="2000" b="1" dirty="0">
                <a:solidFill>
                  <a:srgbClr val="008000"/>
                </a:solidFill>
              </a:rPr>
              <a:t>4.17</a:t>
            </a:r>
            <a:r>
              <a:rPr lang="en-US" sz="2000" dirty="0"/>
              <a:t> – Why do you think the crab has </a:t>
            </a:r>
            <a:r>
              <a:rPr lang="en-US" sz="2000" i="1" dirty="0"/>
              <a:t>any</a:t>
            </a:r>
            <a:r>
              <a:rPr lang="en-US" sz="2000" dirty="0"/>
              <a:t> variables at all, even though we have not yet </a:t>
            </a:r>
            <a:r>
              <a:rPr lang="en-US" sz="2000" i="1" dirty="0"/>
              <a:t>declared </a:t>
            </a:r>
            <a:r>
              <a:rPr lang="en-US" sz="2000" dirty="0"/>
              <a:t>any in our </a:t>
            </a:r>
            <a:r>
              <a:rPr lang="en-US" sz="2000" b="1" dirty="0">
                <a:latin typeface="Courier New"/>
                <a:cs typeface="Courier New"/>
              </a:rPr>
              <a:t>Crab</a:t>
            </a:r>
            <a:r>
              <a:rPr lang="en-US" sz="2000" dirty="0"/>
              <a:t> class?</a:t>
            </a:r>
          </a:p>
          <a:p>
            <a:pPr>
              <a:lnSpc>
                <a:spcPct val="110000"/>
              </a:lnSpc>
            </a:pPr>
            <a:r>
              <a:rPr lang="en-US" sz="2000" b="1" dirty="0">
                <a:solidFill>
                  <a:srgbClr val="008000"/>
                </a:solidFill>
              </a:rPr>
              <a:t>4.18</a:t>
            </a:r>
            <a:r>
              <a:rPr lang="en-US" sz="2000" dirty="0"/>
              <a:t> – Add the </a:t>
            </a:r>
            <a:r>
              <a:rPr lang="en-US" sz="2000" b="1" dirty="0"/>
              <a:t>variable declarations </a:t>
            </a:r>
            <a:r>
              <a:rPr lang="en-US" sz="2000" dirty="0"/>
              <a:t>shown below to your version of the </a:t>
            </a:r>
            <a:r>
              <a:rPr lang="en-US" sz="2000" b="1" dirty="0">
                <a:latin typeface="Courier New"/>
                <a:cs typeface="Courier New"/>
              </a:rPr>
              <a:t>Crab</a:t>
            </a:r>
            <a:r>
              <a:rPr lang="en-US" sz="2000" dirty="0"/>
              <a:t> class. Make sure that the class compiles.</a:t>
            </a:r>
          </a:p>
          <a:p>
            <a:pPr>
              <a:lnSpc>
                <a:spcPct val="110000"/>
              </a:lnSpc>
            </a:pPr>
            <a:r>
              <a:rPr lang="en-US" sz="2000" b="1" dirty="0">
                <a:solidFill>
                  <a:srgbClr val="008000"/>
                </a:solidFill>
              </a:rPr>
              <a:t>4.19</a:t>
            </a:r>
            <a:r>
              <a:rPr lang="en-US" sz="2000" dirty="0"/>
              <a:t> – After adding the variables, </a:t>
            </a:r>
            <a:r>
              <a:rPr lang="en-US" sz="2000" b="1" dirty="0"/>
              <a:t>Inspect</a:t>
            </a:r>
            <a:r>
              <a:rPr lang="en-US" sz="2000" dirty="0"/>
              <a:t> your crab object again. Take a note of the variables and their values (shown in the white boxes)</a:t>
            </a:r>
          </a:p>
          <a:p>
            <a:pPr>
              <a:lnSpc>
                <a:spcPct val="110000"/>
              </a:lnSpc>
            </a:pPr>
            <a:endParaRPr lang="en-US" sz="2000" dirty="0"/>
          </a:p>
        </p:txBody>
      </p:sp>
      <p:sp>
        <p:nvSpPr>
          <p:cNvPr id="7" name="Rounded Rectangle 6"/>
          <p:cNvSpPr/>
          <p:nvPr/>
        </p:nvSpPr>
        <p:spPr>
          <a:xfrm>
            <a:off x="2574928" y="5307996"/>
            <a:ext cx="4421184" cy="749904"/>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079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Remember, variable declaration is not the same thing as variable assignment</a:t>
            </a:r>
            <a:endParaRPr lang="en-US" i="1" dirty="0">
              <a:highlight>
                <a:srgbClr val="FFFF00"/>
              </a:highlight>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r>
              <a:rPr lang="en-US" sz="2400" dirty="0"/>
              <a:t>Note that the declaration of these two </a:t>
            </a:r>
            <a:r>
              <a:rPr lang="en-US" sz="2400" b="1" dirty="0" err="1">
                <a:latin typeface="Courier New"/>
                <a:cs typeface="Courier New"/>
              </a:rPr>
              <a:t>GreenfootImage</a:t>
            </a:r>
            <a:r>
              <a:rPr lang="en-US" sz="2400" dirty="0"/>
              <a:t> variables (</a:t>
            </a:r>
            <a:r>
              <a:rPr lang="en-US" sz="2400" b="1" dirty="0">
                <a:latin typeface="Courier New"/>
                <a:cs typeface="Courier New"/>
              </a:rPr>
              <a:t>image1</a:t>
            </a:r>
            <a:r>
              <a:rPr lang="en-US" sz="2400" dirty="0"/>
              <a:t> and </a:t>
            </a:r>
            <a:r>
              <a:rPr lang="en-US" sz="2400" b="1" dirty="0">
                <a:latin typeface="Courier New"/>
                <a:cs typeface="Courier New"/>
              </a:rPr>
              <a:t>image2</a:t>
            </a:r>
            <a:r>
              <a:rPr lang="en-US" sz="2400" dirty="0"/>
              <a:t>) does not give us two </a:t>
            </a:r>
            <a:r>
              <a:rPr lang="en-US" sz="2400" b="1" dirty="0" err="1">
                <a:latin typeface="Courier New"/>
                <a:cs typeface="Courier New"/>
              </a:rPr>
              <a:t>GreenfootImage</a:t>
            </a:r>
            <a:r>
              <a:rPr lang="en-US" sz="2400" dirty="0"/>
              <a:t> objects! </a:t>
            </a:r>
          </a:p>
          <a:p>
            <a:r>
              <a:rPr lang="en-US" sz="2400" dirty="0"/>
              <a:t>All it does is give us </a:t>
            </a:r>
            <a:r>
              <a:rPr lang="en-US" sz="2400" dirty="0">
                <a:highlight>
                  <a:srgbClr val="FFFF00"/>
                </a:highlight>
              </a:rPr>
              <a:t>(allocate)</a:t>
            </a:r>
            <a:r>
              <a:rPr lang="en-US" sz="2400" dirty="0"/>
              <a:t> some </a:t>
            </a:r>
            <a:r>
              <a:rPr lang="en-US" sz="2400" dirty="0">
                <a:highlight>
                  <a:srgbClr val="FFFF00"/>
                </a:highlight>
              </a:rPr>
              <a:t>”empty space"</a:t>
            </a:r>
            <a:r>
              <a:rPr lang="en-US" sz="2400" dirty="0"/>
              <a:t> </a:t>
            </a:r>
            <a:r>
              <a:rPr lang="en-US" sz="2400" dirty="0">
                <a:highlight>
                  <a:srgbClr val="FFFF00"/>
                </a:highlight>
              </a:rPr>
              <a:t>(memory)</a:t>
            </a:r>
            <a:r>
              <a:rPr lang="en-US" sz="2400" dirty="0"/>
              <a:t> in which to store [references to] two objects!</a:t>
            </a:r>
          </a:p>
        </p:txBody>
      </p:sp>
      <p:pic>
        <p:nvPicPr>
          <p:cNvPr id="4" name="Picture 3" descr="Fig-4-3.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324" y="4457700"/>
            <a:ext cx="2108200" cy="2222500"/>
          </a:xfrm>
          <a:prstGeom prst="rect">
            <a:avLst/>
          </a:prstGeom>
        </p:spPr>
      </p:pic>
      <p:pic>
        <p:nvPicPr>
          <p:cNvPr id="7" name="Picture 6" descr="Screen Shot 2011-09-05 at 4.24.3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904" y="3673550"/>
            <a:ext cx="4405086" cy="3078611"/>
          </a:xfrm>
          <a:prstGeom prst="rect">
            <a:avLst/>
          </a:prstGeom>
        </p:spPr>
      </p:pic>
      <p:cxnSp>
        <p:nvCxnSpPr>
          <p:cNvPr id="9" name="Straight Arrow Connector 8"/>
          <p:cNvCxnSpPr>
            <a:cxnSpLocks/>
          </p:cNvCxnSpPr>
          <p:nvPr/>
        </p:nvCxnSpPr>
        <p:spPr>
          <a:xfrm flipV="1">
            <a:off x="2400300" y="4457700"/>
            <a:ext cx="3886200" cy="10744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cxnSpLocks/>
          </p:cNvCxnSpPr>
          <p:nvPr/>
        </p:nvCxnSpPr>
        <p:spPr>
          <a:xfrm flipV="1">
            <a:off x="2377440" y="4732020"/>
            <a:ext cx="3886200" cy="12344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78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Variable</a:t>
            </a:r>
            <a:r>
              <a:rPr lang="en-US" i="1" dirty="0"/>
              <a:t> declaration</a:t>
            </a:r>
            <a:r>
              <a:rPr lang="en-US" dirty="0"/>
              <a:t> is not the same thing as variable </a:t>
            </a:r>
            <a:r>
              <a:rPr lang="en-US" i="1" dirty="0"/>
              <a:t>assignment </a:t>
            </a:r>
            <a:r>
              <a:rPr lang="en-US" dirty="0"/>
              <a:t>(cont'd)</a:t>
            </a:r>
          </a:p>
        </p:txBody>
      </p:sp>
      <p:sp>
        <p:nvSpPr>
          <p:cNvPr id="3" name="Content Placeholder 2"/>
          <p:cNvSpPr>
            <a:spLocks noGrp="1"/>
          </p:cNvSpPr>
          <p:nvPr>
            <p:ph idx="1"/>
          </p:nvPr>
        </p:nvSpPr>
        <p:spPr/>
        <p:txBody>
          <a:bodyPr vert="horz" lIns="91440" tIns="45720" rIns="91440" bIns="45720" rtlCol="0" anchor="t">
            <a:normAutofit/>
          </a:bodyPr>
          <a:lstStyle/>
          <a:p>
            <a:r>
              <a:rPr lang="en-US" sz="2800" dirty="0"/>
              <a:t>Next, we actually have to create the two image objects and store them into the variables. The way we create the objects was already seen earlier:</a:t>
            </a:r>
          </a:p>
          <a:p>
            <a:endParaRPr lang="en-US" sz="2800" dirty="0"/>
          </a:p>
          <a:p>
            <a:endParaRPr lang="en-US" sz="2800" dirty="0"/>
          </a:p>
          <a:p>
            <a:r>
              <a:rPr lang="en-US" sz="2800" dirty="0"/>
              <a:t>To store the [a reference to]object into the variable, we need a Java construct known as an </a:t>
            </a:r>
            <a:r>
              <a:rPr lang="en-US" sz="2800" i="1" dirty="0"/>
              <a:t>assignment</a:t>
            </a:r>
            <a:r>
              <a:rPr lang="en-US" sz="2800" dirty="0"/>
              <a:t>. </a:t>
            </a:r>
          </a:p>
          <a:p>
            <a:r>
              <a:rPr lang="en-US" sz="2800" dirty="0"/>
              <a:t>An </a:t>
            </a:r>
            <a:r>
              <a:rPr lang="en-US" sz="2800" i="1" dirty="0"/>
              <a:t>assignment</a:t>
            </a:r>
            <a:r>
              <a:rPr lang="en-US" sz="2800" dirty="0"/>
              <a:t> is a statement that enables us to </a:t>
            </a:r>
            <a:r>
              <a:rPr lang="en-US" sz="2800" u="sng" dirty="0"/>
              <a:t>store</a:t>
            </a:r>
            <a:r>
              <a:rPr lang="en-US" sz="2800" dirty="0"/>
              <a:t> something (an object or value) into a </a:t>
            </a:r>
            <a:r>
              <a:rPr lang="en-US" sz="2800" u="sng" dirty="0"/>
              <a:t>variable:</a:t>
            </a:r>
            <a:r>
              <a:rPr lang="en-US" sz="2800" dirty="0"/>
              <a:t>  </a:t>
            </a:r>
          </a:p>
        </p:txBody>
      </p:sp>
      <p:sp>
        <p:nvSpPr>
          <p:cNvPr id="8" name="TextBox 7"/>
          <p:cNvSpPr txBox="1"/>
          <p:nvPr/>
        </p:nvSpPr>
        <p:spPr>
          <a:xfrm>
            <a:off x="1207105" y="3267560"/>
            <a:ext cx="6219372" cy="461665"/>
          </a:xfrm>
          <a:prstGeom prst="rect">
            <a:avLst/>
          </a:prstGeom>
          <a:noFill/>
        </p:spPr>
        <p:txBody>
          <a:bodyPr wrap="square" rtlCol="0">
            <a:spAutoFit/>
          </a:bodyPr>
          <a:lstStyle/>
          <a:p>
            <a:r>
              <a:rPr lang="en-US" sz="2400" b="1" dirty="0">
                <a:solidFill>
                  <a:schemeClr val="accent2"/>
                </a:solidFill>
                <a:latin typeface="Courier New"/>
                <a:cs typeface="Courier New"/>
              </a:rPr>
              <a:t>new</a:t>
            </a:r>
            <a:r>
              <a:rPr lang="en-US" sz="2400" b="1" dirty="0">
                <a:latin typeface="Courier New"/>
                <a:cs typeface="Courier New"/>
              </a:rPr>
              <a:t> </a:t>
            </a:r>
            <a:r>
              <a:rPr lang="en-US" sz="2400" b="1" dirty="0" err="1">
                <a:latin typeface="Courier New"/>
                <a:cs typeface="Courier New"/>
              </a:rPr>
              <a:t>GreenfootImage</a:t>
            </a:r>
            <a:r>
              <a:rPr lang="en-US" sz="2400" b="1" dirty="0">
                <a:latin typeface="Courier New"/>
                <a:cs typeface="Courier New"/>
              </a:rPr>
              <a:t>(</a:t>
            </a:r>
            <a:r>
              <a:rPr lang="en-US" sz="2400" b="1" dirty="0">
                <a:solidFill>
                  <a:srgbClr val="008000"/>
                </a:solidFill>
                <a:latin typeface="Courier New"/>
                <a:cs typeface="Courier New"/>
              </a:rPr>
              <a:t>"crab2.png"</a:t>
            </a:r>
            <a:r>
              <a:rPr lang="en-US" sz="2400" b="1" dirty="0">
                <a:latin typeface="Courier New"/>
                <a:cs typeface="Courier New"/>
              </a:rPr>
              <a:t>)</a:t>
            </a:r>
          </a:p>
        </p:txBody>
      </p:sp>
      <p:sp>
        <p:nvSpPr>
          <p:cNvPr id="5" name="TextBox 4"/>
          <p:cNvSpPr txBox="1"/>
          <p:nvPr/>
        </p:nvSpPr>
        <p:spPr>
          <a:xfrm>
            <a:off x="2177144" y="5968925"/>
            <a:ext cx="4959048" cy="523220"/>
          </a:xfrm>
          <a:prstGeom prst="rect">
            <a:avLst/>
          </a:prstGeom>
          <a:noFill/>
        </p:spPr>
        <p:txBody>
          <a:bodyPr wrap="square" lIns="91440" tIns="45720" rIns="91440" bIns="45720" rtlCol="0" anchor="t">
            <a:spAutoFit/>
          </a:bodyPr>
          <a:lstStyle/>
          <a:p>
            <a:r>
              <a:rPr lang="en-US" sz="2800" b="1" i="1">
                <a:solidFill>
                  <a:schemeClr val="bg1">
                    <a:lumMod val="50000"/>
                  </a:schemeClr>
                </a:solidFill>
                <a:highlight>
                  <a:srgbClr val="FFFF00"/>
                </a:highlight>
                <a:latin typeface="Courier New"/>
                <a:cs typeface="Courier New"/>
              </a:rPr>
              <a:t>Variable = expression;</a:t>
            </a:r>
            <a:endParaRPr lang="en-US" sz="2800" b="1" i="1" dirty="0">
              <a:solidFill>
                <a:schemeClr val="bg1">
                  <a:lumMod val="50000"/>
                </a:schemeClr>
              </a:solidFill>
              <a:highlight>
                <a:srgbClr val="FFFF00"/>
              </a:highlight>
              <a:latin typeface="Courier New"/>
              <a:cs typeface="Courier New"/>
            </a:endParaRPr>
          </a:p>
        </p:txBody>
      </p:sp>
    </p:spTree>
    <p:extLst>
      <p:ext uri="{BB962C8B-B14F-4D97-AF65-F5344CB8AC3E}">
        <p14:creationId xmlns:p14="http://schemas.microsoft.com/office/powerpoint/2010/main" val="1005176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Autofit/>
          </a:bodyPr>
          <a:lstStyle/>
          <a:p>
            <a:r>
              <a:rPr lang="en-US" sz="2800" b="1" dirty="0">
                <a:solidFill>
                  <a:srgbClr val="FF0000"/>
                </a:solidFill>
              </a:rPr>
              <a:t>Concept: </a:t>
            </a:r>
            <a:r>
              <a:rPr lang="en-US" sz="2800" dirty="0"/>
              <a:t>An </a:t>
            </a:r>
            <a:r>
              <a:rPr lang="en-US" sz="2800" b="1" dirty="0"/>
              <a:t>assignment statement </a:t>
            </a:r>
            <a:r>
              <a:rPr lang="en-US" sz="2800" dirty="0"/>
              <a:t>assigns </a:t>
            </a:r>
            <a:r>
              <a:rPr lang="en-US" sz="2800" strike="sngStrike" dirty="0">
                <a:solidFill>
                  <a:schemeClr val="bg1">
                    <a:lumMod val="65000"/>
                  </a:schemeClr>
                </a:solidFill>
              </a:rPr>
              <a:t>an object </a:t>
            </a:r>
            <a:r>
              <a:rPr lang="en-US" sz="2800" u="sng" dirty="0"/>
              <a:t>an object reference </a:t>
            </a:r>
            <a:r>
              <a:rPr lang="en-US" sz="2800" dirty="0"/>
              <a:t>or a </a:t>
            </a:r>
            <a:r>
              <a:rPr lang="en-US" sz="2800" u="sng" dirty="0"/>
              <a:t>value</a:t>
            </a:r>
            <a:r>
              <a:rPr lang="en-US" sz="2800" dirty="0"/>
              <a:t> to a variable</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rPr lang="en-US" sz="2400" dirty="0"/>
              <a:t>An </a:t>
            </a:r>
            <a:r>
              <a:rPr lang="en-US" sz="2400" i="1" dirty="0"/>
              <a:t>assignment statement </a:t>
            </a:r>
            <a:r>
              <a:rPr lang="en-US" sz="2400" dirty="0"/>
              <a:t>is written using a single equals </a:t>
            </a:r>
            <a:r>
              <a:rPr lang="en-US" sz="2400" dirty="0" err="1"/>
              <a:t>sigin</a:t>
            </a:r>
            <a:r>
              <a:rPr lang="en-US" sz="2400" dirty="0">
                <a:highlight>
                  <a:srgbClr val="FFFF00"/>
                </a:highlight>
              </a:rPr>
              <a:t>:</a:t>
            </a:r>
          </a:p>
          <a:p>
            <a:endParaRPr lang="en-US" dirty="0"/>
          </a:p>
          <a:p>
            <a:endParaRPr lang="en-US" dirty="0"/>
          </a:p>
          <a:p>
            <a:endParaRPr lang="en-US" dirty="0"/>
          </a:p>
          <a:p>
            <a:endParaRPr lang="en-US" dirty="0"/>
          </a:p>
          <a:p>
            <a:r>
              <a:rPr lang="en-US" sz="2400" dirty="0"/>
              <a:t>In our crab example, we will write:</a:t>
            </a:r>
          </a:p>
          <a:p>
            <a:endParaRPr lang="en-US" sz="2400" dirty="0"/>
          </a:p>
          <a:p>
            <a:endParaRPr lang="en-US" sz="2400" dirty="0"/>
          </a:p>
          <a:p>
            <a:r>
              <a:rPr lang="en-US" sz="2400" dirty="0"/>
              <a:t>These two lines of code will </a:t>
            </a:r>
            <a:r>
              <a:rPr lang="en-US" sz="2400" b="1" dirty="0"/>
              <a:t>create</a:t>
            </a:r>
            <a:r>
              <a:rPr lang="en-US" sz="2400" dirty="0"/>
              <a:t> the two images we wish to use and </a:t>
            </a:r>
            <a:r>
              <a:rPr lang="en-US" sz="2400" b="1" dirty="0"/>
              <a:t>store</a:t>
            </a:r>
            <a:r>
              <a:rPr lang="en-US" sz="2400" dirty="0"/>
              <a:t> (references to)them into the variables </a:t>
            </a:r>
            <a:r>
              <a:rPr lang="en-US" sz="2400" b="1" dirty="0">
                <a:latin typeface="Courier New"/>
                <a:cs typeface="Courier New"/>
              </a:rPr>
              <a:t>image1</a:t>
            </a:r>
            <a:r>
              <a:rPr lang="en-US" sz="2400" dirty="0"/>
              <a:t> and </a:t>
            </a:r>
            <a:r>
              <a:rPr lang="en-US" sz="2400" b="1" dirty="0">
                <a:latin typeface="Courier New"/>
                <a:cs typeface="Courier New"/>
              </a:rPr>
              <a:t>image2</a:t>
            </a:r>
            <a:r>
              <a:rPr lang="en-US" sz="2400" dirty="0"/>
              <a:t>.</a:t>
            </a:r>
          </a:p>
        </p:txBody>
      </p:sp>
      <p:sp>
        <p:nvSpPr>
          <p:cNvPr id="4" name="TextBox 3"/>
          <p:cNvSpPr txBox="1"/>
          <p:nvPr/>
        </p:nvSpPr>
        <p:spPr>
          <a:xfrm>
            <a:off x="2298095" y="2473228"/>
            <a:ext cx="4959048" cy="523220"/>
          </a:xfrm>
          <a:prstGeom prst="rect">
            <a:avLst/>
          </a:prstGeom>
          <a:noFill/>
        </p:spPr>
        <p:txBody>
          <a:bodyPr wrap="square" rtlCol="0">
            <a:spAutoFit/>
          </a:bodyPr>
          <a:lstStyle/>
          <a:p>
            <a:r>
              <a:rPr lang="en-US" sz="2800" b="1" i="1" dirty="0">
                <a:solidFill>
                  <a:schemeClr val="bg1">
                    <a:lumMod val="50000"/>
                  </a:schemeClr>
                </a:solidFill>
                <a:latin typeface="Courier New"/>
                <a:cs typeface="Courier New"/>
              </a:rPr>
              <a:t>variable</a:t>
            </a:r>
            <a:r>
              <a:rPr lang="en-US" sz="2800" b="1" dirty="0">
                <a:latin typeface="Courier New"/>
                <a:cs typeface="Courier New"/>
              </a:rPr>
              <a:t> = </a:t>
            </a:r>
            <a:r>
              <a:rPr lang="en-US" sz="2800" b="1" i="1" dirty="0">
                <a:solidFill>
                  <a:srgbClr val="7F7F7F"/>
                </a:solidFill>
                <a:latin typeface="Courier New"/>
                <a:cs typeface="Courier New"/>
              </a:rPr>
              <a:t>expression</a:t>
            </a:r>
            <a:r>
              <a:rPr lang="en-US" sz="2800" b="1" dirty="0">
                <a:latin typeface="Courier New"/>
                <a:cs typeface="Courier New"/>
              </a:rPr>
              <a:t>;</a:t>
            </a:r>
          </a:p>
        </p:txBody>
      </p:sp>
      <p:sp>
        <p:nvSpPr>
          <p:cNvPr id="5" name="TextBox 4"/>
          <p:cNvSpPr txBox="1"/>
          <p:nvPr/>
        </p:nvSpPr>
        <p:spPr>
          <a:xfrm>
            <a:off x="120955" y="2241928"/>
            <a:ext cx="2104570"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On the </a:t>
            </a:r>
            <a:r>
              <a:rPr lang="en-US" sz="1600" b="1" dirty="0"/>
              <a:t>left</a:t>
            </a:r>
            <a:r>
              <a:rPr lang="en-US" sz="1600" dirty="0"/>
              <a:t> of the equals sign is the name of the variable that we will use for storage…</a:t>
            </a:r>
          </a:p>
        </p:txBody>
      </p:sp>
      <p:sp>
        <p:nvSpPr>
          <p:cNvPr id="6" name="TextBox 5"/>
          <p:cNvSpPr txBox="1"/>
          <p:nvPr/>
        </p:nvSpPr>
        <p:spPr>
          <a:xfrm>
            <a:off x="7245047" y="2181453"/>
            <a:ext cx="1797353" cy="206210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…on the </a:t>
            </a:r>
            <a:r>
              <a:rPr lang="en-US" sz="1600" b="1" dirty="0"/>
              <a:t>right</a:t>
            </a:r>
            <a:r>
              <a:rPr lang="en-US" sz="1600" dirty="0"/>
              <a:t> of the equals sign is the </a:t>
            </a:r>
            <a:r>
              <a:rPr lang="en-US" sz="1600" b="1" dirty="0"/>
              <a:t>object reference</a:t>
            </a:r>
            <a:r>
              <a:rPr lang="en-US" sz="1600" dirty="0"/>
              <a:t> or </a:t>
            </a:r>
            <a:r>
              <a:rPr lang="en-US" sz="1600" b="1" dirty="0"/>
              <a:t>value</a:t>
            </a:r>
            <a:r>
              <a:rPr lang="en-US" sz="1600" dirty="0"/>
              <a:t> (of the expression) that we want to store in the variable on the left</a:t>
            </a:r>
          </a:p>
        </p:txBody>
      </p:sp>
      <p:sp>
        <p:nvSpPr>
          <p:cNvPr id="7" name="TextBox 6"/>
          <p:cNvSpPr txBox="1"/>
          <p:nvPr/>
        </p:nvSpPr>
        <p:spPr>
          <a:xfrm>
            <a:off x="2450496" y="3055385"/>
            <a:ext cx="466150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equals sign is also called the </a:t>
            </a:r>
            <a:r>
              <a:rPr lang="en-US" sz="1600" i="1" dirty="0"/>
              <a:t>assignment symbol</a:t>
            </a:r>
            <a:r>
              <a:rPr lang="en-US" sz="1600" dirty="0"/>
              <a:t>. Sometimes we may read it as "</a:t>
            </a:r>
            <a:r>
              <a:rPr lang="en-US" sz="1600" i="1" dirty="0"/>
              <a:t>becomes</a:t>
            </a:r>
            <a:r>
              <a:rPr lang="en-US" sz="1600" dirty="0"/>
              <a:t>", as in "variable </a:t>
            </a:r>
            <a:r>
              <a:rPr lang="en-US" sz="1600" i="1" dirty="0"/>
              <a:t>becomes</a:t>
            </a:r>
            <a:r>
              <a:rPr lang="en-US" sz="1600" dirty="0"/>
              <a:t> (the value of the) expression"</a:t>
            </a:r>
          </a:p>
        </p:txBody>
      </p:sp>
      <p:sp>
        <p:nvSpPr>
          <p:cNvPr id="8" name="Rectangle 7"/>
          <p:cNvSpPr/>
          <p:nvPr/>
        </p:nvSpPr>
        <p:spPr>
          <a:xfrm>
            <a:off x="1657047" y="4429407"/>
            <a:ext cx="6180667" cy="646331"/>
          </a:xfrm>
          <a:prstGeom prst="rect">
            <a:avLst/>
          </a:prstGeom>
        </p:spPr>
        <p:txBody>
          <a:bodyPr wrap="square">
            <a:spAutoFit/>
          </a:bodyPr>
          <a:lstStyle/>
          <a:p>
            <a:r>
              <a:rPr lang="en-US" b="1" dirty="0">
                <a:latin typeface="Courier New"/>
                <a:cs typeface="Courier New"/>
              </a:rPr>
              <a:t>image1 = </a:t>
            </a:r>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a:t>
            </a:r>
            <a:r>
              <a:rPr lang="en-US" b="1" dirty="0" err="1">
                <a:solidFill>
                  <a:srgbClr val="008000"/>
                </a:solidFill>
                <a:latin typeface="Courier New"/>
                <a:cs typeface="Courier New"/>
              </a:rPr>
              <a:t>crab.png</a:t>
            </a:r>
            <a:r>
              <a:rPr lang="en-US" b="1" dirty="0">
                <a:solidFill>
                  <a:srgbClr val="008000"/>
                </a:solidFill>
                <a:latin typeface="Courier New"/>
                <a:cs typeface="Courier New"/>
              </a:rPr>
              <a:t>"</a:t>
            </a:r>
            <a:r>
              <a:rPr lang="en-US" b="1" dirty="0">
                <a:latin typeface="Courier New"/>
                <a:cs typeface="Courier New"/>
              </a:rPr>
              <a:t>);</a:t>
            </a:r>
          </a:p>
          <a:p>
            <a:r>
              <a:rPr lang="en-US" b="1" dirty="0">
                <a:latin typeface="Courier New"/>
                <a:cs typeface="Courier New"/>
              </a:rPr>
              <a:t>image2 = </a:t>
            </a:r>
            <a:r>
              <a:rPr lang="en-US" b="1" dirty="0">
                <a:solidFill>
                  <a:schemeClr val="accent2"/>
                </a:solidFill>
                <a:latin typeface="Courier New"/>
                <a:cs typeface="Courier New"/>
              </a:rPr>
              <a:t>new</a:t>
            </a:r>
            <a:r>
              <a:rPr lang="en-US" b="1" dirty="0">
                <a:latin typeface="Courier New"/>
                <a:cs typeface="Courier New"/>
              </a:rPr>
              <a:t> </a:t>
            </a:r>
            <a:r>
              <a:rPr lang="en-US" b="1" dirty="0" err="1">
                <a:latin typeface="Courier New"/>
                <a:cs typeface="Courier New"/>
              </a:rPr>
              <a:t>GreenfootImage</a:t>
            </a:r>
            <a:r>
              <a:rPr lang="en-US" b="1" dirty="0">
                <a:latin typeface="Courier New"/>
                <a:cs typeface="Courier New"/>
              </a:rPr>
              <a:t>(</a:t>
            </a:r>
            <a:r>
              <a:rPr lang="en-US" b="1" dirty="0">
                <a:solidFill>
                  <a:srgbClr val="008000"/>
                </a:solidFill>
                <a:latin typeface="Courier New"/>
                <a:cs typeface="Courier New"/>
              </a:rPr>
              <a:t>"crab2.png"</a:t>
            </a:r>
            <a:r>
              <a:rPr lang="en-US" b="1" dirty="0">
                <a:latin typeface="Courier New"/>
                <a:cs typeface="Courier New"/>
              </a:rPr>
              <a:t>);</a:t>
            </a:r>
          </a:p>
        </p:txBody>
      </p:sp>
    </p:spTree>
    <p:extLst>
      <p:ext uri="{BB962C8B-B14F-4D97-AF65-F5344CB8AC3E}">
        <p14:creationId xmlns:p14="http://schemas.microsoft.com/office/powerpoint/2010/main" val="1728933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94504"/>
          </a:xfrm>
        </p:spPr>
        <p:txBody>
          <a:bodyPr>
            <a:noAutofit/>
          </a:bodyPr>
          <a:lstStyle/>
          <a:p>
            <a:r>
              <a:rPr lang="en-US" sz="2800" dirty="0"/>
              <a:t>We will then have three objects (one crab, two images), and the crab's </a:t>
            </a:r>
            <a:r>
              <a:rPr lang="en-US" sz="2800" i="1" dirty="0"/>
              <a:t>variables</a:t>
            </a:r>
            <a:r>
              <a:rPr lang="en-US" sz="2800" dirty="0"/>
              <a:t> will contain </a:t>
            </a:r>
            <a:r>
              <a:rPr lang="en-US" sz="2800" b="1" dirty="0"/>
              <a:t>references</a:t>
            </a:r>
            <a:r>
              <a:rPr lang="en-US" sz="2800" dirty="0"/>
              <a:t> to those images</a:t>
            </a:r>
          </a:p>
        </p:txBody>
      </p:sp>
      <p:sp>
        <p:nvSpPr>
          <p:cNvPr id="3" name="Content Placeholder 2"/>
          <p:cNvSpPr>
            <a:spLocks noGrp="1"/>
          </p:cNvSpPr>
          <p:nvPr>
            <p:ph idx="1"/>
          </p:nvPr>
        </p:nvSpPr>
        <p:spPr>
          <a:xfrm>
            <a:off x="505580" y="5237238"/>
            <a:ext cx="8229600" cy="967620"/>
          </a:xfrm>
        </p:spPr>
        <p:style>
          <a:lnRef idx="1">
            <a:schemeClr val="accent3"/>
          </a:lnRef>
          <a:fillRef idx="2">
            <a:schemeClr val="accent3"/>
          </a:fillRef>
          <a:effectRef idx="1">
            <a:schemeClr val="accent3"/>
          </a:effectRef>
          <a:fontRef idx="minor">
            <a:schemeClr val="dk1"/>
          </a:fontRef>
        </p:style>
        <p:txBody>
          <a:bodyPr>
            <a:noAutofit/>
          </a:bodyPr>
          <a:lstStyle/>
          <a:p>
            <a:pPr marL="0" indent="0" algn="ctr">
              <a:buNone/>
            </a:pPr>
            <a:r>
              <a:rPr lang="en-US" sz="2800" b="1" dirty="0">
                <a:solidFill>
                  <a:srgbClr val="FF0000"/>
                </a:solidFill>
              </a:rPr>
              <a:t>Concept: </a:t>
            </a:r>
            <a:r>
              <a:rPr lang="en-US" sz="2800" dirty="0"/>
              <a:t>When an object is </a:t>
            </a:r>
            <a:r>
              <a:rPr lang="en-US" sz="2800" i="1" dirty="0"/>
              <a:t>assigned</a:t>
            </a:r>
            <a:r>
              <a:rPr lang="en-US" sz="2800" dirty="0"/>
              <a:t> to a variable, the variable contains a </a:t>
            </a:r>
            <a:r>
              <a:rPr lang="en-US" sz="2800" b="1" dirty="0"/>
              <a:t>reference</a:t>
            </a:r>
            <a:r>
              <a:rPr lang="en-US" sz="2800" dirty="0"/>
              <a:t> to that object.</a:t>
            </a:r>
          </a:p>
        </p:txBody>
      </p:sp>
      <p:pic>
        <p:nvPicPr>
          <p:cNvPr id="7" name="Picture 6" descr="Fig-4-4.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252" y="1302014"/>
            <a:ext cx="4851400" cy="3708400"/>
          </a:xfrm>
          <a:prstGeom prst="rect">
            <a:avLst/>
          </a:prstGeom>
        </p:spPr>
      </p:pic>
    </p:spTree>
    <p:extLst>
      <p:ext uri="{BB962C8B-B14F-4D97-AF65-F5344CB8AC3E}">
        <p14:creationId xmlns:p14="http://schemas.microsoft.com/office/powerpoint/2010/main" val="197151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b="1" dirty="0"/>
              <a:t>actor constructors</a:t>
            </a:r>
          </a:p>
        </p:txBody>
      </p:sp>
      <p:sp>
        <p:nvSpPr>
          <p:cNvPr id="3" name="Content Placeholder 2"/>
          <p:cNvSpPr>
            <a:spLocks noGrp="1"/>
          </p:cNvSpPr>
          <p:nvPr>
            <p:ph idx="1"/>
          </p:nvPr>
        </p:nvSpPr>
        <p:spPr/>
        <p:txBody>
          <a:bodyPr vert="horz" lIns="91440" tIns="45720" rIns="91440" bIns="45720" rtlCol="0" anchor="t">
            <a:noAutofit/>
          </a:bodyPr>
          <a:lstStyle/>
          <a:p>
            <a:r>
              <a:rPr lang="en-US" sz="2400" dirty="0"/>
              <a:t>So where do we actually </a:t>
            </a:r>
            <a:r>
              <a:rPr lang="en-US" sz="2400" i="1" dirty="0"/>
              <a:t>put</a:t>
            </a:r>
            <a:r>
              <a:rPr lang="en-US" sz="2400" dirty="0"/>
              <a:t> the code for creating the images and storing them in their corresponding variables?</a:t>
            </a:r>
          </a:p>
          <a:p>
            <a:r>
              <a:rPr lang="en-US" sz="2400" dirty="0"/>
              <a:t>Since this should only be done once</a:t>
            </a:r>
            <a:r>
              <a:rPr lang="en-US" sz="2400" b="1" dirty="0"/>
              <a:t> </a:t>
            </a:r>
            <a:r>
              <a:rPr lang="en-US" sz="2400" dirty="0"/>
              <a:t> (when the object is created), and NOT EVERY TIME we call the Crab's act method</a:t>
            </a:r>
            <a:r>
              <a:rPr lang="en-US" sz="2400" dirty="0">
                <a:highlight>
                  <a:srgbClr val="FFFF00"/>
                </a:highlight>
              </a:rPr>
              <a:t>,</a:t>
            </a:r>
            <a:r>
              <a:rPr lang="en-US" sz="2400" dirty="0"/>
              <a:t> we cannot put this code inside the Crab's act method. Instead, we will put this code inside a constructor</a:t>
            </a:r>
            <a:r>
              <a:rPr lang="en-US" sz="2400" i="1" dirty="0"/>
              <a:t> </a:t>
            </a:r>
            <a:r>
              <a:rPr lang="en-US" sz="2400" dirty="0"/>
              <a:t> for the crab.</a:t>
            </a:r>
          </a:p>
          <a:p>
            <a:r>
              <a:rPr lang="en-US" sz="2400" dirty="0"/>
              <a:t>Just as we used the constructor of the world to initialize the world, we can use a constructor of an actor class to initialize the actor.</a:t>
            </a:r>
          </a:p>
          <a:p>
            <a:r>
              <a:rPr lang="en-US" sz="2400" dirty="0"/>
              <a:t>The code in the constructor is executed once </a:t>
            </a:r>
            <a:r>
              <a:rPr lang="en-US" sz="2400" dirty="0">
                <a:highlight>
                  <a:srgbClr val="FFFF00"/>
                </a:highlight>
              </a:rPr>
              <a:t>,</a:t>
            </a:r>
            <a:r>
              <a:rPr lang="en-US" sz="2400" dirty="0"/>
              <a:t> when the actor object is created </a:t>
            </a:r>
            <a:r>
              <a:rPr lang="en-US" sz="2400" dirty="0">
                <a:highlight>
                  <a:srgbClr val="FFFF00"/>
                </a:highlight>
              </a:rPr>
              <a:t>.</a:t>
            </a:r>
          </a:p>
          <a:p>
            <a:pPr lvl="1">
              <a:buFont typeface="Courier New"/>
              <a:buChar char="o"/>
            </a:pPr>
            <a:r>
              <a:rPr lang="en-US" sz="2000" dirty="0">
                <a:highlight>
                  <a:srgbClr val="FFFF00"/>
                </a:highlight>
                <a:ea typeface="Calibri"/>
                <a:cs typeface="Calibri"/>
              </a:rPr>
              <a:t>But remember that the act method is executed repeatedly</a:t>
            </a:r>
          </a:p>
        </p:txBody>
      </p:sp>
    </p:spTree>
    <p:extLst>
      <p:ext uri="{BB962C8B-B14F-4D97-AF65-F5344CB8AC3E}">
        <p14:creationId xmlns:p14="http://schemas.microsoft.com/office/powerpoint/2010/main" val="72392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837"/>
            <a:ext cx="8229600" cy="862313"/>
          </a:xfrm>
        </p:spPr>
        <p:txBody>
          <a:bodyPr>
            <a:normAutofit fontScale="90000"/>
          </a:bodyPr>
          <a:lstStyle/>
          <a:p>
            <a:r>
              <a:rPr lang="en-US" sz="3600" dirty="0"/>
              <a:t>Initializing the variables in the </a:t>
            </a:r>
            <a:r>
              <a:rPr lang="en-US" sz="3600" b="1" dirty="0">
                <a:latin typeface="Courier New"/>
                <a:cs typeface="Courier New"/>
              </a:rPr>
              <a:t>Crab</a:t>
            </a:r>
            <a:r>
              <a:rPr lang="en-US" sz="3600" dirty="0"/>
              <a:t> constructor</a:t>
            </a:r>
          </a:p>
        </p:txBody>
      </p:sp>
      <p:sp>
        <p:nvSpPr>
          <p:cNvPr id="4" name="Rectangle 3"/>
          <p:cNvSpPr/>
          <p:nvPr/>
        </p:nvSpPr>
        <p:spPr>
          <a:xfrm>
            <a:off x="0" y="751366"/>
            <a:ext cx="9144000" cy="5586145"/>
          </a:xfrm>
          <a:prstGeom prst="rect">
            <a:avLst/>
          </a:prstGeom>
          <a:solidFill>
            <a:srgbClr val="FFF5B5"/>
          </a:solidFill>
        </p:spPr>
        <p:txBody>
          <a:bodyPr wrap="square">
            <a:spAutoFit/>
          </a:bodyPr>
          <a:lstStyle/>
          <a:p>
            <a:r>
              <a:rPr lang="en-US" sz="1700" b="1" dirty="0">
                <a:solidFill>
                  <a:schemeClr val="accent2"/>
                </a:solidFill>
                <a:latin typeface="Courier New"/>
                <a:cs typeface="Courier New"/>
              </a:rPr>
              <a:t>import </a:t>
            </a:r>
            <a:r>
              <a:rPr lang="en-US" sz="1700" b="1" dirty="0" err="1">
                <a:latin typeface="Courier New"/>
                <a:cs typeface="Courier New"/>
              </a:rPr>
              <a:t>greenfoot</a:t>
            </a:r>
            <a:r>
              <a:rPr lang="en-US" sz="1700" b="1" dirty="0">
                <a:latin typeface="Courier New"/>
                <a:cs typeface="Courier New"/>
              </a:rPr>
              <a:t>.*; </a:t>
            </a:r>
            <a:r>
              <a:rPr lang="en-US" sz="1700" b="1" dirty="0">
                <a:solidFill>
                  <a:schemeClr val="bg1">
                    <a:lumMod val="50000"/>
                  </a:schemeClr>
                </a:solidFill>
                <a:latin typeface="Courier New"/>
                <a:cs typeface="Courier New"/>
              </a:rPr>
              <a:t>// (Actor, World, </a:t>
            </a:r>
            <a:r>
              <a:rPr lang="en-US" sz="1700" b="1" dirty="0" err="1">
                <a:solidFill>
                  <a:schemeClr val="bg1">
                    <a:lumMod val="50000"/>
                  </a:schemeClr>
                </a:solidFill>
                <a:latin typeface="Courier New"/>
                <a:cs typeface="Courier New"/>
              </a:rPr>
              <a:t>Greenfoot</a:t>
            </a:r>
            <a:r>
              <a:rPr lang="en-US" sz="1700" b="1" dirty="0">
                <a:solidFill>
                  <a:schemeClr val="bg1">
                    <a:lumMod val="50000"/>
                  </a:schemeClr>
                </a:solidFill>
                <a:latin typeface="Courier New"/>
                <a:cs typeface="Courier New"/>
              </a:rPr>
              <a:t>, </a:t>
            </a:r>
            <a:r>
              <a:rPr lang="en-US" sz="1700" b="1" dirty="0" err="1">
                <a:solidFill>
                  <a:schemeClr val="bg1">
                    <a:lumMod val="50000"/>
                  </a:schemeClr>
                </a:solidFill>
                <a:latin typeface="Courier New"/>
                <a:cs typeface="Courier New"/>
              </a:rPr>
              <a:t>GreenfootImage</a:t>
            </a:r>
            <a:r>
              <a:rPr lang="en-US" sz="1700" b="1" dirty="0">
                <a:solidFill>
                  <a:schemeClr val="bg1">
                    <a:lumMod val="50000"/>
                  </a:schemeClr>
                </a:solidFill>
                <a:latin typeface="Courier New"/>
                <a:cs typeface="Courier New"/>
              </a:rPr>
              <a:t>)</a:t>
            </a:r>
            <a:r>
              <a:rPr lang="en-US" sz="1700" b="1" dirty="0">
                <a:latin typeface="Courier New"/>
                <a:cs typeface="Courier New"/>
              </a:rPr>
              <a:t>  </a:t>
            </a:r>
          </a:p>
          <a:p>
            <a:endParaRPr lang="en-US" sz="1700" b="1" dirty="0">
              <a:latin typeface="Courier New"/>
              <a:cs typeface="Courier New"/>
            </a:endParaRPr>
          </a:p>
          <a:p>
            <a:r>
              <a:rPr lang="en-US" sz="1700" b="1" dirty="0">
                <a:solidFill>
                  <a:schemeClr val="bg1">
                    <a:lumMod val="50000"/>
                  </a:schemeClr>
                </a:solidFill>
                <a:latin typeface="Courier New"/>
                <a:cs typeface="Courier New"/>
              </a:rPr>
              <a:t>// </a:t>
            </a:r>
            <a:r>
              <a:rPr lang="en-US" sz="1700" b="1" i="1" dirty="0" err="1">
                <a:solidFill>
                  <a:schemeClr val="bg1">
                    <a:lumMod val="50000"/>
                  </a:schemeClr>
                </a:solidFill>
                <a:latin typeface="Courier New"/>
                <a:cs typeface="Courier New"/>
              </a:rPr>
              <a:t>JavaDoc</a:t>
            </a:r>
            <a:r>
              <a:rPr lang="en-US" sz="1700" b="1" dirty="0">
                <a:solidFill>
                  <a:schemeClr val="bg1">
                    <a:lumMod val="50000"/>
                  </a:schemeClr>
                </a:solidFill>
                <a:latin typeface="Courier New"/>
                <a:cs typeface="Courier New"/>
              </a:rPr>
              <a:t> </a:t>
            </a:r>
            <a:r>
              <a:rPr lang="en-US" sz="1700" b="1" i="1" dirty="0">
                <a:solidFill>
                  <a:schemeClr val="bg1">
                    <a:lumMod val="50000"/>
                  </a:schemeClr>
                </a:solidFill>
                <a:latin typeface="Courier New"/>
                <a:cs typeface="Courier New"/>
              </a:rPr>
              <a:t>comment omitted</a:t>
            </a:r>
            <a:endParaRPr lang="en-US" sz="1700" b="1" dirty="0">
              <a:latin typeface="Courier New"/>
              <a:cs typeface="Courier New"/>
            </a:endParaRPr>
          </a:p>
          <a:p>
            <a:r>
              <a:rPr lang="en-US" sz="1700" b="1" dirty="0">
                <a:solidFill>
                  <a:schemeClr val="accent2">
                    <a:lumMod val="75000"/>
                  </a:schemeClr>
                </a:solidFill>
                <a:latin typeface="Courier New"/>
                <a:cs typeface="Courier New"/>
              </a:rPr>
              <a:t>public</a:t>
            </a:r>
            <a:r>
              <a:rPr lang="en-US" sz="1700" b="1" dirty="0">
                <a:solidFill>
                  <a:schemeClr val="accent2"/>
                </a:solidFill>
                <a:latin typeface="Courier New"/>
                <a:cs typeface="Courier New"/>
              </a:rPr>
              <a:t> class </a:t>
            </a:r>
            <a:r>
              <a:rPr lang="en-US" sz="1700" b="1" dirty="0">
                <a:latin typeface="Courier New"/>
                <a:cs typeface="Courier New"/>
              </a:rPr>
              <a:t>Crab</a:t>
            </a:r>
            <a:r>
              <a:rPr lang="en-US" sz="1700" b="1" dirty="0">
                <a:solidFill>
                  <a:schemeClr val="accent2"/>
                </a:solidFill>
                <a:latin typeface="Courier New"/>
                <a:cs typeface="Courier New"/>
              </a:rPr>
              <a:t> extends </a:t>
            </a:r>
            <a:r>
              <a:rPr lang="en-US" sz="1700" b="1" dirty="0">
                <a:solidFill>
                  <a:srgbClr val="000000"/>
                </a:solidFill>
                <a:latin typeface="Courier New"/>
                <a:cs typeface="Courier New"/>
              </a:rPr>
              <a:t>Actor</a:t>
            </a:r>
          </a:p>
          <a:p>
            <a:r>
              <a:rPr lang="en-US" sz="1700" b="1" dirty="0">
                <a:latin typeface="Courier New"/>
                <a:cs typeface="Courier New"/>
              </a:rPr>
              <a:t>{</a:t>
            </a:r>
          </a:p>
          <a:p>
            <a:r>
              <a:rPr lang="en-US" sz="1700" b="1" dirty="0">
                <a:latin typeface="Courier New"/>
                <a:cs typeface="Courier New"/>
              </a:rPr>
              <a:t>	</a:t>
            </a:r>
            <a:r>
              <a:rPr lang="en-US" sz="1700" b="1" dirty="0">
                <a:solidFill>
                  <a:srgbClr val="953735"/>
                </a:solidFill>
                <a:latin typeface="Courier New"/>
                <a:cs typeface="Courier New"/>
              </a:rPr>
              <a:t>private</a:t>
            </a:r>
            <a:r>
              <a:rPr lang="en-US" sz="1700" b="1" dirty="0">
                <a:latin typeface="Courier New"/>
                <a:cs typeface="Courier New"/>
              </a:rPr>
              <a:t> </a:t>
            </a:r>
            <a:r>
              <a:rPr lang="en-US" sz="1700" b="1" dirty="0" err="1">
                <a:latin typeface="Courier New"/>
                <a:cs typeface="Courier New"/>
              </a:rPr>
              <a:t>GreenfootImage</a:t>
            </a:r>
            <a:r>
              <a:rPr lang="en-US" sz="1700" b="1" dirty="0">
                <a:latin typeface="Courier New"/>
                <a:cs typeface="Courier New"/>
              </a:rPr>
              <a:t> image1;</a:t>
            </a:r>
          </a:p>
          <a:p>
            <a:r>
              <a:rPr lang="en-US" sz="1700" b="1" dirty="0">
                <a:latin typeface="Courier New"/>
                <a:cs typeface="Courier New"/>
              </a:rPr>
              <a:t>	</a:t>
            </a:r>
            <a:r>
              <a:rPr lang="en-US" sz="1700" b="1" dirty="0">
                <a:solidFill>
                  <a:srgbClr val="953735"/>
                </a:solidFill>
                <a:latin typeface="Courier New"/>
                <a:cs typeface="Courier New"/>
              </a:rPr>
              <a:t>private</a:t>
            </a:r>
            <a:r>
              <a:rPr lang="en-US" sz="1700" b="1" dirty="0">
                <a:latin typeface="Courier New"/>
                <a:cs typeface="Courier New"/>
              </a:rPr>
              <a:t> </a:t>
            </a:r>
            <a:r>
              <a:rPr lang="en-US" sz="1700" b="1" dirty="0" err="1">
                <a:latin typeface="Courier New"/>
                <a:cs typeface="Courier New"/>
              </a:rPr>
              <a:t>GreenfootImage</a:t>
            </a:r>
            <a:r>
              <a:rPr lang="en-US" sz="1700" b="1" dirty="0">
                <a:latin typeface="Courier New"/>
                <a:cs typeface="Courier New"/>
              </a:rPr>
              <a:t> image2;</a:t>
            </a:r>
          </a:p>
          <a:p>
            <a:endParaRPr lang="en-US" sz="1700" b="1" dirty="0">
              <a:latin typeface="Courier New"/>
              <a:cs typeface="Courier New"/>
            </a:endParaRPr>
          </a:p>
          <a:p>
            <a:r>
              <a:rPr lang="en-US" sz="1700" b="1" dirty="0">
                <a:solidFill>
                  <a:srgbClr val="0000FF"/>
                </a:solidFill>
                <a:latin typeface="Courier New"/>
                <a:cs typeface="Courier New"/>
              </a:rPr>
              <a:t>	/**</a:t>
            </a:r>
          </a:p>
          <a:p>
            <a:r>
              <a:rPr lang="en-US" sz="1700" b="1" dirty="0">
                <a:solidFill>
                  <a:srgbClr val="0000FF"/>
                </a:solidFill>
                <a:latin typeface="Courier New"/>
                <a:cs typeface="Courier New"/>
              </a:rPr>
              <a:t>	 * Create a crab and initialize its two images</a:t>
            </a:r>
          </a:p>
          <a:p>
            <a:r>
              <a:rPr lang="en-US" sz="1700" b="1" dirty="0">
                <a:solidFill>
                  <a:srgbClr val="0000FF"/>
                </a:solidFill>
                <a:latin typeface="Courier New"/>
                <a:cs typeface="Courier New"/>
              </a:rPr>
              <a:t>	 */</a:t>
            </a:r>
          </a:p>
          <a:p>
            <a:r>
              <a:rPr lang="en-US" sz="1700" b="1" dirty="0">
                <a:latin typeface="Courier New"/>
                <a:cs typeface="Courier New"/>
              </a:rPr>
              <a:t>	</a:t>
            </a:r>
            <a:r>
              <a:rPr lang="en-US" sz="1700" b="1" dirty="0">
                <a:solidFill>
                  <a:schemeClr val="accent2">
                    <a:lumMod val="75000"/>
                  </a:schemeClr>
                </a:solidFill>
                <a:latin typeface="Courier New"/>
                <a:cs typeface="Courier New"/>
              </a:rPr>
              <a:t>public</a:t>
            </a:r>
            <a:r>
              <a:rPr lang="en-US" sz="1700" b="1" dirty="0">
                <a:solidFill>
                  <a:schemeClr val="accent2"/>
                </a:solidFill>
                <a:latin typeface="Courier New"/>
                <a:cs typeface="Courier New"/>
              </a:rPr>
              <a:t> </a:t>
            </a:r>
            <a:r>
              <a:rPr lang="en-US" sz="1700" b="1" dirty="0">
                <a:latin typeface="Courier New"/>
                <a:cs typeface="Courier New"/>
              </a:rPr>
              <a:t>Crab()</a:t>
            </a:r>
            <a:endParaRPr lang="en-US" sz="1700" b="1" dirty="0">
              <a:solidFill>
                <a:schemeClr val="bg1">
                  <a:lumMod val="50000"/>
                </a:schemeClr>
              </a:solidFill>
              <a:latin typeface="Courier New"/>
              <a:cs typeface="Courier New"/>
            </a:endParaRPr>
          </a:p>
          <a:p>
            <a:r>
              <a:rPr lang="en-US" sz="1700" b="1" dirty="0">
                <a:latin typeface="Courier New"/>
                <a:cs typeface="Courier New"/>
              </a:rPr>
              <a:t>	{</a:t>
            </a:r>
          </a:p>
          <a:p>
            <a:r>
              <a:rPr lang="en-US" sz="1700" b="1" dirty="0">
                <a:latin typeface="Courier New"/>
                <a:cs typeface="Courier New"/>
              </a:rPr>
              <a:t>		image1 = </a:t>
            </a:r>
            <a:r>
              <a:rPr lang="en-US" sz="1700" b="1" dirty="0">
                <a:solidFill>
                  <a:srgbClr val="800000"/>
                </a:solidFill>
                <a:latin typeface="Courier New"/>
                <a:cs typeface="Courier New"/>
              </a:rPr>
              <a:t>new </a:t>
            </a:r>
            <a:r>
              <a:rPr lang="en-US" sz="1700" b="1" dirty="0" err="1">
                <a:latin typeface="Courier New"/>
                <a:cs typeface="Courier New"/>
              </a:rPr>
              <a:t>GreenfootImage</a:t>
            </a:r>
            <a:r>
              <a:rPr lang="en-US" sz="1700" b="1" dirty="0">
                <a:latin typeface="Courier New"/>
                <a:cs typeface="Courier New"/>
              </a:rPr>
              <a:t>(</a:t>
            </a:r>
            <a:r>
              <a:rPr lang="en-US" sz="1700" b="1" dirty="0">
                <a:solidFill>
                  <a:srgbClr val="008000"/>
                </a:solidFill>
                <a:latin typeface="Courier New"/>
                <a:cs typeface="Courier New"/>
              </a:rPr>
              <a:t>"</a:t>
            </a:r>
            <a:r>
              <a:rPr lang="en-US" sz="1700" b="1" dirty="0" err="1">
                <a:solidFill>
                  <a:srgbClr val="008000"/>
                </a:solidFill>
                <a:latin typeface="Courier New"/>
                <a:cs typeface="Courier New"/>
              </a:rPr>
              <a:t>crab.png</a:t>
            </a:r>
            <a:r>
              <a:rPr lang="en-US" sz="1700" b="1" dirty="0">
                <a:solidFill>
                  <a:srgbClr val="008000"/>
                </a:solidFill>
                <a:latin typeface="Courier New"/>
                <a:cs typeface="Courier New"/>
              </a:rPr>
              <a:t>"</a:t>
            </a:r>
            <a:r>
              <a:rPr lang="en-US" sz="1700" b="1" dirty="0">
                <a:latin typeface="Courier New"/>
                <a:cs typeface="Courier New"/>
              </a:rPr>
              <a:t>);</a:t>
            </a:r>
          </a:p>
          <a:p>
            <a:r>
              <a:rPr lang="en-US" sz="1700" b="1" dirty="0">
                <a:latin typeface="Courier New"/>
                <a:cs typeface="Courier New"/>
              </a:rPr>
              <a:t>		image2 = </a:t>
            </a:r>
            <a:r>
              <a:rPr lang="en-US" sz="1700" b="1" dirty="0">
                <a:solidFill>
                  <a:srgbClr val="800000"/>
                </a:solidFill>
                <a:latin typeface="Courier New"/>
                <a:cs typeface="Courier New"/>
              </a:rPr>
              <a:t>new </a:t>
            </a:r>
            <a:r>
              <a:rPr lang="en-US" sz="1700" b="1" dirty="0" err="1">
                <a:latin typeface="Courier New"/>
                <a:cs typeface="Courier New"/>
              </a:rPr>
              <a:t>GreenfootImage</a:t>
            </a:r>
            <a:r>
              <a:rPr lang="en-US" sz="1700" b="1" dirty="0">
                <a:latin typeface="Courier New"/>
                <a:cs typeface="Courier New"/>
              </a:rPr>
              <a:t>(</a:t>
            </a:r>
            <a:r>
              <a:rPr lang="en-US" sz="1700" b="1" dirty="0">
                <a:solidFill>
                  <a:srgbClr val="008000"/>
                </a:solidFill>
                <a:latin typeface="Courier New"/>
                <a:cs typeface="Courier New"/>
              </a:rPr>
              <a:t>"crab2.png"</a:t>
            </a:r>
            <a:r>
              <a:rPr lang="en-US" sz="1700" b="1" dirty="0">
                <a:latin typeface="Courier New"/>
                <a:cs typeface="Courier New"/>
              </a:rPr>
              <a:t>);</a:t>
            </a:r>
          </a:p>
          <a:p>
            <a:r>
              <a:rPr lang="en-US" sz="1700" b="1" dirty="0">
                <a:latin typeface="Courier New"/>
                <a:cs typeface="Courier New"/>
              </a:rPr>
              <a:t>		</a:t>
            </a:r>
            <a:r>
              <a:rPr lang="en-US" sz="1700" b="1" dirty="0" err="1">
                <a:latin typeface="Courier New"/>
                <a:cs typeface="Courier New"/>
              </a:rPr>
              <a:t>setImage</a:t>
            </a:r>
            <a:r>
              <a:rPr lang="en-US" sz="1700" b="1" dirty="0">
                <a:latin typeface="Courier New"/>
                <a:cs typeface="Courier New"/>
              </a:rPr>
              <a:t>(image1);</a:t>
            </a:r>
          </a:p>
          <a:p>
            <a:r>
              <a:rPr lang="en-US" sz="1700" b="1" dirty="0">
                <a:latin typeface="Courier New"/>
                <a:cs typeface="Courier New"/>
              </a:rPr>
              <a:t>	} </a:t>
            </a:r>
            <a:r>
              <a:rPr lang="en-US" sz="1700" b="1" dirty="0">
                <a:solidFill>
                  <a:schemeClr val="bg1">
                    <a:lumMod val="50000"/>
                  </a:schemeClr>
                </a:solidFill>
                <a:latin typeface="Courier New"/>
                <a:cs typeface="Courier New"/>
              </a:rPr>
              <a:t>// end Crab constructor</a:t>
            </a:r>
            <a:endParaRPr lang="en-US" sz="1700" b="1" dirty="0">
              <a:latin typeface="Courier New"/>
              <a:cs typeface="Courier New"/>
            </a:endParaRPr>
          </a:p>
          <a:p>
            <a:endParaRPr lang="en-US" sz="1700" b="1" dirty="0">
              <a:latin typeface="Courier New"/>
              <a:cs typeface="Courier New"/>
            </a:endParaRPr>
          </a:p>
          <a:p>
            <a:r>
              <a:rPr lang="en-US" sz="1700" b="1" dirty="0">
                <a:latin typeface="Courier New"/>
                <a:cs typeface="Courier New"/>
              </a:rPr>
              <a:t>	</a:t>
            </a:r>
            <a:r>
              <a:rPr lang="en-US" sz="1700" b="1" dirty="0">
                <a:solidFill>
                  <a:schemeClr val="bg1">
                    <a:lumMod val="50000"/>
                  </a:schemeClr>
                </a:solidFill>
                <a:latin typeface="Courier New"/>
                <a:cs typeface="Courier New"/>
              </a:rPr>
              <a:t>// </a:t>
            </a:r>
            <a:r>
              <a:rPr lang="en-US" sz="1700" b="1" i="1" dirty="0">
                <a:solidFill>
                  <a:schemeClr val="bg1">
                    <a:lumMod val="50000"/>
                  </a:schemeClr>
                </a:solidFill>
                <a:latin typeface="Courier New"/>
                <a:cs typeface="Courier New"/>
              </a:rPr>
              <a:t>methods omitted</a:t>
            </a:r>
          </a:p>
          <a:p>
            <a:endParaRPr lang="en-US" sz="1700" b="1" dirty="0">
              <a:latin typeface="Courier New"/>
              <a:cs typeface="Courier New"/>
            </a:endParaRPr>
          </a:p>
          <a:p>
            <a:r>
              <a:rPr lang="en-US" sz="1700" b="1" dirty="0">
                <a:latin typeface="Courier New"/>
                <a:cs typeface="Courier New"/>
              </a:rPr>
              <a:t>} </a:t>
            </a:r>
            <a:r>
              <a:rPr lang="en-US" sz="1700" b="1" dirty="0">
                <a:solidFill>
                  <a:schemeClr val="bg1">
                    <a:lumMod val="50000"/>
                  </a:schemeClr>
                </a:solidFill>
                <a:latin typeface="Courier New"/>
                <a:cs typeface="Courier New"/>
              </a:rPr>
              <a:t>// end class Crab </a:t>
            </a:r>
            <a:endParaRPr lang="en-US" sz="1700" b="1" dirty="0">
              <a:latin typeface="Courier New"/>
              <a:cs typeface="Courier New"/>
            </a:endParaRPr>
          </a:p>
        </p:txBody>
      </p:sp>
      <p:sp>
        <p:nvSpPr>
          <p:cNvPr id="5" name="TextBox 4"/>
          <p:cNvSpPr txBox="1"/>
          <p:nvPr/>
        </p:nvSpPr>
        <p:spPr>
          <a:xfrm>
            <a:off x="4499426" y="636172"/>
            <a:ext cx="4559906" cy="272382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900" b="1" dirty="0"/>
              <a:t>The same rules described for the </a:t>
            </a:r>
            <a:r>
              <a:rPr lang="en-US" sz="1900" b="1" dirty="0">
                <a:latin typeface="Courier New"/>
                <a:cs typeface="Courier New"/>
              </a:rPr>
              <a:t>World</a:t>
            </a:r>
            <a:r>
              <a:rPr lang="en-US" sz="1900" b="1" dirty="0"/>
              <a:t> constructor apply to the </a:t>
            </a:r>
            <a:r>
              <a:rPr lang="en-US" sz="1900" b="1" dirty="0">
                <a:latin typeface="Courier New"/>
                <a:cs typeface="Courier New"/>
              </a:rPr>
              <a:t>Crab</a:t>
            </a:r>
            <a:r>
              <a:rPr lang="en-US" sz="1900" b="1" dirty="0"/>
              <a:t> constructor:</a:t>
            </a:r>
          </a:p>
          <a:p>
            <a:pPr marL="285750" indent="-285750">
              <a:buFont typeface="Arial"/>
              <a:buChar char="•"/>
            </a:pPr>
            <a:r>
              <a:rPr lang="en-US" sz="1900" dirty="0"/>
              <a:t>The </a:t>
            </a:r>
            <a:r>
              <a:rPr lang="en-US" sz="1900" i="1" dirty="0"/>
              <a:t>signature</a:t>
            </a:r>
            <a:r>
              <a:rPr lang="en-US" sz="1900" dirty="0"/>
              <a:t> of a constructor does </a:t>
            </a:r>
            <a:r>
              <a:rPr lang="en-US" sz="1900" u="sng" dirty="0"/>
              <a:t>not</a:t>
            </a:r>
            <a:r>
              <a:rPr lang="en-US" sz="1900" dirty="0"/>
              <a:t> include a return type</a:t>
            </a:r>
          </a:p>
          <a:p>
            <a:pPr marL="285750" indent="-285750">
              <a:buFont typeface="Arial"/>
              <a:buChar char="•"/>
            </a:pPr>
            <a:r>
              <a:rPr lang="en-US" sz="1900" dirty="0"/>
              <a:t>The </a:t>
            </a:r>
            <a:r>
              <a:rPr lang="en-US" sz="1900" i="1" dirty="0"/>
              <a:t>name</a:t>
            </a:r>
            <a:r>
              <a:rPr lang="en-US" sz="1900" dirty="0"/>
              <a:t> of the constructor is the </a:t>
            </a:r>
            <a:r>
              <a:rPr lang="en-US" sz="1900" u="sng" dirty="0"/>
              <a:t>same</a:t>
            </a:r>
            <a:r>
              <a:rPr lang="en-US" sz="1900" dirty="0"/>
              <a:t> as the name of the class</a:t>
            </a:r>
          </a:p>
          <a:p>
            <a:pPr marL="285750" indent="-285750">
              <a:buFont typeface="Arial"/>
              <a:buChar char="•"/>
            </a:pPr>
            <a:r>
              <a:rPr lang="en-US" sz="1900" dirty="0"/>
              <a:t>The constructor is </a:t>
            </a:r>
            <a:r>
              <a:rPr lang="en-US" sz="1900" i="1" dirty="0"/>
              <a:t>automatically executed</a:t>
            </a:r>
            <a:r>
              <a:rPr lang="en-US" sz="1900" dirty="0"/>
              <a:t> </a:t>
            </a:r>
            <a:r>
              <a:rPr lang="en-US" sz="1900" u="sng" dirty="0"/>
              <a:t>when a crab object is created</a:t>
            </a:r>
            <a:r>
              <a:rPr lang="en-US" sz="1900" b="1" dirty="0"/>
              <a:t> (and where/when does this happen?)</a:t>
            </a:r>
          </a:p>
        </p:txBody>
      </p:sp>
      <p:sp>
        <p:nvSpPr>
          <p:cNvPr id="6" name="TextBox 5"/>
          <p:cNvSpPr txBox="1"/>
          <p:nvPr/>
        </p:nvSpPr>
        <p:spPr>
          <a:xfrm>
            <a:off x="3758268" y="4689446"/>
            <a:ext cx="5301064" cy="2139047"/>
          </a:xfrm>
          <a:prstGeom prst="rect">
            <a:avLst/>
          </a:prstGeom>
        </p:spPr>
        <p:style>
          <a:lnRef idx="1">
            <a:schemeClr val="accent1"/>
          </a:lnRef>
          <a:fillRef idx="2">
            <a:schemeClr val="accent1"/>
          </a:fillRef>
          <a:effectRef idx="1">
            <a:schemeClr val="accent1"/>
          </a:effectRef>
          <a:fontRef idx="minor">
            <a:schemeClr val="dk1"/>
          </a:fontRef>
        </p:style>
        <p:txBody>
          <a:bodyPr wrap="square" lIns="91440" tIns="45720" rIns="91440" bIns="45720" rtlCol="0" anchor="t">
            <a:spAutoFit/>
          </a:bodyPr>
          <a:lstStyle/>
          <a:p>
            <a:r>
              <a:rPr lang="en-US" sz="1900" dirty="0"/>
              <a:t>This last line of the constructor sets</a:t>
            </a:r>
            <a:r>
              <a:rPr lang="en-US" sz="1900" b="1" u="sng" dirty="0">
                <a:highlight>
                  <a:srgbClr val="FFFF00"/>
                </a:highlight>
              </a:rPr>
              <a:t> </a:t>
            </a:r>
            <a:r>
              <a:rPr lang="en-US" sz="1900" dirty="0"/>
              <a:t> the first of the two created images as the crab’s </a:t>
            </a:r>
            <a:r>
              <a:rPr lang="en-US" sz="1900" dirty="0" err="1"/>
              <a:t>curremt</a:t>
            </a:r>
            <a:r>
              <a:rPr lang="en-US" sz="1900" b="1" u="sng" dirty="0">
                <a:highlight>
                  <a:srgbClr val="FFFF00"/>
                </a:highlight>
              </a:rPr>
              <a:t> </a:t>
            </a:r>
            <a:r>
              <a:rPr lang="en-US" sz="1900" dirty="0"/>
              <a:t>image. We can later use a similar method call to swap</a:t>
            </a:r>
            <a:r>
              <a:rPr lang="en-US" sz="1900" dirty="0">
                <a:highlight>
                  <a:srgbClr val="FFFF00"/>
                </a:highlight>
              </a:rPr>
              <a:t> </a:t>
            </a:r>
            <a:r>
              <a:rPr lang="en-US" sz="1900" dirty="0"/>
              <a:t>the images in the act method. This also demonstrates how the </a:t>
            </a:r>
            <a:r>
              <a:rPr lang="en-US" sz="1900" i="1" dirty="0"/>
              <a:t>name</a:t>
            </a:r>
            <a:r>
              <a:rPr lang="en-US" sz="1900" dirty="0"/>
              <a:t> of the variable (</a:t>
            </a:r>
            <a:r>
              <a:rPr lang="en-US" sz="1900" b="1" dirty="0">
                <a:latin typeface="Courier New"/>
                <a:cs typeface="Courier New"/>
              </a:rPr>
              <a:t>image1</a:t>
            </a:r>
            <a:r>
              <a:rPr lang="en-US" sz="1900" dirty="0"/>
              <a:t>) can now be used to refer</a:t>
            </a:r>
            <a:r>
              <a:rPr lang="en-US" sz="1900" i="1" dirty="0">
                <a:highlight>
                  <a:srgbClr val="FFFF00"/>
                </a:highlight>
              </a:rPr>
              <a:t> </a:t>
            </a:r>
            <a:r>
              <a:rPr lang="en-US" sz="1900" dirty="0"/>
              <a:t>to the image object stored in it </a:t>
            </a:r>
            <a:r>
              <a:rPr lang="en-US" sz="1900" b="1" dirty="0">
                <a:solidFill>
                  <a:srgbClr val="FF0000"/>
                </a:solidFill>
              </a:rPr>
              <a:t>(important!!)</a:t>
            </a:r>
            <a:endParaRPr lang="en-US" sz="1900" b="1" u="sng" dirty="0">
              <a:solidFill>
                <a:srgbClr val="FF0000"/>
              </a:solidFill>
            </a:endParaRPr>
          </a:p>
        </p:txBody>
      </p:sp>
      <p:cxnSp>
        <p:nvCxnSpPr>
          <p:cNvPr id="8" name="Straight Arrow Connector 7"/>
          <p:cNvCxnSpPr/>
          <p:nvPr/>
        </p:nvCxnSpPr>
        <p:spPr>
          <a:xfrm flipH="1" flipV="1">
            <a:off x="3305263" y="4840449"/>
            <a:ext cx="453005" cy="864065"/>
          </a:xfrm>
          <a:prstGeom prst="straightConnector1">
            <a:avLst/>
          </a:prstGeom>
          <a:ln w="76200" cmpd="sng">
            <a:tailEnd type="arrow"/>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a:stCxn id="5" idx="1"/>
          </p:cNvCxnSpPr>
          <p:nvPr/>
        </p:nvCxnSpPr>
        <p:spPr>
          <a:xfrm flipH="1">
            <a:off x="2256639" y="1998084"/>
            <a:ext cx="2242787" cy="17937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92467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9003"/>
          </a:xfrm>
          <a:solidFill>
            <a:srgbClr val="FFC000"/>
          </a:solidFill>
        </p:spPr>
        <p:txBody>
          <a:bodyPr>
            <a:noAutofit/>
          </a:bodyPr>
          <a:lstStyle/>
          <a:p>
            <a:r>
              <a:rPr lang="en-US" sz="3200" dirty="0"/>
              <a:t>A possible </a:t>
            </a:r>
            <a:r>
              <a:rPr lang="en-US" sz="3200" b="1" dirty="0"/>
              <a:t>pitfall</a:t>
            </a:r>
            <a:r>
              <a:rPr lang="en-US" sz="3200" dirty="0"/>
              <a:t> for people new to Java programming</a:t>
            </a:r>
          </a:p>
        </p:txBody>
      </p:sp>
      <p:pic>
        <p:nvPicPr>
          <p:cNvPr id="4" name="Picture 3"/>
          <p:cNvPicPr>
            <a:picLocks noChangeAspect="1"/>
          </p:cNvPicPr>
          <p:nvPr/>
        </p:nvPicPr>
        <p:blipFill>
          <a:blip r:embed="rId2"/>
          <a:stretch>
            <a:fillRect/>
          </a:stretch>
        </p:blipFill>
        <p:spPr>
          <a:xfrm>
            <a:off x="467413" y="1566254"/>
            <a:ext cx="8219387" cy="5010715"/>
          </a:xfrm>
          <a:prstGeom prst="rect">
            <a:avLst/>
          </a:prstGeom>
          <a:ln w="38100">
            <a:solidFill>
              <a:srgbClr val="FFC000"/>
            </a:solidFill>
          </a:ln>
        </p:spPr>
      </p:pic>
    </p:spTree>
    <p:extLst>
      <p:ext uri="{BB962C8B-B14F-4D97-AF65-F5344CB8AC3E}">
        <p14:creationId xmlns:p14="http://schemas.microsoft.com/office/powerpoint/2010/main" val="15898338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7841" y="3264773"/>
            <a:ext cx="5809197" cy="3168054"/>
          </a:xfrm>
          <a:prstGeom prst="rect">
            <a:avLst/>
          </a:prstGeom>
          <a:ln>
            <a:noFill/>
          </a:ln>
          <a:effectLst>
            <a:softEdge rad="112500"/>
          </a:effectLst>
        </p:spPr>
      </p:pic>
      <p:sp>
        <p:nvSpPr>
          <p:cNvPr id="2" name="Title 1"/>
          <p:cNvSpPr>
            <a:spLocks noGrp="1"/>
          </p:cNvSpPr>
          <p:nvPr>
            <p:ph type="title"/>
          </p:nvPr>
        </p:nvSpPr>
        <p:spPr>
          <a:xfrm>
            <a:off x="457200" y="32733"/>
            <a:ext cx="8229600" cy="1143000"/>
          </a:xfrm>
        </p:spPr>
        <p:txBody>
          <a:bodyPr/>
          <a:lstStyle/>
          <a:p>
            <a:r>
              <a:rPr lang="en-US" dirty="0"/>
              <a:t>Exercises</a:t>
            </a:r>
          </a:p>
        </p:txBody>
      </p:sp>
      <p:sp>
        <p:nvSpPr>
          <p:cNvPr id="3" name="Content Placeholder 2"/>
          <p:cNvSpPr>
            <a:spLocks noGrp="1"/>
          </p:cNvSpPr>
          <p:nvPr>
            <p:ph idx="1"/>
          </p:nvPr>
        </p:nvSpPr>
        <p:spPr>
          <a:xfrm>
            <a:off x="457200" y="1233714"/>
            <a:ext cx="8229600" cy="1632857"/>
          </a:xfr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t">
            <a:normAutofit/>
          </a:bodyPr>
          <a:lstStyle/>
          <a:p>
            <a:pPr marL="0" indent="0">
              <a:buNone/>
            </a:pPr>
            <a:r>
              <a:rPr lang="en-US" sz="2400" b="1" dirty="0">
                <a:solidFill>
                  <a:srgbClr val="008000"/>
                </a:solidFill>
              </a:rPr>
              <a:t>4.20</a:t>
            </a:r>
            <a:r>
              <a:rPr lang="en-US" sz="2400" dirty="0"/>
              <a:t> – </a:t>
            </a:r>
            <a:r>
              <a:rPr lang="en-US" sz="2400" b="1" dirty="0"/>
              <a:t>Add this constructor </a:t>
            </a:r>
            <a:r>
              <a:rPr lang="en-US" sz="2400" dirty="0"/>
              <a:t>to your </a:t>
            </a:r>
            <a:r>
              <a:rPr lang="en-US" sz="2400" b="1" dirty="0">
                <a:latin typeface="Courier New"/>
                <a:cs typeface="Courier New"/>
              </a:rPr>
              <a:t>Crab</a:t>
            </a:r>
            <a:r>
              <a:rPr lang="en-US" sz="2400" dirty="0"/>
              <a:t> class. You will not yet see any change in the behavior of the crab, but the class should compile, and you should be able to create crabs. </a:t>
            </a:r>
            <a:r>
              <a:rPr lang="en-US" sz="2400" b="1" i="1" dirty="0">
                <a:solidFill>
                  <a:srgbClr val="0000FF"/>
                </a:solidFill>
              </a:rPr>
              <a:t>Don't forget to add a </a:t>
            </a:r>
            <a:r>
              <a:rPr lang="en-US" sz="2400" b="1" i="1" dirty="0" err="1">
                <a:solidFill>
                  <a:srgbClr val="0000FF"/>
                </a:solidFill>
              </a:rPr>
              <a:t>JavaDoc</a:t>
            </a:r>
            <a:r>
              <a:rPr lang="en-US" sz="2400" b="1" i="1" dirty="0">
                <a:solidFill>
                  <a:srgbClr val="0000FF"/>
                </a:solidFill>
              </a:rPr>
              <a:t> comment before you compile.</a:t>
            </a:r>
          </a:p>
        </p:txBody>
      </p:sp>
      <p:sp>
        <p:nvSpPr>
          <p:cNvPr id="5" name="Rounded Rectangle 4"/>
          <p:cNvSpPr/>
          <p:nvPr/>
        </p:nvSpPr>
        <p:spPr>
          <a:xfrm>
            <a:off x="584208" y="4352447"/>
            <a:ext cx="5596464" cy="2080380"/>
          </a:xfrm>
          <a:prstGeom prst="roundRect">
            <a:avLst/>
          </a:prstGeom>
          <a:noFill/>
          <a:ln w="5715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ontent Placeholder 2"/>
          <p:cNvSpPr txBox="1">
            <a:spLocks/>
          </p:cNvSpPr>
          <p:nvPr/>
        </p:nvSpPr>
        <p:spPr>
          <a:xfrm>
            <a:off x="6560460" y="3421743"/>
            <a:ext cx="2390016" cy="3133875"/>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Font typeface="Arial"/>
              <a:buNone/>
            </a:pPr>
            <a:r>
              <a:rPr lang="en-US" sz="2400" b="1" dirty="0">
                <a:solidFill>
                  <a:srgbClr val="008000"/>
                </a:solidFill>
              </a:rPr>
              <a:t>4.21</a:t>
            </a:r>
            <a:r>
              <a:rPr lang="en-US" sz="2400" dirty="0"/>
              <a:t> – </a:t>
            </a:r>
            <a:r>
              <a:rPr lang="en-US" sz="2400" b="1" dirty="0"/>
              <a:t>Inspect</a:t>
            </a:r>
            <a:r>
              <a:rPr lang="en-US" sz="2400" dirty="0"/>
              <a:t> your crab object again. Take note of the variables and their values. Compare those to the notes you took previously. What's different?</a:t>
            </a:r>
            <a:endParaRPr lang="en-US" sz="2400" b="1" i="1" dirty="0">
              <a:solidFill>
                <a:srgbClr val="0000FF"/>
              </a:solidFill>
            </a:endParaRPr>
          </a:p>
        </p:txBody>
      </p:sp>
    </p:spTree>
    <p:extLst>
      <p:ext uri="{BB962C8B-B14F-4D97-AF65-F5344CB8AC3E}">
        <p14:creationId xmlns:p14="http://schemas.microsoft.com/office/powerpoint/2010/main" val="10922162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496"/>
            <a:ext cx="8229600" cy="1143000"/>
          </a:xfrm>
        </p:spPr>
        <p:txBody>
          <a:bodyPr/>
          <a:lstStyle/>
          <a:p>
            <a:r>
              <a:rPr lang="en-US" dirty="0"/>
              <a:t>Alternating the images</a:t>
            </a:r>
          </a:p>
        </p:txBody>
      </p:sp>
      <p:sp>
        <p:nvSpPr>
          <p:cNvPr id="3" name="Content Placeholder 2"/>
          <p:cNvSpPr>
            <a:spLocks noGrp="1"/>
          </p:cNvSpPr>
          <p:nvPr>
            <p:ph idx="1"/>
          </p:nvPr>
        </p:nvSpPr>
        <p:spPr>
          <a:xfrm>
            <a:off x="457200" y="1417638"/>
            <a:ext cx="8229600" cy="4525963"/>
          </a:xfrm>
        </p:spPr>
        <p:txBody>
          <a:bodyPr vert="horz" lIns="91440" tIns="45720" rIns="91440" bIns="45720" rtlCol="0" anchor="t">
            <a:normAutofit/>
          </a:bodyPr>
          <a:lstStyle/>
          <a:p>
            <a:r>
              <a:rPr lang="en-US" sz="2400" dirty="0"/>
              <a:t>To actually animate the crab, we need to alternate(switch) between </a:t>
            </a:r>
            <a:r>
              <a:rPr lang="en-US" sz="2400" b="1" dirty="0">
                <a:latin typeface="Courier New"/>
                <a:cs typeface="Courier New"/>
              </a:rPr>
              <a:t>image1</a:t>
            </a:r>
            <a:r>
              <a:rPr lang="en-US" sz="2400" dirty="0"/>
              <a:t> and </a:t>
            </a:r>
            <a:r>
              <a:rPr lang="en-US" sz="2400" b="1" dirty="0">
                <a:latin typeface="Courier New"/>
                <a:cs typeface="Courier New"/>
              </a:rPr>
              <a:t>image2</a:t>
            </a:r>
          </a:p>
          <a:p>
            <a:r>
              <a:rPr lang="en-US" sz="2400" dirty="0"/>
              <a:t>In other words, </a:t>
            </a:r>
            <a:r>
              <a:rPr lang="en-US" sz="2400" i="1" dirty="0"/>
              <a:t>at each execution step</a:t>
            </a:r>
            <a:r>
              <a:rPr lang="en-US" sz="2400" dirty="0"/>
              <a:t>, if we are current showing </a:t>
            </a:r>
            <a:r>
              <a:rPr lang="en-US" sz="2400" b="1" dirty="0">
                <a:latin typeface="Courier New"/>
                <a:cs typeface="Courier New"/>
              </a:rPr>
              <a:t>image1</a:t>
            </a:r>
            <a:r>
              <a:rPr lang="en-US" sz="2400" dirty="0"/>
              <a:t>, we now want to show </a:t>
            </a:r>
            <a:r>
              <a:rPr lang="en-US" sz="2400" b="1" dirty="0">
                <a:latin typeface="Courier New"/>
                <a:cs typeface="Courier New"/>
              </a:rPr>
              <a:t>image2</a:t>
            </a:r>
            <a:r>
              <a:rPr lang="en-US" sz="2400" dirty="0"/>
              <a:t> (and vice versa)</a:t>
            </a:r>
          </a:p>
          <a:p>
            <a:r>
              <a:rPr lang="en-US" sz="2400" dirty="0"/>
              <a:t>Here is some </a:t>
            </a:r>
            <a:r>
              <a:rPr lang="en-US" sz="2400" b="1" dirty="0"/>
              <a:t>pseudo-code</a:t>
            </a:r>
            <a:r>
              <a:rPr lang="en-US" sz="2400" dirty="0"/>
              <a:t> to express this:</a:t>
            </a:r>
          </a:p>
        </p:txBody>
      </p:sp>
      <p:sp>
        <p:nvSpPr>
          <p:cNvPr id="4" name="TextBox 3"/>
          <p:cNvSpPr txBox="1"/>
          <p:nvPr/>
        </p:nvSpPr>
        <p:spPr>
          <a:xfrm>
            <a:off x="1632857" y="3887170"/>
            <a:ext cx="5418666" cy="1200329"/>
          </a:xfrm>
          <a:prstGeom prst="rect">
            <a:avLst/>
          </a:prstGeom>
          <a:noFill/>
        </p:spPr>
        <p:txBody>
          <a:bodyPr wrap="square" lIns="91440" tIns="45720" rIns="91440" bIns="45720" rtlCol="0" anchor="t">
            <a:spAutoFit/>
          </a:bodyPr>
          <a:lstStyle/>
          <a:p>
            <a:r>
              <a:rPr lang="en-US" b="1" dirty="0">
                <a:latin typeface="Courier New"/>
                <a:cs typeface="Courier New"/>
              </a:rPr>
              <a:t>if (</a:t>
            </a:r>
            <a:r>
              <a:rPr lang="en-US" b="1" i="1" dirty="0">
                <a:latin typeface="Courier New"/>
                <a:cs typeface="Courier New"/>
              </a:rPr>
              <a:t>our current image is image1</a:t>
            </a:r>
            <a:r>
              <a:rPr lang="en-US" b="1" dirty="0">
                <a:latin typeface="Courier New"/>
                <a:cs typeface="Courier New"/>
              </a:rPr>
              <a:t>) then</a:t>
            </a:r>
          </a:p>
          <a:p>
            <a:r>
              <a:rPr lang="en-US" b="1" dirty="0">
                <a:latin typeface="Courier New"/>
                <a:cs typeface="Courier New"/>
              </a:rPr>
              <a:t>	</a:t>
            </a:r>
            <a:r>
              <a:rPr lang="en-US" b="1" i="1" dirty="0">
                <a:latin typeface="Courier New"/>
                <a:cs typeface="Courier New"/>
              </a:rPr>
              <a:t>use image2 now</a:t>
            </a:r>
          </a:p>
          <a:p>
            <a:r>
              <a:rPr lang="en-US" b="1" dirty="0">
                <a:latin typeface="Courier New"/>
                <a:cs typeface="Courier New"/>
              </a:rPr>
              <a:t>Else (otherwise):</a:t>
            </a:r>
          </a:p>
          <a:p>
            <a:r>
              <a:rPr lang="en-US" b="1" dirty="0">
                <a:latin typeface="Courier New"/>
                <a:cs typeface="Courier New"/>
              </a:rPr>
              <a:t>	</a:t>
            </a:r>
            <a:r>
              <a:rPr lang="en-US" b="1" i="1" dirty="0">
                <a:latin typeface="Courier New"/>
                <a:cs typeface="Courier New"/>
              </a:rPr>
              <a:t>use image1 now</a:t>
            </a:r>
          </a:p>
        </p:txBody>
      </p:sp>
      <p:sp>
        <p:nvSpPr>
          <p:cNvPr id="5" name="TextBox 4"/>
          <p:cNvSpPr txBox="1"/>
          <p:nvPr/>
        </p:nvSpPr>
        <p:spPr>
          <a:xfrm>
            <a:off x="457200" y="5317307"/>
            <a:ext cx="8505371"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lIns="91440" tIns="45720" rIns="91440" bIns="45720" rtlCol="0" anchor="t">
            <a:spAutoFit/>
          </a:bodyPr>
          <a:lstStyle/>
          <a:p>
            <a:r>
              <a:rPr lang="en-US" sz="2000" dirty="0">
                <a:highlight>
                  <a:srgbClr val="FFFF00"/>
                </a:highlight>
              </a:rPr>
              <a:t>Pseudo-code,</a:t>
            </a:r>
            <a:r>
              <a:rPr lang="en-US" sz="2000" dirty="0"/>
              <a:t> as used here, is a technique expressing a task in a structure that resembles a cross between source code and plain English</a:t>
            </a:r>
            <a:r>
              <a:rPr lang="en-US" sz="2000" dirty="0">
                <a:highlight>
                  <a:srgbClr val="FFFF00"/>
                </a:highlight>
              </a:rPr>
              <a:t>.</a:t>
            </a:r>
            <a:r>
              <a:rPr lang="en-US" sz="2000" dirty="0"/>
              <a:t> It is intended for reading by humans, not machines, and so it often helps in working out how to write our real Java code.</a:t>
            </a:r>
          </a:p>
        </p:txBody>
      </p:sp>
    </p:spTree>
    <p:extLst>
      <p:ext uri="{BB962C8B-B14F-4D97-AF65-F5344CB8AC3E}">
        <p14:creationId xmlns:p14="http://schemas.microsoft.com/office/powerpoint/2010/main" val="1085870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17400"/>
            <a:ext cx="9131905" cy="1143000"/>
          </a:xfrm>
        </p:spPr>
        <p:txBody>
          <a:bodyPr>
            <a:noAutofit/>
          </a:bodyPr>
          <a:lstStyle/>
          <a:p>
            <a:r>
              <a:rPr lang="en-US" sz="3600" dirty="0"/>
              <a:t>The "real" Java code for image switching</a:t>
            </a:r>
          </a:p>
        </p:txBody>
      </p:sp>
      <p:sp>
        <p:nvSpPr>
          <p:cNvPr id="3" name="Content Placeholder 2"/>
          <p:cNvSpPr>
            <a:spLocks noGrp="1"/>
          </p:cNvSpPr>
          <p:nvPr>
            <p:ph idx="1"/>
          </p:nvPr>
        </p:nvSpPr>
        <p:spPr>
          <a:xfrm>
            <a:off x="227391" y="1487713"/>
            <a:ext cx="4417180" cy="4136573"/>
          </a:xfrm>
        </p:spPr>
        <p:txBody>
          <a:bodyPr vert="horz" lIns="91440" tIns="45720" rIns="91440" bIns="45720" rtlCol="0" anchor="t">
            <a:noAutofit/>
          </a:bodyPr>
          <a:lstStyle/>
          <a:p>
            <a:pPr marL="0" indent="0">
              <a:buNone/>
            </a:pPr>
            <a:r>
              <a:rPr lang="en-US" sz="2400" dirty="0"/>
              <a:t>In this code segment, we notice several new elements:</a:t>
            </a:r>
          </a:p>
          <a:p>
            <a:r>
              <a:rPr lang="en-US" sz="2000" dirty="0"/>
              <a:t>The method </a:t>
            </a:r>
            <a:r>
              <a:rPr lang="en-US" sz="2000" dirty="0" err="1"/>
              <a:t>getImage</a:t>
            </a:r>
            <a:r>
              <a:rPr lang="en-US" sz="2000" dirty="0"/>
              <a:t> can be used to </a:t>
            </a:r>
            <a:r>
              <a:rPr lang="en-US" sz="2000" i="1" dirty="0"/>
              <a:t>receive</a:t>
            </a:r>
            <a:r>
              <a:rPr lang="en-US" sz="2000" dirty="0"/>
              <a:t> the actor's </a:t>
            </a:r>
            <a:r>
              <a:rPr lang="en-US" sz="2000" i="1" dirty="0"/>
              <a:t>current</a:t>
            </a:r>
            <a:r>
              <a:rPr lang="en-US" sz="2000" dirty="0"/>
              <a:t> image</a:t>
            </a:r>
          </a:p>
          <a:p>
            <a:r>
              <a:rPr lang="en-US" sz="2000" dirty="0"/>
              <a:t>The equality operator </a:t>
            </a:r>
            <a:r>
              <a:rPr lang="en-US" sz="2000" dirty="0">
                <a:latin typeface="Courier New"/>
                <a:cs typeface="Courier New"/>
              </a:rPr>
              <a:t>==</a:t>
            </a:r>
            <a:r>
              <a:rPr lang="en-US" sz="2000" dirty="0"/>
              <a:t> (two consecutive equals signs) can be used to compare one value with another. Like other expressions that use relational operators, the result is either </a:t>
            </a:r>
            <a:r>
              <a:rPr lang="en-US" sz="2000" b="1" dirty="0"/>
              <a:t>true</a:t>
            </a:r>
            <a:r>
              <a:rPr lang="en-US" sz="2000" dirty="0"/>
              <a:t> or </a:t>
            </a:r>
            <a:r>
              <a:rPr lang="en-US" sz="2000" b="1" dirty="0"/>
              <a:t>false</a:t>
            </a:r>
            <a:r>
              <a:rPr lang="en-US" sz="2000" dirty="0"/>
              <a:t>.</a:t>
            </a:r>
          </a:p>
          <a:p>
            <a:r>
              <a:rPr lang="en-US" sz="2000" dirty="0"/>
              <a:t>The </a:t>
            </a:r>
            <a:r>
              <a:rPr lang="en-US" sz="2000" i="1" dirty="0"/>
              <a:t>if</a:t>
            </a:r>
            <a:r>
              <a:rPr lang="en-US" sz="2000" dirty="0"/>
              <a:t> statement has an extended form that we have not seen before.  This form has an </a:t>
            </a:r>
            <a:r>
              <a:rPr lang="en-US" sz="2000" b="1" dirty="0">
                <a:highlight>
                  <a:srgbClr val="FFFF00"/>
                </a:highlight>
                <a:latin typeface="Courier New"/>
                <a:cs typeface="Courier New"/>
              </a:rPr>
              <a:t>*else</a:t>
            </a:r>
            <a:r>
              <a:rPr lang="en-US" sz="2000" b="1" dirty="0">
                <a:latin typeface="Courier New"/>
                <a:cs typeface="Courier New"/>
              </a:rPr>
              <a:t> </a:t>
            </a:r>
            <a:r>
              <a:rPr lang="en-US" sz="2000" dirty="0"/>
              <a:t> keyword after the first body of the </a:t>
            </a:r>
            <a:r>
              <a:rPr lang="en-US" sz="2000" i="1" dirty="0"/>
              <a:t>if</a:t>
            </a:r>
            <a:r>
              <a:rPr lang="en-US" sz="2000" dirty="0"/>
              <a:t> statement, followed by another block of statements.</a:t>
            </a:r>
          </a:p>
          <a:p>
            <a:endParaRPr lang="en-US" sz="2000" dirty="0"/>
          </a:p>
        </p:txBody>
      </p:sp>
      <p:sp>
        <p:nvSpPr>
          <p:cNvPr id="6" name="TextBox 5"/>
          <p:cNvSpPr txBox="1"/>
          <p:nvPr/>
        </p:nvSpPr>
        <p:spPr>
          <a:xfrm>
            <a:off x="4762501" y="4293811"/>
            <a:ext cx="4321024"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000" b="1" dirty="0">
                <a:solidFill>
                  <a:srgbClr val="FF0000"/>
                </a:solidFill>
              </a:rPr>
              <a:t>Concept: </a:t>
            </a:r>
            <a:r>
              <a:rPr lang="en-US" sz="2000" dirty="0"/>
              <a:t>We can </a:t>
            </a:r>
            <a:r>
              <a:rPr lang="en-US" sz="2000" i="1" dirty="0"/>
              <a:t>test</a:t>
            </a:r>
            <a:r>
              <a:rPr lang="en-US" sz="2000" dirty="0"/>
              <a:t> whether two things are </a:t>
            </a:r>
            <a:r>
              <a:rPr lang="en-US" sz="2000" b="1" dirty="0"/>
              <a:t>equal</a:t>
            </a:r>
            <a:r>
              <a:rPr lang="en-US" sz="2000" dirty="0"/>
              <a:t> by using a </a:t>
            </a:r>
            <a:r>
              <a:rPr lang="en-US" sz="2000" u="sng" dirty="0"/>
              <a:t>double equals</a:t>
            </a:r>
            <a:r>
              <a:rPr lang="en-US" sz="2000" dirty="0"/>
              <a:t> symbol (</a:t>
            </a:r>
            <a:r>
              <a:rPr lang="en-US" sz="2000" dirty="0">
                <a:latin typeface="Courier New"/>
                <a:cs typeface="Courier New"/>
              </a:rPr>
              <a:t>==</a:t>
            </a:r>
            <a:r>
              <a:rPr lang="en-US" sz="2000" dirty="0"/>
              <a:t>).</a:t>
            </a:r>
          </a:p>
        </p:txBody>
      </p:sp>
      <p:sp>
        <p:nvSpPr>
          <p:cNvPr id="7" name="TextBox 6"/>
          <p:cNvSpPr txBox="1"/>
          <p:nvPr/>
        </p:nvSpPr>
        <p:spPr>
          <a:xfrm>
            <a:off x="4750406" y="5437684"/>
            <a:ext cx="4321024" cy="132343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a:solidFill>
                  <a:srgbClr val="800000"/>
                </a:solidFill>
              </a:rPr>
              <a:t>Pitfall! </a:t>
            </a:r>
            <a:r>
              <a:rPr lang="en-US" sz="2000" dirty="0"/>
              <a:t>It is a </a:t>
            </a:r>
            <a:r>
              <a:rPr lang="en-US" sz="2000" u="sng" dirty="0"/>
              <a:t>common mistake</a:t>
            </a:r>
            <a:r>
              <a:rPr lang="en-US" sz="2000" dirty="0"/>
              <a:t> to get the assignment operator (</a:t>
            </a:r>
            <a:r>
              <a:rPr lang="en-US" sz="2000" dirty="0">
                <a:latin typeface="Courier New"/>
                <a:cs typeface="Courier New"/>
              </a:rPr>
              <a:t>=</a:t>
            </a:r>
            <a:r>
              <a:rPr lang="en-US" sz="2000" dirty="0"/>
              <a:t>) and the equality operator (</a:t>
            </a:r>
            <a:r>
              <a:rPr lang="en-US" sz="2000" dirty="0">
                <a:latin typeface="Courier New"/>
                <a:cs typeface="Courier New"/>
              </a:rPr>
              <a:t>==</a:t>
            </a:r>
            <a:r>
              <a:rPr lang="en-US" sz="2000" dirty="0"/>
              <a:t>) mixed up!</a:t>
            </a:r>
            <a:br>
              <a:rPr lang="en-US" sz="2000" dirty="0"/>
            </a:br>
            <a:r>
              <a:rPr lang="en-US" sz="2000" b="1" i="1" dirty="0"/>
              <a:t>Know when to use each!</a:t>
            </a:r>
          </a:p>
        </p:txBody>
      </p:sp>
      <p:pic>
        <p:nvPicPr>
          <p:cNvPr id="4" name="Picture 3"/>
          <p:cNvPicPr>
            <a:picLocks noChangeAspect="1"/>
          </p:cNvPicPr>
          <p:nvPr/>
        </p:nvPicPr>
        <p:blipFill>
          <a:blip r:embed="rId2"/>
          <a:stretch>
            <a:fillRect/>
          </a:stretch>
        </p:blipFill>
        <p:spPr>
          <a:xfrm>
            <a:off x="4738311" y="1349032"/>
            <a:ext cx="4369403" cy="2856146"/>
          </a:xfrm>
          <a:prstGeom prst="rect">
            <a:avLst/>
          </a:prstGeom>
          <a:ln>
            <a:noFill/>
          </a:ln>
          <a:effectLst>
            <a:softEdge rad="112500"/>
          </a:effectLst>
        </p:spPr>
      </p:pic>
    </p:spTree>
    <p:extLst>
      <p:ext uri="{BB962C8B-B14F-4D97-AF65-F5344CB8AC3E}">
        <p14:creationId xmlns:p14="http://schemas.microsoft.com/office/powerpoint/2010/main" val="4078322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b="1" dirty="0"/>
              <a:t>if/else statement</a:t>
            </a:r>
            <a:r>
              <a:rPr lang="en-US" dirty="0"/>
              <a:t> in more detail</a:t>
            </a:r>
          </a:p>
        </p:txBody>
      </p:sp>
      <p:sp>
        <p:nvSpPr>
          <p:cNvPr id="3" name="Content Placeholder 2"/>
          <p:cNvSpPr>
            <a:spLocks noGrp="1"/>
          </p:cNvSpPr>
          <p:nvPr>
            <p:ph idx="1"/>
          </p:nvPr>
        </p:nvSpPr>
        <p:spPr>
          <a:xfrm>
            <a:off x="457200" y="1600200"/>
            <a:ext cx="8229600" cy="2282371"/>
          </a:xfrm>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t">
            <a:normAutofit/>
          </a:bodyPr>
          <a:lstStyle/>
          <a:p>
            <a:pPr marL="0" indent="0">
              <a:buNone/>
            </a:pPr>
            <a:r>
              <a:rPr lang="en-US" b="1" dirty="0">
                <a:solidFill>
                  <a:srgbClr val="FF0000"/>
                </a:solidFill>
              </a:rPr>
              <a:t>Concept: </a:t>
            </a:r>
            <a:r>
              <a:rPr lang="en-US" dirty="0"/>
              <a:t>The </a:t>
            </a:r>
            <a:r>
              <a:rPr lang="en-US" b="1" dirty="0"/>
              <a:t>if/else statement </a:t>
            </a:r>
            <a:r>
              <a:rPr lang="en-US" dirty="0"/>
              <a:t>will execute </a:t>
            </a:r>
            <a:r>
              <a:rPr lang="en-US" dirty="0">
                <a:highlight>
                  <a:srgbClr val="FFFF00"/>
                </a:highlight>
              </a:rPr>
              <a:t>*one </a:t>
            </a:r>
            <a:r>
              <a:rPr lang="en-US" dirty="0"/>
              <a:t>segment of code when a given condition is true, and it will execute a different </a:t>
            </a:r>
            <a:r>
              <a:rPr lang="en-US" i="1" dirty="0">
                <a:highlight>
                  <a:srgbClr val="FFFF00"/>
                </a:highlight>
              </a:rPr>
              <a:t> </a:t>
            </a:r>
            <a:r>
              <a:rPr lang="en-US" dirty="0"/>
              <a:t>segment of code when that same condition is false.</a:t>
            </a:r>
            <a:endParaRPr lang="en-US" b="1"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65387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p:sp>
        <p:nvSpPr>
          <p:cNvPr id="3" name="Content Placeholder 2"/>
          <p:cNvSpPr>
            <a:spLocks noGrp="1"/>
          </p:cNvSpPr>
          <p:nvPr>
            <p:ph idx="1"/>
          </p:nvPr>
        </p:nvSpPr>
        <p:spPr>
          <a:xfrm>
            <a:off x="457200" y="1600200"/>
            <a:ext cx="8229600" cy="4955419"/>
          </a:xfrm>
        </p:spPr>
        <p:style>
          <a:lnRef idx="1">
            <a:schemeClr val="accent3"/>
          </a:lnRef>
          <a:fillRef idx="2">
            <a:schemeClr val="accent3"/>
          </a:fillRef>
          <a:effectRef idx="1">
            <a:schemeClr val="accent3"/>
          </a:effectRef>
          <a:fontRef idx="minor">
            <a:schemeClr val="dk1"/>
          </a:fontRef>
        </p:style>
        <p:txBody>
          <a:bodyPr>
            <a:normAutofit fontScale="77500" lnSpcReduction="20000"/>
          </a:bodyPr>
          <a:lstStyle/>
          <a:p>
            <a:pPr>
              <a:lnSpc>
                <a:spcPct val="110000"/>
              </a:lnSpc>
            </a:pPr>
            <a:r>
              <a:rPr lang="en-US" b="1" dirty="0">
                <a:solidFill>
                  <a:srgbClr val="008000"/>
                </a:solidFill>
              </a:rPr>
              <a:t>4.22</a:t>
            </a:r>
            <a:r>
              <a:rPr lang="en-US" dirty="0"/>
              <a:t> – Add the image switching code to the </a:t>
            </a:r>
            <a:r>
              <a:rPr lang="en-US" b="1" dirty="0">
                <a:latin typeface="Courier New"/>
                <a:cs typeface="Courier New"/>
              </a:rPr>
              <a:t>act</a:t>
            </a:r>
            <a:r>
              <a:rPr lang="en-US" dirty="0"/>
              <a:t> method of your own </a:t>
            </a:r>
            <a:r>
              <a:rPr lang="en-US" b="1" dirty="0">
                <a:latin typeface="Courier New"/>
                <a:cs typeface="Courier New"/>
              </a:rPr>
              <a:t>Crab</a:t>
            </a:r>
            <a:r>
              <a:rPr lang="en-US" dirty="0"/>
              <a:t> class. Try it out. (If you get an error, fix it—this should work.) Also try clicking the </a:t>
            </a:r>
            <a:r>
              <a:rPr lang="en-US" i="1" dirty="0"/>
              <a:t>Act</a:t>
            </a:r>
            <a:r>
              <a:rPr lang="en-US" dirty="0"/>
              <a:t> button instead of the </a:t>
            </a:r>
            <a:r>
              <a:rPr lang="en-US" i="1" dirty="0"/>
              <a:t>Run</a:t>
            </a:r>
            <a:r>
              <a:rPr lang="en-US" dirty="0"/>
              <a:t> button; this will allow you to observe the behavior more closely.</a:t>
            </a:r>
          </a:p>
          <a:p>
            <a:pPr>
              <a:lnSpc>
                <a:spcPct val="110000"/>
              </a:lnSpc>
            </a:pPr>
            <a:r>
              <a:rPr lang="en-US" b="1" dirty="0">
                <a:solidFill>
                  <a:srgbClr val="008000"/>
                </a:solidFill>
              </a:rPr>
              <a:t>4.23</a:t>
            </a:r>
            <a:r>
              <a:rPr lang="en-US" dirty="0"/>
              <a:t> – In Chapter 3, we discussed using separate methods for subtasks, rather than writing more code directly into the </a:t>
            </a:r>
            <a:r>
              <a:rPr lang="en-US" b="1" dirty="0">
                <a:latin typeface="Courier New"/>
                <a:cs typeface="Courier New"/>
              </a:rPr>
              <a:t>act</a:t>
            </a:r>
            <a:r>
              <a:rPr lang="en-US" dirty="0"/>
              <a:t> method. Do this with the image switching code: Create a new method called </a:t>
            </a:r>
            <a:r>
              <a:rPr lang="en-US" b="1" dirty="0" err="1">
                <a:latin typeface="Courier New"/>
                <a:cs typeface="Courier New"/>
              </a:rPr>
              <a:t>switchImage</a:t>
            </a:r>
            <a:r>
              <a:rPr lang="en-US" dirty="0"/>
              <a:t>, move your image switching code to it, and call this method from within your </a:t>
            </a:r>
            <a:r>
              <a:rPr lang="en-US" b="1" dirty="0">
                <a:latin typeface="Courier New"/>
                <a:cs typeface="Courier New"/>
              </a:rPr>
              <a:t>act</a:t>
            </a:r>
            <a:r>
              <a:rPr lang="en-US" dirty="0"/>
              <a:t> method.</a:t>
            </a:r>
          </a:p>
          <a:p>
            <a:pPr>
              <a:lnSpc>
                <a:spcPct val="110000"/>
              </a:lnSpc>
            </a:pPr>
            <a:r>
              <a:rPr lang="en-US" b="1" dirty="0">
                <a:solidFill>
                  <a:srgbClr val="008000"/>
                </a:solidFill>
              </a:rPr>
              <a:t>4.24</a:t>
            </a:r>
            <a:r>
              <a:rPr lang="en-US" dirty="0"/>
              <a:t> – Call the </a:t>
            </a:r>
            <a:r>
              <a:rPr lang="en-US" b="1" dirty="0" err="1">
                <a:latin typeface="Courier New"/>
                <a:cs typeface="Courier New"/>
              </a:rPr>
              <a:t>switchImage</a:t>
            </a:r>
            <a:r>
              <a:rPr lang="en-US" dirty="0"/>
              <a:t> method interactively from the crab's popup menu. Does it work?</a:t>
            </a:r>
          </a:p>
        </p:txBody>
      </p:sp>
    </p:spTree>
    <p:extLst>
      <p:ext uri="{BB962C8B-B14F-4D97-AF65-F5344CB8AC3E}">
        <p14:creationId xmlns:p14="http://schemas.microsoft.com/office/powerpoint/2010/main" val="1355719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Counting worms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To provide a way to "win" the game, let's add functionality so that the crab counts the </a:t>
            </a:r>
            <a:r>
              <a:rPr lang="en-US">
                <a:highlight>
                  <a:srgbClr val="FFFF00"/>
                </a:highlight>
              </a:rPr>
              <a:t>*number of worm it has eaten</a:t>
            </a:r>
            <a:r>
              <a:rPr lang="en-US" dirty="0"/>
              <a:t> </a:t>
            </a:r>
          </a:p>
          <a:p>
            <a:pPr lvl="1"/>
            <a:r>
              <a:rPr lang="en-US" dirty="0"/>
              <a:t>If it has eaten eight worms, you "win" the game</a:t>
            </a:r>
          </a:p>
          <a:p>
            <a:pPr lvl="1"/>
            <a:r>
              <a:rPr lang="en-US" dirty="0"/>
              <a:t>And we will play a short "winning sound" (a fanfare) when this happens</a:t>
            </a:r>
          </a:p>
        </p:txBody>
      </p:sp>
    </p:spTree>
    <p:extLst>
      <p:ext uri="{BB962C8B-B14F-4D97-AF65-F5344CB8AC3E}">
        <p14:creationId xmlns:p14="http://schemas.microsoft.com/office/powerpoint/2010/main" val="3437303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code needed:</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US" dirty="0"/>
              <a:t>An instance variable to store the current count of worms eaten;</a:t>
            </a:r>
          </a:p>
          <a:p>
            <a:r>
              <a:rPr lang="en-US" dirty="0"/>
              <a:t>An assignment that initializes this variable to zero (0) at the beginning;</a:t>
            </a:r>
          </a:p>
          <a:p>
            <a:r>
              <a:rPr lang="en-US" dirty="0"/>
              <a:t>Code to increment our count each time we eat a worm;</a:t>
            </a:r>
          </a:p>
          <a:p>
            <a:r>
              <a:rPr lang="en-US" dirty="0"/>
              <a:t>Code that checks whether we have eaten eight worms, and if so, stops the game and plays the sound </a:t>
            </a:r>
          </a:p>
          <a:p>
            <a:endParaRPr lang="en-US" dirty="0"/>
          </a:p>
        </p:txBody>
      </p:sp>
    </p:spTree>
    <p:extLst>
      <p:ext uri="{BB962C8B-B14F-4D97-AF65-F5344CB8AC3E}">
        <p14:creationId xmlns:p14="http://schemas.microsoft.com/office/powerpoint/2010/main" val="541290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do one thing at a time…</a:t>
            </a:r>
          </a:p>
        </p:txBody>
      </p:sp>
      <p:sp>
        <p:nvSpPr>
          <p:cNvPr id="3" name="Content Placeholder 2"/>
          <p:cNvSpPr>
            <a:spLocks noGrp="1"/>
          </p:cNvSpPr>
          <p:nvPr>
            <p:ph idx="1"/>
          </p:nvPr>
        </p:nvSpPr>
        <p:spPr>
          <a:xfrm>
            <a:off x="457200" y="1515535"/>
            <a:ext cx="8229600" cy="4525963"/>
          </a:xfrm>
        </p:spPr>
        <p:txBody>
          <a:bodyPr>
            <a:normAutofit/>
          </a:bodyPr>
          <a:lstStyle/>
          <a:p>
            <a:r>
              <a:rPr lang="en-US" sz="3000" dirty="0"/>
              <a:t>What shall we </a:t>
            </a:r>
            <a:r>
              <a:rPr lang="en-US" sz="3000" u="sng" dirty="0"/>
              <a:t>name</a:t>
            </a:r>
            <a:r>
              <a:rPr lang="en-US" sz="3000" dirty="0"/>
              <a:t> our new </a:t>
            </a:r>
            <a:r>
              <a:rPr lang="en-US" sz="3000" b="1" dirty="0"/>
              <a:t>instance variable </a:t>
            </a:r>
            <a:r>
              <a:rPr lang="en-US" sz="3000" dirty="0"/>
              <a:t>for storing the current count of worms eaten, how do we </a:t>
            </a:r>
            <a:r>
              <a:rPr lang="en-US" sz="3000" u="sng" dirty="0"/>
              <a:t>define</a:t>
            </a:r>
            <a:r>
              <a:rPr lang="en-US" sz="3000" dirty="0"/>
              <a:t> it, and </a:t>
            </a:r>
            <a:r>
              <a:rPr lang="en-US" sz="3000" u="sng" dirty="0"/>
              <a:t>where</a:t>
            </a:r>
            <a:r>
              <a:rPr lang="en-US" sz="3000" dirty="0"/>
              <a:t> in the code do we include this definition?</a:t>
            </a:r>
          </a:p>
        </p:txBody>
      </p:sp>
      <p:sp>
        <p:nvSpPr>
          <p:cNvPr id="4" name="TextBox 3"/>
          <p:cNvSpPr txBox="1"/>
          <p:nvPr/>
        </p:nvSpPr>
        <p:spPr>
          <a:xfrm>
            <a:off x="1548187" y="3459238"/>
            <a:ext cx="6386287" cy="584776"/>
          </a:xfrm>
          <a:prstGeom prst="rect">
            <a:avLst/>
          </a:prstGeom>
          <a:noFill/>
        </p:spPr>
        <p:txBody>
          <a:bodyPr wrap="square" rtlCol="0">
            <a:spAutoFit/>
          </a:bodyPr>
          <a:lstStyle/>
          <a:p>
            <a:r>
              <a:rPr lang="en-US" sz="3200" b="1" dirty="0">
                <a:solidFill>
                  <a:srgbClr val="800000"/>
                </a:solidFill>
                <a:latin typeface="Courier New"/>
                <a:cs typeface="Courier New"/>
              </a:rPr>
              <a:t>private</a:t>
            </a:r>
            <a:r>
              <a:rPr lang="en-US" sz="3200" b="1" dirty="0">
                <a:latin typeface="Courier New"/>
                <a:cs typeface="Courier New"/>
              </a:rPr>
              <a:t> </a:t>
            </a:r>
            <a:r>
              <a:rPr lang="en-US" sz="3200" b="1" dirty="0" err="1">
                <a:solidFill>
                  <a:schemeClr val="accent2"/>
                </a:solidFill>
                <a:latin typeface="Courier New"/>
                <a:cs typeface="Courier New"/>
              </a:rPr>
              <a:t>int</a:t>
            </a:r>
            <a:r>
              <a:rPr lang="en-US" sz="3200" b="1" dirty="0">
                <a:solidFill>
                  <a:schemeClr val="accent2"/>
                </a:solidFill>
                <a:latin typeface="Courier New"/>
                <a:cs typeface="Courier New"/>
              </a:rPr>
              <a:t> </a:t>
            </a:r>
            <a:r>
              <a:rPr lang="en-US" sz="3200" b="1" dirty="0" err="1">
                <a:latin typeface="Courier New"/>
                <a:cs typeface="Courier New"/>
              </a:rPr>
              <a:t>wormsEaten</a:t>
            </a:r>
            <a:r>
              <a:rPr lang="en-US" sz="3200" b="1" dirty="0">
                <a:latin typeface="Courier New"/>
                <a:cs typeface="Courier New"/>
              </a:rPr>
              <a:t>;</a:t>
            </a:r>
          </a:p>
        </p:txBody>
      </p:sp>
      <p:grpSp>
        <p:nvGrpSpPr>
          <p:cNvPr id="14" name="Group 13"/>
          <p:cNvGrpSpPr/>
          <p:nvPr/>
        </p:nvGrpSpPr>
        <p:grpSpPr>
          <a:xfrm>
            <a:off x="457200" y="4044014"/>
            <a:ext cx="2600476" cy="1740410"/>
            <a:chOff x="457200" y="4044014"/>
            <a:chExt cx="2600476" cy="1740410"/>
          </a:xfrm>
        </p:grpSpPr>
        <p:sp>
          <p:nvSpPr>
            <p:cNvPr id="5" name="TextBox 4"/>
            <p:cNvSpPr txBox="1"/>
            <p:nvPr/>
          </p:nvSpPr>
          <p:spPr>
            <a:xfrm>
              <a:off x="457200" y="4584095"/>
              <a:ext cx="2600476"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keyword </a:t>
              </a:r>
              <a:r>
                <a:rPr lang="en-US" b="1" dirty="0">
                  <a:latin typeface="Courier New"/>
                  <a:cs typeface="Courier New"/>
                </a:rPr>
                <a:t>private</a:t>
              </a:r>
              <a:r>
                <a:rPr lang="en-US" dirty="0"/>
                <a:t> is used at the beginning of all our instance variable definitions. </a:t>
              </a:r>
            </a:p>
          </p:txBody>
        </p:sp>
        <p:cxnSp>
          <p:nvCxnSpPr>
            <p:cNvPr id="9" name="Straight Arrow Connector 8"/>
            <p:cNvCxnSpPr>
              <a:stCxn id="5" idx="0"/>
            </p:cNvCxnSpPr>
            <p:nvPr/>
          </p:nvCxnSpPr>
          <p:spPr>
            <a:xfrm flipV="1">
              <a:off x="1757438" y="4044014"/>
              <a:ext cx="516467" cy="54008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3268133" y="4044014"/>
            <a:ext cx="2600476" cy="1470671"/>
            <a:chOff x="3268133" y="4044014"/>
            <a:chExt cx="2600476" cy="1470671"/>
          </a:xfrm>
        </p:grpSpPr>
        <p:sp>
          <p:nvSpPr>
            <p:cNvPr id="6" name="TextBox 5"/>
            <p:cNvSpPr txBox="1"/>
            <p:nvPr/>
          </p:nvSpPr>
          <p:spPr>
            <a:xfrm>
              <a:off x="3268133" y="4591355"/>
              <a:ext cx="2600476" cy="9233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type </a:t>
              </a:r>
              <a:r>
                <a:rPr lang="en-US" b="1" dirty="0" err="1">
                  <a:latin typeface="Courier New"/>
                  <a:cs typeface="Courier New"/>
                </a:rPr>
                <a:t>int</a:t>
              </a:r>
              <a:r>
                <a:rPr lang="en-US" dirty="0"/>
                <a:t> indicates that we want to store integers in this variable</a:t>
              </a:r>
            </a:p>
          </p:txBody>
        </p:sp>
        <p:cxnSp>
          <p:nvCxnSpPr>
            <p:cNvPr id="11" name="Straight Arrow Connector 10"/>
            <p:cNvCxnSpPr>
              <a:stCxn id="6" idx="0"/>
            </p:cNvCxnSpPr>
            <p:nvPr/>
          </p:nvCxnSpPr>
          <p:spPr>
            <a:xfrm flipH="1" flipV="1">
              <a:off x="4076095" y="4044014"/>
              <a:ext cx="492276" cy="5473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6" name="Group 15"/>
          <p:cNvGrpSpPr/>
          <p:nvPr/>
        </p:nvGrpSpPr>
        <p:grpSpPr>
          <a:xfrm>
            <a:off x="6226628" y="4044015"/>
            <a:ext cx="2784324" cy="2007738"/>
            <a:chOff x="6226628" y="4044015"/>
            <a:chExt cx="2784324" cy="2007738"/>
          </a:xfrm>
        </p:grpSpPr>
        <p:sp>
          <p:nvSpPr>
            <p:cNvPr id="7" name="TextBox 6"/>
            <p:cNvSpPr txBox="1"/>
            <p:nvPr/>
          </p:nvSpPr>
          <p:spPr>
            <a:xfrm>
              <a:off x="6226628" y="4574425"/>
              <a:ext cx="2784324"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The name </a:t>
              </a:r>
              <a:r>
                <a:rPr lang="en-US" b="1" dirty="0" err="1">
                  <a:latin typeface="Courier New"/>
                  <a:cs typeface="Courier New"/>
                </a:rPr>
                <a:t>wormsEaten</a:t>
              </a:r>
              <a:r>
                <a:rPr lang="en-US" dirty="0"/>
                <a:t> indicates what we intend to use the variable for (note that it follows the usual Java naming convention)</a:t>
              </a:r>
            </a:p>
          </p:txBody>
        </p:sp>
        <p:cxnSp>
          <p:nvCxnSpPr>
            <p:cNvPr id="13" name="Straight Arrow Connector 12"/>
            <p:cNvCxnSpPr>
              <a:stCxn id="7" idx="0"/>
            </p:cNvCxnSpPr>
            <p:nvPr/>
          </p:nvCxnSpPr>
          <p:spPr>
            <a:xfrm flipH="1" flipV="1">
              <a:off x="6543524" y="4044015"/>
              <a:ext cx="1075266" cy="5304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17" name="TextBox 16"/>
          <p:cNvSpPr txBox="1"/>
          <p:nvPr/>
        </p:nvSpPr>
        <p:spPr>
          <a:xfrm>
            <a:off x="457200" y="6168569"/>
            <a:ext cx="8553752"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Finally, we will include this line of code at the </a:t>
            </a:r>
            <a:r>
              <a:rPr lang="en-US" b="1" dirty="0"/>
              <a:t>beginning</a:t>
            </a:r>
            <a:r>
              <a:rPr lang="en-US" dirty="0"/>
              <a:t> of the </a:t>
            </a:r>
            <a:r>
              <a:rPr lang="en-US" b="1" dirty="0">
                <a:latin typeface="Courier New"/>
                <a:cs typeface="Courier New"/>
              </a:rPr>
              <a:t>Crab</a:t>
            </a:r>
            <a:r>
              <a:rPr lang="en-US" dirty="0"/>
              <a:t> class source code, along with the instance variables introduced earlier </a:t>
            </a:r>
          </a:p>
        </p:txBody>
      </p:sp>
    </p:spTree>
    <p:extLst>
      <p:ext uri="{BB962C8B-B14F-4D97-AF65-F5344CB8AC3E}">
        <p14:creationId xmlns:p14="http://schemas.microsoft.com/office/powerpoint/2010/main" val="305740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1591"/>
            <a:ext cx="8229600" cy="1143000"/>
          </a:xfrm>
        </p:spPr>
        <p:txBody>
          <a:bodyPr/>
          <a:lstStyle/>
          <a:p>
            <a:r>
              <a:rPr lang="en-US" b="1" dirty="0"/>
              <a:t>Initialize</a:t>
            </a:r>
            <a:r>
              <a:rPr lang="en-US" dirty="0"/>
              <a:t> the instance variable</a:t>
            </a:r>
          </a:p>
        </p:txBody>
      </p:sp>
      <p:sp>
        <p:nvSpPr>
          <p:cNvPr id="3" name="Content Placeholder 2"/>
          <p:cNvSpPr>
            <a:spLocks noGrp="1"/>
          </p:cNvSpPr>
          <p:nvPr>
            <p:ph idx="1"/>
          </p:nvPr>
        </p:nvSpPr>
        <p:spPr>
          <a:xfrm>
            <a:off x="457200" y="1332971"/>
            <a:ext cx="8229600" cy="4525963"/>
          </a:xfrm>
        </p:spPr>
        <p:txBody>
          <a:bodyPr>
            <a:noAutofit/>
          </a:bodyPr>
          <a:lstStyle/>
          <a:p>
            <a:r>
              <a:rPr lang="en-US" sz="2800" dirty="0"/>
              <a:t>We will add the following line to the end of the </a:t>
            </a:r>
            <a:r>
              <a:rPr lang="en-US" sz="2800" b="1" dirty="0">
                <a:latin typeface="Courier New"/>
                <a:cs typeface="Courier New"/>
              </a:rPr>
              <a:t>Crab</a:t>
            </a:r>
            <a:r>
              <a:rPr lang="en-US" sz="2800" dirty="0"/>
              <a:t> constructor:</a:t>
            </a:r>
          </a:p>
          <a:p>
            <a:pPr marL="0" indent="0">
              <a:buNone/>
            </a:pPr>
            <a:endParaRPr lang="en-US" sz="4000" dirty="0"/>
          </a:p>
          <a:p>
            <a:r>
              <a:rPr lang="en-US" sz="2800" dirty="0"/>
              <a:t>Doing so initializes the </a:t>
            </a:r>
            <a:r>
              <a:rPr lang="en-US" sz="2800" b="1" dirty="0" err="1">
                <a:latin typeface="Courier New"/>
                <a:cs typeface="Courier New"/>
              </a:rPr>
              <a:t>wormsEaten</a:t>
            </a:r>
            <a:r>
              <a:rPr lang="en-US" sz="2800" dirty="0"/>
              <a:t> variable to zero when the crab is created</a:t>
            </a:r>
          </a:p>
          <a:p>
            <a:pPr lvl="1"/>
            <a:r>
              <a:rPr lang="en-US" sz="2400" dirty="0"/>
              <a:t>Technically, this is redundant, because instance variables of type </a:t>
            </a:r>
            <a:r>
              <a:rPr lang="en-US" sz="2400" dirty="0" err="1"/>
              <a:t>int</a:t>
            </a:r>
            <a:r>
              <a:rPr lang="en-US" sz="2400" dirty="0"/>
              <a:t> are initialized to zero automatically</a:t>
            </a:r>
          </a:p>
          <a:p>
            <a:pPr lvl="1"/>
            <a:r>
              <a:rPr lang="en-US" sz="2400" dirty="0"/>
              <a:t>However, sometimes we will want to initialize certain variables to be something </a:t>
            </a:r>
            <a:r>
              <a:rPr lang="en-US" sz="2400" b="1" dirty="0"/>
              <a:t>other</a:t>
            </a:r>
            <a:r>
              <a:rPr lang="en-US" sz="2400" dirty="0"/>
              <a:t> than zero, so it's good programming practice to always write an initialization statement</a:t>
            </a:r>
          </a:p>
        </p:txBody>
      </p:sp>
      <p:sp>
        <p:nvSpPr>
          <p:cNvPr id="4" name="TextBox 3"/>
          <p:cNvSpPr txBox="1"/>
          <p:nvPr/>
        </p:nvSpPr>
        <p:spPr>
          <a:xfrm>
            <a:off x="2576285" y="2349883"/>
            <a:ext cx="4499429" cy="646331"/>
          </a:xfrm>
          <a:prstGeom prst="rect">
            <a:avLst/>
          </a:prstGeom>
          <a:noFill/>
        </p:spPr>
        <p:txBody>
          <a:bodyPr wrap="square" rtlCol="0">
            <a:spAutoFit/>
          </a:bodyPr>
          <a:lstStyle/>
          <a:p>
            <a:r>
              <a:rPr lang="en-US" sz="3600" b="1" dirty="0" err="1">
                <a:latin typeface="Courier New"/>
                <a:cs typeface="Courier New"/>
              </a:rPr>
              <a:t>wormsEaten</a:t>
            </a:r>
            <a:r>
              <a:rPr lang="en-US" sz="3600" b="1" dirty="0">
                <a:latin typeface="Courier New"/>
                <a:cs typeface="Courier New"/>
              </a:rPr>
              <a:t> = 0;</a:t>
            </a:r>
          </a:p>
        </p:txBody>
      </p:sp>
    </p:spTree>
    <p:extLst>
      <p:ext uri="{BB962C8B-B14F-4D97-AF65-F5344CB8AC3E}">
        <p14:creationId xmlns:p14="http://schemas.microsoft.com/office/powerpoint/2010/main" val="212275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Maintain a running count of worms that have been eaten</a:t>
            </a:r>
          </a:p>
        </p:txBody>
      </p:sp>
      <p:sp>
        <p:nvSpPr>
          <p:cNvPr id="3" name="Content Placeholder 2"/>
          <p:cNvSpPr>
            <a:spLocks noGrp="1"/>
          </p:cNvSpPr>
          <p:nvPr>
            <p:ph idx="1"/>
          </p:nvPr>
        </p:nvSpPr>
        <p:spPr>
          <a:xfrm>
            <a:off x="457200" y="1769530"/>
            <a:ext cx="8229600" cy="5088470"/>
          </a:xfrm>
        </p:spPr>
        <p:txBody>
          <a:bodyPr>
            <a:normAutofit/>
          </a:bodyPr>
          <a:lstStyle/>
          <a:p>
            <a:r>
              <a:rPr lang="en-US" dirty="0"/>
              <a:t>What code might we use to accomplish this?</a:t>
            </a:r>
          </a:p>
          <a:p>
            <a:endParaRPr lang="en-US" dirty="0"/>
          </a:p>
          <a:p>
            <a:endParaRPr lang="en-US" dirty="0"/>
          </a:p>
          <a:p>
            <a:endParaRPr lang="en-US" dirty="0"/>
          </a:p>
          <a:p>
            <a:endParaRPr lang="en-US" dirty="0"/>
          </a:p>
          <a:p>
            <a:pPr marL="0" indent="0">
              <a:buNone/>
            </a:pPr>
            <a:endParaRPr lang="en-US" dirty="0"/>
          </a:p>
          <a:p>
            <a:r>
              <a:rPr lang="en-US" dirty="0"/>
              <a:t>But </a:t>
            </a:r>
            <a:r>
              <a:rPr lang="en-US" u="sng" dirty="0"/>
              <a:t>where</a:t>
            </a:r>
            <a:r>
              <a:rPr lang="en-US" dirty="0"/>
              <a:t> should we put this line of code?</a:t>
            </a:r>
          </a:p>
          <a:p>
            <a:pPr lvl="1"/>
            <a:r>
              <a:rPr lang="en-US" dirty="0"/>
              <a:t>Inside the </a:t>
            </a:r>
            <a:r>
              <a:rPr lang="en-US" b="1" dirty="0" err="1">
                <a:latin typeface="Courier New"/>
                <a:cs typeface="Courier New"/>
              </a:rPr>
              <a:t>lookForWorm</a:t>
            </a:r>
            <a:r>
              <a:rPr lang="en-US" dirty="0"/>
              <a:t> method definition, after we have eaten a worm </a:t>
            </a:r>
          </a:p>
        </p:txBody>
      </p:sp>
      <p:sp>
        <p:nvSpPr>
          <p:cNvPr id="4" name="TextBox 3"/>
          <p:cNvSpPr txBox="1"/>
          <p:nvPr/>
        </p:nvSpPr>
        <p:spPr>
          <a:xfrm>
            <a:off x="1040189" y="2515810"/>
            <a:ext cx="7307946" cy="584776"/>
          </a:xfrm>
          <a:prstGeom prst="rect">
            <a:avLst/>
          </a:prstGeom>
          <a:noFill/>
        </p:spPr>
        <p:txBody>
          <a:bodyPr wrap="square" rtlCol="0">
            <a:spAutoFit/>
          </a:bodyPr>
          <a:lstStyle/>
          <a:p>
            <a:r>
              <a:rPr lang="en-US" sz="3200" b="1" dirty="0" err="1">
                <a:latin typeface="Courier New"/>
                <a:cs typeface="Courier New"/>
              </a:rPr>
              <a:t>wormsEaten</a:t>
            </a:r>
            <a:r>
              <a:rPr lang="en-US" sz="3200" b="1" dirty="0">
                <a:latin typeface="Courier New"/>
                <a:cs typeface="Courier New"/>
              </a:rPr>
              <a:t> = </a:t>
            </a:r>
            <a:r>
              <a:rPr lang="en-US" sz="3200" b="1" dirty="0" err="1">
                <a:latin typeface="Courier New"/>
                <a:cs typeface="Courier New"/>
              </a:rPr>
              <a:t>wormsEaten</a:t>
            </a:r>
            <a:r>
              <a:rPr lang="en-US" sz="3200" b="1" dirty="0">
                <a:latin typeface="Courier New"/>
                <a:cs typeface="Courier New"/>
              </a:rPr>
              <a:t> + 1;</a:t>
            </a:r>
          </a:p>
        </p:txBody>
      </p:sp>
      <p:sp>
        <p:nvSpPr>
          <p:cNvPr id="5" name="TextBox 4"/>
          <p:cNvSpPr txBox="1"/>
          <p:nvPr/>
        </p:nvSpPr>
        <p:spPr>
          <a:xfrm>
            <a:off x="607181" y="3314095"/>
            <a:ext cx="8079619" cy="9233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This is an </a:t>
            </a:r>
            <a:r>
              <a:rPr lang="en-US" i="1" dirty="0"/>
              <a:t>assignment</a:t>
            </a:r>
            <a:r>
              <a:rPr lang="en-US" dirty="0"/>
              <a:t> statement: we first evaluate the </a:t>
            </a:r>
            <a:r>
              <a:rPr lang="en-US" b="1" dirty="0"/>
              <a:t>right-hand side</a:t>
            </a:r>
            <a:r>
              <a:rPr lang="en-US" dirty="0"/>
              <a:t> of the statement (add 1 to the </a:t>
            </a:r>
            <a:r>
              <a:rPr lang="en-US" i="1" dirty="0"/>
              <a:t>current</a:t>
            </a:r>
            <a:r>
              <a:rPr lang="en-US" dirty="0"/>
              <a:t> value of </a:t>
            </a:r>
            <a:r>
              <a:rPr lang="en-US" b="1" dirty="0" err="1">
                <a:latin typeface="Courier New"/>
                <a:cs typeface="Courier New"/>
              </a:rPr>
              <a:t>wormsEaten</a:t>
            </a:r>
            <a:r>
              <a:rPr lang="en-US" dirty="0"/>
              <a:t>), and the resulting value of that expression is then </a:t>
            </a:r>
            <a:r>
              <a:rPr lang="en-US" i="1" dirty="0"/>
              <a:t>assigned</a:t>
            </a:r>
            <a:r>
              <a:rPr lang="en-US" dirty="0"/>
              <a:t> to the </a:t>
            </a:r>
            <a:r>
              <a:rPr lang="en-US" b="1" dirty="0" err="1">
                <a:latin typeface="Courier New"/>
                <a:cs typeface="Courier New"/>
              </a:rPr>
              <a:t>wormsEaten</a:t>
            </a:r>
            <a:r>
              <a:rPr lang="en-US" b="1" dirty="0">
                <a:latin typeface="Courier New"/>
                <a:cs typeface="Courier New"/>
              </a:rPr>
              <a:t> </a:t>
            </a:r>
            <a:r>
              <a:rPr lang="en-US" dirty="0"/>
              <a:t>variable.</a:t>
            </a:r>
          </a:p>
        </p:txBody>
      </p:sp>
      <p:sp>
        <p:nvSpPr>
          <p:cNvPr id="6" name="TextBox 5"/>
          <p:cNvSpPr txBox="1"/>
          <p:nvPr/>
        </p:nvSpPr>
        <p:spPr>
          <a:xfrm>
            <a:off x="607180" y="4414763"/>
            <a:ext cx="8079619" cy="738664"/>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As a heads up for later on (CSCI 146): in algorithm </a:t>
            </a:r>
            <a:r>
              <a:rPr lang="en-US" b="1" i="1" dirty="0"/>
              <a:t>pseudocode</a:t>
            </a:r>
            <a:r>
              <a:rPr lang="en-US" dirty="0"/>
              <a:t> we </a:t>
            </a:r>
            <a:r>
              <a:rPr lang="en-US" i="1" dirty="0"/>
              <a:t>might</a:t>
            </a:r>
            <a:r>
              <a:rPr lang="en-US" dirty="0"/>
              <a:t> write this as</a:t>
            </a:r>
          </a:p>
          <a:p>
            <a:pPr algn="ctr"/>
            <a:r>
              <a:rPr lang="en-US" sz="2400" dirty="0" err="1">
                <a:latin typeface="Times New Roman"/>
                <a:cs typeface="Times New Roman"/>
              </a:rPr>
              <a:t>wormsEaten</a:t>
            </a:r>
            <a:r>
              <a:rPr lang="en-US" sz="2400" dirty="0">
                <a:latin typeface="Times New Roman"/>
                <a:cs typeface="Times New Roman"/>
                <a:sym typeface="Wingdings"/>
              </a:rPr>
              <a:t> ← </a:t>
            </a:r>
            <a:r>
              <a:rPr lang="en-US" sz="2400" dirty="0" err="1">
                <a:latin typeface="Times New Roman"/>
                <a:cs typeface="Times New Roman"/>
                <a:sym typeface="Wingdings"/>
              </a:rPr>
              <a:t>wormsEaten</a:t>
            </a:r>
            <a:r>
              <a:rPr lang="en-US" sz="2400" dirty="0">
                <a:latin typeface="Times New Roman"/>
                <a:cs typeface="Times New Roman"/>
                <a:sym typeface="Wingdings"/>
              </a:rPr>
              <a:t> + 1;</a:t>
            </a:r>
          </a:p>
        </p:txBody>
      </p:sp>
    </p:spTree>
    <p:extLst>
      <p:ext uri="{BB962C8B-B14F-4D97-AF65-F5344CB8AC3E}">
        <p14:creationId xmlns:p14="http://schemas.microsoft.com/office/powerpoint/2010/main" val="215612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And finally, we need to check for 8 worms eaten, and if so, then stop the game</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What kind of statement do we use for this?</a:t>
            </a:r>
          </a:p>
          <a:p>
            <a:pPr lvl="1"/>
            <a:r>
              <a:rPr lang="en-US"/>
              <a:t>We can accomplish this with one if statement</a:t>
            </a:r>
            <a:r>
              <a:rPr lang="en-US" dirty="0">
                <a:highlight>
                  <a:srgbClr val="FFFF00"/>
                </a:highlight>
              </a:rPr>
              <a:t>:</a:t>
            </a:r>
            <a:endParaRPr lang="en-US" dirty="0">
              <a:highlight>
                <a:srgbClr val="FFFF00"/>
              </a:highlight>
              <a:ea typeface="Calibri"/>
              <a:cs typeface="Calibri"/>
            </a:endParaRPr>
          </a:p>
          <a:p>
            <a:pPr lvl="1"/>
            <a:endParaRPr lang="en-US" dirty="0"/>
          </a:p>
          <a:p>
            <a:pPr lvl="1"/>
            <a:endParaRPr lang="en-US" dirty="0"/>
          </a:p>
          <a:p>
            <a:pPr lvl="1"/>
            <a:endParaRPr lang="en-US" dirty="0"/>
          </a:p>
          <a:p>
            <a:pPr lvl="1"/>
            <a:endParaRPr lang="en-US" dirty="0"/>
          </a:p>
          <a:p>
            <a:pPr lvl="1"/>
            <a:r>
              <a:rPr lang="en-US"/>
              <a:t>And where should we put this code segment?</a:t>
            </a:r>
            <a:endParaRPr lang="en-US">
              <a:ea typeface="Calibri"/>
              <a:cs typeface="Calibri"/>
            </a:endParaRPr>
          </a:p>
          <a:p>
            <a:pPr lvl="2"/>
            <a:r>
              <a:rPr lang="en-US" dirty="0"/>
              <a:t>Right after </a:t>
            </a:r>
            <a:r>
              <a:rPr lang="en-US" b="1" dirty="0" err="1">
                <a:latin typeface="Courier New"/>
                <a:cs typeface="Courier New"/>
              </a:rPr>
              <a:t>wormsEaten</a:t>
            </a:r>
            <a:r>
              <a:rPr lang="en-US" b="1" dirty="0">
                <a:latin typeface="Courier New"/>
                <a:cs typeface="Courier New"/>
              </a:rPr>
              <a:t> = </a:t>
            </a:r>
            <a:r>
              <a:rPr lang="en-US" b="1" dirty="0" err="1">
                <a:latin typeface="Courier New"/>
                <a:cs typeface="Courier New"/>
              </a:rPr>
              <a:t>wormsEaten</a:t>
            </a:r>
            <a:r>
              <a:rPr lang="en-US" b="1" dirty="0">
                <a:latin typeface="Courier New"/>
                <a:cs typeface="Courier New"/>
              </a:rPr>
              <a:t> + 1;</a:t>
            </a:r>
            <a:r>
              <a:rPr lang="en-US" dirty="0"/>
              <a:t> </a:t>
            </a:r>
          </a:p>
        </p:txBody>
      </p:sp>
      <p:pic>
        <p:nvPicPr>
          <p:cNvPr id="4" name="Picture 3" descr="Screen Shot 2011-09-09 at 12.24.5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4080" y="2957284"/>
            <a:ext cx="5540903" cy="1566333"/>
          </a:xfrm>
          <a:prstGeom prst="rect">
            <a:avLst/>
          </a:prstGeom>
        </p:spPr>
      </p:pic>
      <p:sp>
        <p:nvSpPr>
          <p:cNvPr id="7" name="Left Arrow Callout 6"/>
          <p:cNvSpPr/>
          <p:nvPr/>
        </p:nvSpPr>
        <p:spPr>
          <a:xfrm>
            <a:off x="7281332" y="3193141"/>
            <a:ext cx="1802191" cy="1161143"/>
          </a:xfrm>
          <a:prstGeom prst="leftArrowCallout">
            <a:avLst>
              <a:gd name="adj1" fmla="val 25000"/>
              <a:gd name="adj2" fmla="val 25000"/>
              <a:gd name="adj3" fmla="val 25000"/>
              <a:gd name="adj4" fmla="val 74068"/>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400" dirty="0"/>
              <a:t>This sound file should already be in your scenario's </a:t>
            </a:r>
            <a:r>
              <a:rPr lang="en-US" sz="1400" i="1" dirty="0"/>
              <a:t>sounds</a:t>
            </a:r>
            <a:r>
              <a:rPr lang="en-US" sz="1400" dirty="0"/>
              <a:t> folder</a:t>
            </a:r>
          </a:p>
        </p:txBody>
      </p:sp>
      <p:grpSp>
        <p:nvGrpSpPr>
          <p:cNvPr id="17" name="Group 16"/>
          <p:cNvGrpSpPr/>
          <p:nvPr/>
        </p:nvGrpSpPr>
        <p:grpSpPr>
          <a:xfrm>
            <a:off x="169333" y="2709333"/>
            <a:ext cx="3967209" cy="1330477"/>
            <a:chOff x="169333" y="2709333"/>
            <a:chExt cx="3967209" cy="1330477"/>
          </a:xfrm>
        </p:grpSpPr>
        <p:cxnSp>
          <p:nvCxnSpPr>
            <p:cNvPr id="15" name="Elbow Connector 14"/>
            <p:cNvCxnSpPr/>
            <p:nvPr/>
          </p:nvCxnSpPr>
          <p:spPr>
            <a:xfrm flipV="1">
              <a:off x="1233724" y="3066139"/>
              <a:ext cx="2902818" cy="417288"/>
            </a:xfrm>
            <a:prstGeom prst="bentConnector4">
              <a:avLst>
                <a:gd name="adj1" fmla="val 2280"/>
                <a:gd name="adj2" fmla="val 153333"/>
              </a:avLst>
            </a:prstGeom>
            <a:ln>
              <a:tailEnd type="arrow"/>
            </a:ln>
          </p:spPr>
          <p:style>
            <a:lnRef idx="3">
              <a:schemeClr val="accent6"/>
            </a:lnRef>
            <a:fillRef idx="0">
              <a:schemeClr val="accent6"/>
            </a:fillRef>
            <a:effectRef idx="2">
              <a:schemeClr val="accent6"/>
            </a:effectRef>
            <a:fontRef idx="minor">
              <a:schemeClr val="tx1"/>
            </a:fontRef>
          </p:style>
        </p:cxnSp>
        <p:sp>
          <p:nvSpPr>
            <p:cNvPr id="8" name="Rectangle 7"/>
            <p:cNvSpPr/>
            <p:nvPr/>
          </p:nvSpPr>
          <p:spPr>
            <a:xfrm>
              <a:off x="169333" y="2709333"/>
              <a:ext cx="1572381" cy="133047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Remember to use the </a:t>
              </a:r>
              <a:r>
                <a:rPr lang="en-US" sz="1400" b="1" dirty="0"/>
                <a:t>double equals </a:t>
              </a:r>
              <a:r>
                <a:rPr lang="en-US" sz="1400" dirty="0"/>
                <a:t>sign (==) for the "is equal to"  relational operator</a:t>
              </a:r>
            </a:p>
          </p:txBody>
        </p:sp>
      </p:grpSp>
    </p:spTree>
    <p:extLst>
      <p:ext uri="{BB962C8B-B14F-4D97-AF65-F5344CB8AC3E}">
        <p14:creationId xmlns:p14="http://schemas.microsoft.com/office/powerpoint/2010/main" val="193964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complete </a:t>
            </a:r>
            <a:r>
              <a:rPr lang="en-US" b="1" dirty="0" err="1">
                <a:latin typeface="Courier New"/>
                <a:cs typeface="Courier New"/>
              </a:rPr>
              <a:t>lookForWorm</a:t>
            </a:r>
            <a:r>
              <a:rPr lang="en-US" dirty="0"/>
              <a:t> method</a:t>
            </a:r>
            <a:br>
              <a:rPr lang="en-US" dirty="0"/>
            </a:br>
            <a:r>
              <a:rPr lang="en-US" sz="2700" dirty="0"/>
              <a:t>(but don't forget to declare and initialize the </a:t>
            </a:r>
            <a:r>
              <a:rPr lang="en-US" sz="2700" b="1" dirty="0" err="1">
                <a:latin typeface="Courier New"/>
                <a:cs typeface="Courier New"/>
              </a:rPr>
              <a:t>wormsEaten</a:t>
            </a:r>
            <a:r>
              <a:rPr lang="en-US" sz="2700" dirty="0"/>
              <a:t> instance variable, which doesn't happen here!)</a:t>
            </a:r>
          </a:p>
        </p:txBody>
      </p:sp>
      <p:sp>
        <p:nvSpPr>
          <p:cNvPr id="5" name="TextBox 4"/>
          <p:cNvSpPr txBox="1"/>
          <p:nvPr/>
        </p:nvSpPr>
        <p:spPr>
          <a:xfrm>
            <a:off x="5536642" y="1719336"/>
            <a:ext cx="3486406" cy="480131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Exercises (one more on next page)</a:t>
            </a:r>
          </a:p>
          <a:p>
            <a:endParaRPr lang="en-US" dirty="0"/>
          </a:p>
          <a:p>
            <a:r>
              <a:rPr lang="en-US" b="1" dirty="0">
                <a:solidFill>
                  <a:srgbClr val="008000"/>
                </a:solidFill>
              </a:rPr>
              <a:t>4.25. </a:t>
            </a:r>
            <a:r>
              <a:rPr lang="en-US" dirty="0"/>
              <a:t>Add all of the new code discussed (including the </a:t>
            </a:r>
            <a:r>
              <a:rPr lang="en-US" b="1" dirty="0" err="1">
                <a:latin typeface="Courier New"/>
                <a:cs typeface="Courier New"/>
              </a:rPr>
              <a:t>wormsEaten</a:t>
            </a:r>
            <a:r>
              <a:rPr lang="en-US" dirty="0"/>
              <a:t> </a:t>
            </a:r>
            <a:r>
              <a:rPr lang="en-US" u="sng" dirty="0"/>
              <a:t>declaration</a:t>
            </a:r>
            <a:r>
              <a:rPr lang="en-US" dirty="0"/>
              <a:t> and </a:t>
            </a:r>
            <a:r>
              <a:rPr lang="en-US" u="sng" dirty="0"/>
              <a:t>initialization to zero</a:t>
            </a:r>
            <a:r>
              <a:rPr lang="en-US" dirty="0"/>
              <a:t>; </a:t>
            </a:r>
            <a:r>
              <a:rPr lang="en-US" i="1" dirty="0"/>
              <a:t>not</a:t>
            </a:r>
            <a:r>
              <a:rPr lang="en-US" dirty="0"/>
              <a:t> shown here) to your own scenario. Test it and make sure it works.</a:t>
            </a:r>
          </a:p>
          <a:p>
            <a:endParaRPr lang="en-US" dirty="0"/>
          </a:p>
          <a:p>
            <a:r>
              <a:rPr lang="en-US" b="1" dirty="0">
                <a:solidFill>
                  <a:srgbClr val="008000"/>
                </a:solidFill>
              </a:rPr>
              <a:t>4.26. </a:t>
            </a:r>
            <a:r>
              <a:rPr lang="en-US" dirty="0"/>
              <a:t>As a further test, open an object inspector for your crab object (by selecting </a:t>
            </a:r>
            <a:r>
              <a:rPr lang="en-US" b="1" dirty="0"/>
              <a:t>Inspect</a:t>
            </a:r>
            <a:r>
              <a:rPr lang="en-US" dirty="0"/>
              <a:t> from the crab object's popup menu) before you start playing the game. </a:t>
            </a:r>
            <a:r>
              <a:rPr lang="en-US" b="1" dirty="0"/>
              <a:t>Leave the inspector open </a:t>
            </a:r>
            <a:r>
              <a:rPr lang="en-US" dirty="0"/>
              <a:t>and keep an eye on the </a:t>
            </a:r>
            <a:r>
              <a:rPr lang="en-US" b="1" dirty="0" err="1">
                <a:latin typeface="Courier New"/>
                <a:cs typeface="Courier New"/>
              </a:rPr>
              <a:t>wormsEaten</a:t>
            </a:r>
            <a:r>
              <a:rPr lang="en-US" dirty="0"/>
              <a:t> variable as you play.</a:t>
            </a:r>
          </a:p>
        </p:txBody>
      </p:sp>
      <p:pic>
        <p:nvPicPr>
          <p:cNvPr id="3" name="Picture 2"/>
          <p:cNvPicPr>
            <a:picLocks noChangeAspect="1"/>
          </p:cNvPicPr>
          <p:nvPr/>
        </p:nvPicPr>
        <p:blipFill>
          <a:blip r:embed="rId3"/>
          <a:stretch>
            <a:fillRect/>
          </a:stretch>
        </p:blipFill>
        <p:spPr>
          <a:xfrm>
            <a:off x="226284" y="1833685"/>
            <a:ext cx="5092336" cy="4657380"/>
          </a:xfrm>
          <a:prstGeom prst="rect">
            <a:avLst/>
          </a:prstGeom>
        </p:spPr>
      </p:pic>
    </p:spTree>
    <p:extLst>
      <p:ext uri="{BB962C8B-B14F-4D97-AF65-F5344CB8AC3E}">
        <p14:creationId xmlns:p14="http://schemas.microsoft.com/office/powerpoint/2010/main" val="25307864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more exercise</a:t>
            </a: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fontScale="92500" lnSpcReduction="10000"/>
          </a:bodyPr>
          <a:lstStyle/>
          <a:p>
            <a:r>
              <a:rPr lang="en-US" b="1" dirty="0">
                <a:solidFill>
                  <a:srgbClr val="008000"/>
                </a:solidFill>
              </a:rPr>
              <a:t>4.27. </a:t>
            </a:r>
            <a:r>
              <a:rPr lang="en-US" dirty="0"/>
              <a:t>The crab image changes fairly quickly when the crab runs, which makes the crab look a little "hyperactive." It might look "nicer" if the crab image changed on every </a:t>
            </a:r>
            <a:r>
              <a:rPr lang="en-US" i="1" dirty="0"/>
              <a:t>second</a:t>
            </a:r>
            <a:r>
              <a:rPr lang="en-US" dirty="0"/>
              <a:t> or </a:t>
            </a:r>
            <a:r>
              <a:rPr lang="en-US" i="1" dirty="0"/>
              <a:t>third</a:t>
            </a:r>
            <a:r>
              <a:rPr lang="en-US" dirty="0"/>
              <a:t> cycle through the act method. Try to implement this.</a:t>
            </a:r>
          </a:p>
          <a:p>
            <a:pPr lvl="1"/>
            <a:r>
              <a:rPr lang="en-US" dirty="0"/>
              <a:t>To do this, you could add another </a:t>
            </a:r>
            <a:r>
              <a:rPr lang="en-US" b="1" dirty="0"/>
              <a:t>counter</a:t>
            </a:r>
            <a:r>
              <a:rPr lang="en-US" dirty="0"/>
              <a:t> variable (like </a:t>
            </a:r>
            <a:r>
              <a:rPr lang="en-US" b="1" dirty="0" err="1">
                <a:latin typeface="Courier New"/>
                <a:cs typeface="Courier New"/>
              </a:rPr>
              <a:t>wormsEaten</a:t>
            </a:r>
            <a:r>
              <a:rPr lang="en-US" dirty="0"/>
              <a:t>, but obviously using a different name) that gets incremented in the act method. Every time it reaches 2 (or 3, or whatever your preference is), the image changes, and the counter will be </a:t>
            </a:r>
            <a:r>
              <a:rPr lang="en-US" i="1" dirty="0"/>
              <a:t>reset</a:t>
            </a:r>
            <a:r>
              <a:rPr lang="en-US" dirty="0"/>
              <a:t> to </a:t>
            </a:r>
            <a:r>
              <a:rPr lang="en-US" i="1" dirty="0"/>
              <a:t>zero</a:t>
            </a:r>
            <a:r>
              <a:rPr lang="en-US" dirty="0"/>
              <a:t>.</a:t>
            </a:r>
          </a:p>
        </p:txBody>
      </p:sp>
    </p:spTree>
    <p:extLst>
      <p:ext uri="{BB962C8B-B14F-4D97-AF65-F5344CB8AC3E}">
        <p14:creationId xmlns:p14="http://schemas.microsoft.com/office/powerpoint/2010/main" val="23868242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Summary of programming concepts</a:t>
            </a:r>
            <a:endParaRPr lang="en-US" sz="4000" i="1" dirty="0"/>
          </a:p>
        </p:txBody>
      </p:sp>
      <p:sp>
        <p:nvSpPr>
          <p:cNvPr id="3" name="Content Placeholder 2"/>
          <p:cNvSpPr>
            <a:spLocks noGrp="1"/>
          </p:cNvSpPr>
          <p:nvPr>
            <p:ph idx="1"/>
          </p:nvPr>
        </p:nvSpPr>
        <p:spPr>
          <a:xfrm>
            <a:off x="457200" y="1600200"/>
            <a:ext cx="8341360" cy="3896043"/>
          </a:xfrm>
        </p:spPr>
        <p:txBody>
          <a:bodyPr vert="horz" lIns="91440" tIns="45720" rIns="91440" bIns="45720" rtlCol="0" anchor="t">
            <a:normAutofit fontScale="70000" lnSpcReduction="20000"/>
          </a:bodyPr>
          <a:lstStyle/>
          <a:p>
            <a:r>
              <a:rPr lang="en-US" dirty="0"/>
              <a:t>We have seen:</a:t>
            </a:r>
          </a:p>
          <a:p>
            <a:pPr lvl="1"/>
            <a:r>
              <a:rPr lang="en-US" dirty="0"/>
              <a:t>How constructor can be used to initialize objects</a:t>
            </a:r>
          </a:p>
          <a:p>
            <a:pPr lvl="2"/>
            <a:r>
              <a:rPr lang="en-US" dirty="0"/>
              <a:t>Constructors are always executed when a new object is created</a:t>
            </a:r>
          </a:p>
          <a:p>
            <a:pPr lvl="2"/>
            <a:r>
              <a:rPr lang="en-US" dirty="0">
                <a:ea typeface="Calibri"/>
                <a:cs typeface="Calibri"/>
              </a:rPr>
              <a:t>Side note: instructor are NOT inherited</a:t>
            </a:r>
            <a:endParaRPr lang="en-US" dirty="0"/>
          </a:p>
          <a:p>
            <a:pPr lvl="1"/>
            <a:r>
              <a:rPr lang="en-US" dirty="0"/>
              <a:t>How to use instance variables</a:t>
            </a:r>
            <a:r>
              <a:rPr lang="en-US" b="1" dirty="0"/>
              <a:t> </a:t>
            </a:r>
            <a:r>
              <a:rPr lang="en-US" dirty="0"/>
              <a:t>(also called fields) to keep tract of an objects data</a:t>
            </a:r>
            <a:endParaRPr lang="en-US" dirty="0">
              <a:ea typeface="Calibri"/>
              <a:cs typeface="Calibri"/>
            </a:endParaRPr>
          </a:p>
          <a:p>
            <a:pPr lvl="1"/>
            <a:r>
              <a:rPr lang="en-US" dirty="0"/>
              <a:t>How to use assignment</a:t>
            </a:r>
            <a:r>
              <a:rPr lang="en-US" b="1" dirty="0"/>
              <a:t> statements </a:t>
            </a:r>
            <a:r>
              <a:rPr lang="en-US" dirty="0"/>
              <a:t>to store information (and how to </a:t>
            </a:r>
            <a:r>
              <a:rPr lang="en-US" i="1" dirty="0"/>
              <a:t>access</a:t>
            </a:r>
            <a:r>
              <a:rPr lang="en-US" dirty="0"/>
              <a:t> that information later)</a:t>
            </a:r>
          </a:p>
          <a:p>
            <a:pPr lvl="1"/>
            <a:r>
              <a:rPr lang="en-US" dirty="0"/>
              <a:t>How to use the new statement to programmatically create new objects</a:t>
            </a:r>
          </a:p>
          <a:p>
            <a:pPr lvl="1"/>
            <a:r>
              <a:rPr lang="en-US" dirty="0"/>
              <a:t>The full version of the if statement, which includes an else clause part </a:t>
            </a:r>
            <a:r>
              <a:rPr lang="en-US"/>
              <a:t>that is executed when the condition tested in the if-statement is </a:t>
            </a:r>
            <a:r>
              <a:rPr lang="en-US" i="1" dirty="0"/>
              <a:t>not</a:t>
            </a:r>
            <a:r>
              <a:rPr lang="en-US" dirty="0"/>
              <a:t> true</a:t>
            </a:r>
          </a:p>
        </p:txBody>
      </p:sp>
      <p:sp>
        <p:nvSpPr>
          <p:cNvPr id="4" name="TextBox 3"/>
          <p:cNvSpPr txBox="1"/>
          <p:nvPr/>
        </p:nvSpPr>
        <p:spPr>
          <a:xfrm>
            <a:off x="1524000" y="5893226"/>
            <a:ext cx="6688667" cy="83099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dirty="0"/>
              <a:t>With all these techniques together, we can now write quite a good amount of code already! </a:t>
            </a:r>
          </a:p>
        </p:txBody>
      </p:sp>
    </p:spTree>
    <p:extLst>
      <p:ext uri="{BB962C8B-B14F-4D97-AF65-F5344CB8AC3E}">
        <p14:creationId xmlns:p14="http://schemas.microsoft.com/office/powerpoint/2010/main" val="4249998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16659</TotalTime>
  <Words>4877</Words>
  <Application>Microsoft Office PowerPoint</Application>
  <PresentationFormat>On-screen Show (4:3)</PresentationFormat>
  <Paragraphs>344</Paragraphs>
  <Slides>61</Slides>
  <Notes>7</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Introduction to Object-Oriented Programming in Java using Greenfoot</vt:lpstr>
      <vt:lpstr>Review of Concepts from Ch. 3</vt:lpstr>
      <vt:lpstr>Review of Concepts from Ch. 3 (continued)</vt:lpstr>
      <vt:lpstr>Adding objects automatically</vt:lpstr>
      <vt:lpstr>Let's look at the CrabWorld source code</vt:lpstr>
      <vt:lpstr>Constructors</vt:lpstr>
      <vt:lpstr>A closer look at the CrabWorld constructor</vt:lpstr>
      <vt:lpstr>The World Constructor Summary</vt:lpstr>
      <vt:lpstr>A quick (but important) side note on overloading</vt:lpstr>
      <vt:lpstr>How to automatically create actors</vt:lpstr>
      <vt:lpstr>The coordinate system of the world</vt:lpstr>
      <vt:lpstr>The addObject method</vt:lpstr>
      <vt:lpstr>Concept: Java objects can be created programmatically (from within your code) by using the new keyword</vt:lpstr>
      <vt:lpstr>Using new with addObject to add a new actor to the world</vt:lpstr>
      <vt:lpstr>Variables</vt:lpstr>
      <vt:lpstr>Variables, cont’d</vt:lpstr>
      <vt:lpstr>Assignment Statements</vt:lpstr>
      <vt:lpstr>Assignment Statements, cont’d</vt:lpstr>
      <vt:lpstr>Object variables</vt:lpstr>
      <vt:lpstr>From Appendix D</vt:lpstr>
      <vt:lpstr>Object variables, cont’d</vt:lpstr>
      <vt:lpstr>Object variables, cont’d</vt:lpstr>
      <vt:lpstr>PowerPoint Presentation</vt:lpstr>
      <vt:lpstr>PowerPoint Presentation</vt:lpstr>
      <vt:lpstr>PowerPoint Presentation</vt:lpstr>
      <vt:lpstr>Using Variables</vt:lpstr>
      <vt:lpstr>PowerPoint Presentation</vt:lpstr>
      <vt:lpstr>Exercises! </vt:lpstr>
      <vt:lpstr>Save the World</vt:lpstr>
      <vt:lpstr>Save the World, cont’d</vt:lpstr>
      <vt:lpstr>A slightly more challenging exercise (not in your book!)</vt:lpstr>
      <vt:lpstr>Animating images</vt:lpstr>
      <vt:lpstr>Concept: Greenfoot actors maintain their visible image by holding [a reference to] an object of type GreenfootImage</vt:lpstr>
      <vt:lpstr>Quick exercise</vt:lpstr>
      <vt:lpstr>Using the setImage method (with the GreenfootImage parameter) to update the crab's image</vt:lpstr>
      <vt:lpstr>PowerPoint Presentation</vt:lpstr>
      <vt:lpstr>PowerPoint Presentation</vt:lpstr>
      <vt:lpstr>Declaring an instance variable</vt:lpstr>
      <vt:lpstr>The Crab class with two instance variables</vt:lpstr>
      <vt:lpstr>Exercises</vt:lpstr>
      <vt:lpstr>Remember, variable declaration is not the same thing as variable assignment</vt:lpstr>
      <vt:lpstr>Variable declaration is not the same thing as variable assignment (cont'd)</vt:lpstr>
      <vt:lpstr>Concept: An assignment statement assigns an object an object reference or a value to a variable</vt:lpstr>
      <vt:lpstr>We will then have three objects (one crab, two images), and the crab's variables will contain references to those images</vt:lpstr>
      <vt:lpstr>Using actor constructors</vt:lpstr>
      <vt:lpstr>Initializing the variables in the Crab constructor</vt:lpstr>
      <vt:lpstr>A possible pitfall for people new to Java programming</vt:lpstr>
      <vt:lpstr>Exercises</vt:lpstr>
      <vt:lpstr>Alternating the images</vt:lpstr>
      <vt:lpstr>The "real" Java code for image switching</vt:lpstr>
      <vt:lpstr>The if/else statement in more detail</vt:lpstr>
      <vt:lpstr>Exercises</vt:lpstr>
      <vt:lpstr>Counting worms</vt:lpstr>
      <vt:lpstr>Additional code needed:</vt:lpstr>
      <vt:lpstr>Let's do one thing at a time…</vt:lpstr>
      <vt:lpstr>Initialize the instance variable</vt:lpstr>
      <vt:lpstr>Maintain a running count of worms that have been eaten</vt:lpstr>
      <vt:lpstr>And finally, we need to check for 8 worms eaten, and if so, then stop the game</vt:lpstr>
      <vt:lpstr>The complete lookForWorm method (but don't forget to declare and initialize the wormsEaten instance variable, which doesn't happen here!)</vt:lpstr>
      <vt:lpstr>One more exercise</vt:lpstr>
      <vt:lpstr>Summary of programming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Object-Oriented Programming in Java using Greenfoot and BlueJ</dc:title>
  <dc:creator>Brian Canada</dc:creator>
  <cp:lastModifiedBy>Dessaure, Terrance</cp:lastModifiedBy>
  <cp:revision>483</cp:revision>
  <cp:lastPrinted>2016-09-28T17:14:11Z</cp:lastPrinted>
  <dcterms:created xsi:type="dcterms:W3CDTF">2011-07-03T22:33:21Z</dcterms:created>
  <dcterms:modified xsi:type="dcterms:W3CDTF">2025-10-03T01:59:27Z</dcterms:modified>
</cp:coreProperties>
</file>